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852928"/>
            <a:ext cx="9144000" cy="2290572"/>
          </a:xfrm>
          <a:prstGeom prst="rect">
            <a:avLst/>
          </a:prstGeom>
          <a:solidFill>
            <a:srgbClr val="0A1E2A"/>
          </a:solidFill>
          <a:ln w="12700">
            <a:solidFill>
              <a:srgbClr val="0A1E2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0" y="2834640"/>
            <a:ext cx="9144000" cy="54864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" name="Shape 3"/>
          <p:cNvSpPr/>
          <p:nvPr/>
        </p:nvSpPr>
        <p:spPr>
          <a:xfrm>
            <a:off x="0" y="0"/>
            <a:ext cx="164592" cy="2834640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" name="Shape 4"/>
          <p:cNvSpPr/>
          <p:nvPr/>
        </p:nvSpPr>
        <p:spPr>
          <a:xfrm>
            <a:off x="0" y="0"/>
            <a:ext cx="45720" cy="2834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274320" y="201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AB8D8"/>
                </a:solidFill>
              </a:rPr>
              <a:t/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4754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</a:rPr>
              <a:t>Simulation Strategies in Warfare  |  Unit 4: AI &amp; ML in Warfare (10 Hrs)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804672"/>
            <a:ext cx="84124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Unsupervised Learning</a:t>
            </a:r>
            <a:endParaRPr lang="en-US" sz="2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Part 1: Clustering &amp;</a:t>
            </a:r>
            <a:endParaRPr lang="en-US" sz="2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Dimensionality Reduction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5968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DD7EE"/>
                </a:solidFill>
              </a:rPr>
              <a:t>Lecture 4:  k-Means · DBSCAN · GMM · Hierarchical · PCA · t-SNE · UMAP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314553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AK DHAMIJA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5112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</a:rPr>
              <a:t>AK DHAMIJA   |   Researcher &amp; Instructor, AI &amp; Machine Learning   |   dhamija.ak@gmail.com   |   9811453163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46360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0D7680"/>
                </a:solidFill>
              </a:rPr>
              <a:t>Case Study: OPFOR Tactical Archetype Discovery  •  N=8,000 Trajectories  •  JANUS Wargame Simulator  •  12 Features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Lecture 4 — Objectives, Motivation &amp; Case Study Dataset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4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Shape 7"/>
          <p:cNvSpPr/>
          <p:nvPr/>
        </p:nvSpPr>
        <p:spPr>
          <a:xfrm>
            <a:off x="27432" y="822960"/>
            <a:ext cx="1865376" cy="261823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Text 8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1. Why Unsupervised?</a:t>
            </a:r>
            <a:endParaRPr lang="en-US" sz="68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k-Means: Algorithm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k-Means: Choosing k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k-Means: Case Study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DBSCAN Fundamentals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DBSCAN in Practice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Gaussian Mixture Models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GMM: EM Algorithm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Hierarchical Clustering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PCA: Theory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PCA: Applications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t-SNE &amp; UMAP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Cluster Validation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The Core Challenge: Discover What You Don't Know to Look For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93008" cy="228600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UNSUPERVISED PROBLEM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93008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34670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SUPERVISED: "I have labelled examples — learn 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distinguish Patrol from Assault"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→ Requires expert annotation of every sample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UNSUPERVISED: "Here are 8,000 movement trajectories.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What natural groupings exist? Are there enemy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tactics we haven't thought to label yet?"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→ No labels needed — let data speak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KEY INSIGHT FOR DEFENCE: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In real operations, new adversary tactics emerge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that NO label framework anticipated.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An analyst labelling data in 2024 cannot create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categories for tactics invented in 2026.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Unsupervised clustering discovers these NOVEL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patterns BEFORE analysts know to look for them.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THIS LECTURE COVERS: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Partitional:    k-Means, GMM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Density-based:  DBSCAN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Hierarchical:   Agglomerative Clustering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Dim. Reduction: PCA, t-SNE, UMAP (for visualisation)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39112" y="3730752"/>
            <a:ext cx="3493008" cy="676656"/>
          </a:xfrm>
          <a:prstGeom prst="rect">
            <a:avLst/>
          </a:prstGeom>
          <a:solidFill>
            <a:srgbClr val="E0F8F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03120" y="3785616"/>
            <a:ext cx="3364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LEARNING OBJECTIVES: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①Derive k-Means algorithm from first principles  ②Apply Elbow/Silhouette for k selection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③Explain DBSCAN core/border/noise logic  ④Derive GMM via EM algorithm  ⑤Compute PCA eigenvectors from covariance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⑥Distinguish t-SNE vs UMAP for visualisation  ⑦Validate clusters with multiple metrics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5660136" y="1014984"/>
            <a:ext cx="3364992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715000" y="1014984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CASE STUDY — OPFOR ARCHETYPE DISCOVERY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60136" y="1243584"/>
            <a:ext cx="3364992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733288" y="1271016"/>
            <a:ext cx="3218688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Source: JANUS wargame simulator exercise logs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(10 armies × 5-year simulation library)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N = 8,000 force movement trajectories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800 per class × 10 armies — but NO class labels!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(we will discover them via clustering)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FEATURES (12 total, all Z-score normalised):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Kinematic (8):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x1: Avg Speed (km/h)         [0 – 120]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x2: Max Speed (km/h)         [0 – 200]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x3: Direction Change Rate (deg/min)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x4: Formation Spread (m)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x5: Dwell Time at Waypoints (min)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x6: Terrain Exposure Index    [0 – 1]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x7: Route Deviation (m from shortest)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x8: Engagement Frequency (contacts/hr)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Contextual (4):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x9: Time of Day Code         [0 – 3]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x10: Weather Code            [0 – 4]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x11: Mission Phase Code      [0 – 5]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x12: Force Size Category     [1 – 4]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k-Means Clustering — Algorithm &amp; Mathematical Foundation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4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Why Unsupervised?</a:t>
            </a:r>
            <a:endParaRPr lang="en-US" sz="590" dirty="0"/>
          </a:p>
        </p:txBody>
      </p:sp>
      <p:sp>
        <p:nvSpPr>
          <p:cNvPr id="10" name="Shape 8"/>
          <p:cNvSpPr/>
          <p:nvPr/>
        </p:nvSpPr>
        <p:spPr>
          <a:xfrm>
            <a:off x="27432" y="1075639"/>
            <a:ext cx="1865376" cy="261823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Text 9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2. k-Means: Algorithm</a:t>
            </a:r>
            <a:endParaRPr lang="en-US" sz="68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k-Means: Choosing k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k-Means: Case Study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DBSCAN Fundamentals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DBSCAN in Practice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Gaussian Mixture Models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GMM: EM Algorithm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Hierarchical Clustering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PCA: Theory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PCA: Applications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t-SNE &amp; UMAP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Cluster Validation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k-Means: Minimise Within-Cluster Variance — Lloyd's Algorithm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MATHEMATICAL OBJECTIVE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2514600"/>
          </a:xfrm>
          <a:prstGeom prst="rect">
            <a:avLst/>
          </a:prstGeom>
          <a:solidFill>
            <a:srgbClr val="EB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Given: N unlabelled points {x₁,...,xN} in ℝ^d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Find: k cluster centres {μ₁,...,μk} and assignments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 = {C₁,...,Ck} partitioning all points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MINIMISE: Within-Cluster Sum of Squares (WCSS)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J = Σ_{j=1}^{k} Σ_{x_i ∈ C_j} ||x_i − μ_j||²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LLOYD'S ALGORITHM: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Step 0: Initialise k centres μ₁,...,μk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(k-means++: choose centres proportional to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squared distance from existing centres)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REPEAT until convergence: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Step 1 [Assign]: For each x_i, assign to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nearest centre: c_i = argmin_j ||x_i − μ_j||²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Step 2 [Update]: Recompute each centre as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mean of assigned points: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μ_j = (1/|C_j|) Σ_{x_i ∈ C_j} x_i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CONVERGENCE: J decreases monotonically each step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Guaranteed to converge — NOT guaranteed to find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global optimum (local minima exist!)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Solution: Run 10+ times, keep best J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822192"/>
            <a:ext cx="3632728" cy="457200"/>
          </a:xfrm>
          <a:prstGeom prst="rect">
            <a:avLst/>
          </a:prstGeom>
          <a:solidFill>
            <a:srgbClr val="EBF8F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867912"/>
            <a:ext cx="344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J = Σ_j Σ_{x∈C_j} ||x − μ_j||²   [WCSS objective]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μ_j* = (1/|C_j|) Σ_{x∈C_j} x   [centroid update]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KEY PROPERTIES &amp; ASSUMPTIONS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WHAT k-Means ASSUMES: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✔ Clusters are convex and roughly spherical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✔ Clusters are roughly equal size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✔ All features are on same scale (Z-score!)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✔ Euclidean distance is meaningful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WHAT k-Means CANNOT DO: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✗ Arbitrary-shaped clusters (concentric rings)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✗ Clusters of very different densities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✗ Automatically determine k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✗ Handle noise/outlier points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COMPLEXITY: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Time per iteration: O(N·k·d)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For case study: O(8000×5×12) = 480K ops/iter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Typical convergence: 50-150 iterations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Total: ~50M ops — &lt; 0.5 sec on laptop!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INITIALISATION MATTERS: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Random init → may converge to local minimum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k-means++: D² seeding → 16x better WCSS in practice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Always run multiple times (n_init=10 minimum)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Choosing k — Elbow Method &amp; Silhouette Analysis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4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Why Unsupervised?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k-Means: Algorithm</a:t>
            </a:r>
            <a:endParaRPr lang="en-US" sz="590" dirty="0"/>
          </a:p>
        </p:txBody>
      </p:sp>
      <p:sp>
        <p:nvSpPr>
          <p:cNvPr id="11" name="Shape 9"/>
          <p:cNvSpPr/>
          <p:nvPr/>
        </p:nvSpPr>
        <p:spPr>
          <a:xfrm>
            <a:off x="27432" y="1328318"/>
            <a:ext cx="1865376" cy="261823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3. k-Means: Choosing k</a:t>
            </a:r>
            <a:endParaRPr lang="en-US" sz="68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k-Means: Case Study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DBSCAN Fundamentals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DBSCAN in Practice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Gaussian Mixture Models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GMM: EM Algorithm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Hierarchical Clustering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PCA: Theory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PCA: Applications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t-SNE &amp; UMAP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Cluster Validation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How Many Clusters? Two Complementary Methods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ELBOW METHOD (WCSS vs k)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WCSS drops as k increases — always!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k=N: WCSS=0 (each point its own cluster)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k=1: WCSS=SS_total (all variance unexplained)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Look for the "elbow" — point of diminishing returns: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CASE STUDY WCSS TABLE (8,000 trajectories):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k=1: WCSS = 94,420   Δ = —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k=2: WCSS = 52,180   Δ = 42,240 ★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k=3: WCSS = 34,610   Δ = 17,570 ★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k=4: WCSS = 24,930   Δ = 9,680 ★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k=5: WCSS = 18,440   Δ = 6,490 ← ELBOW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k=6: WCSS = 15,260   Δ = 3,180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k=7: WCSS = 13,540   Δ = 1,720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k=8: WCSS = 12,820   Δ = 720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k=9: WCSS = 12,280   Δ = 540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k=10:WCSS = 11,980   Δ = 300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Elbow is at k=5: large drops k=2→5, small after.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Note: Elbow can be ambiguous — confirm with Silhouette!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SILHOUETTE SCORE (Cluster Quality)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For each point x_i: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a(i) = avg distance to points in SAME cluster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    [cohesion — want SMALL]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b(i) = avg distance to points in NEAREST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     OTHER cluster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    [separation — want LARGE]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s(i) = (b(i) − a(i)) / max(a(i), b(i))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    ∈ [−1, +1]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s(i) = +1: perfectly placed (far from others)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s(i) =  0: on cluster boundary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s(i) = −1: likely in wrong cluster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Mean silhouette S = (1/N) Σ s(i)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 &gt; 0.70: strong structure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 &gt; 0.50: reasonable structure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 &lt; 0.25: weak / overlapping clusters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CASE STUDY SILHOUETTE vs k: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k=2: S=0.481  k=3: S=0.534  k=4: S=0.638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k=5: S=0.712 ← MAXIMUM (confirms k=5!)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k=6: S=0.664  k=7: S=0.601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→ BOTH methods agree: k=5 is optimal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039112" y="3913632"/>
            <a:ext cx="6986016" cy="402336"/>
          </a:xfrm>
          <a:prstGeom prst="rect">
            <a:avLst/>
          </a:prstGeom>
          <a:solidFill>
            <a:srgbClr val="EBF8F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30552" y="3959352"/>
            <a:ext cx="6803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039112" y="4370832"/>
            <a:ext cx="6986016" cy="402336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103120" y="442569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⚠ DATA PITFALL: Never choose k by minimising WCSS alone! The elbow can be faint or absent. Use both WCSS + Silhouette + domain knowledge. For defence: a solution with k=5 and Silhouette=0.712 is strong evidence for 5 natural archetypes.</a:t>
            </a:r>
            <a:endParaRPr lang="en-US" sz="900" dirty="0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3995928"/>
            <a:ext cx="6729984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k-Means Case Study — OPFOR Tactical Archetype Discovery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4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Why Unsupervised?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k-Means: Algorithm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k-Means: Choosing k</a:t>
            </a:r>
            <a:endParaRPr lang="en-US" sz="590" dirty="0"/>
          </a:p>
        </p:txBody>
      </p:sp>
      <p:sp>
        <p:nvSpPr>
          <p:cNvPr id="12" name="Shape 10"/>
          <p:cNvSpPr/>
          <p:nvPr/>
        </p:nvSpPr>
        <p:spPr>
          <a:xfrm>
            <a:off x="27432" y="1580998"/>
            <a:ext cx="1865376" cy="261823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4. k-Means: Case Study</a:t>
            </a:r>
            <a:endParaRPr lang="en-US" sz="68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DBSCAN Fundamentals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DBSCAN in Practice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Gaussian Mixture Models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GMM: EM Algorithm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Hierarchical Clustering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PCA: Theory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PCA: Applications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t-SNE &amp; UMAP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Cluster Validation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k=5 Solution: Five OPFOR Manoeuvre Archetypes Discovered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6986016" cy="219456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39112" y="1014984"/>
            <a:ext cx="548640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Cluster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2587752" y="1014984"/>
            <a:ext cx="621792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Size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3209544" y="1014984"/>
            <a:ext cx="521208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Avg Spd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3730752" y="1014984"/>
            <a:ext cx="521208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Max Spd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4251960" y="1014984"/>
            <a:ext cx="576072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Dir Chg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4828032" y="1014984"/>
            <a:ext cx="484632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Spread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5312664" y="1014984"/>
            <a:ext cx="484632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Dwell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5797296" y="1014984"/>
            <a:ext cx="3337560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Archetype Label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039112" y="1234440"/>
            <a:ext cx="6986016" cy="402336"/>
          </a:xfrm>
          <a:prstGeom prst="rect">
            <a:avLst/>
          </a:prstGeom>
          <a:solidFill>
            <a:srgbClr val="E8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1" name="Text 39"/>
          <p:cNvSpPr txBox="1"/>
          <p:nvPr/>
        </p:nvSpPr>
        <p:spPr>
          <a:xfrm>
            <a:off x="2039112" y="1234440"/>
            <a:ext cx="54864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C-0</a:t>
            </a:r>
            <a:endParaRPr lang="en-US" sz="820" dirty="0"/>
          </a:p>
        </p:txBody>
      </p:sp>
      <p:sp>
        <p:nvSpPr>
          <p:cNvPr id="42" name="Text 40"/>
          <p:cNvSpPr txBox="1"/>
          <p:nvPr/>
        </p:nvSpPr>
        <p:spPr>
          <a:xfrm>
            <a:off x="2587752" y="1234440"/>
            <a:ext cx="62179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1,542</a:t>
            </a:r>
            <a:endParaRPr lang="en-US" sz="820" dirty="0"/>
          </a:p>
        </p:txBody>
      </p:sp>
      <p:sp>
        <p:nvSpPr>
          <p:cNvPr id="43" name="Text 41"/>
          <p:cNvSpPr txBox="1"/>
          <p:nvPr/>
        </p:nvSpPr>
        <p:spPr>
          <a:xfrm>
            <a:off x="3209544" y="1234440"/>
            <a:ext cx="52120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18.3</a:t>
            </a:r>
            <a:endParaRPr lang="en-US" sz="820" dirty="0"/>
          </a:p>
        </p:txBody>
      </p:sp>
      <p:sp>
        <p:nvSpPr>
          <p:cNvPr id="44" name="Text 42"/>
          <p:cNvSpPr txBox="1"/>
          <p:nvPr/>
        </p:nvSpPr>
        <p:spPr>
          <a:xfrm>
            <a:off x="3730752" y="1234440"/>
            <a:ext cx="52120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42.1</a:t>
            </a:r>
            <a:endParaRPr lang="en-US" sz="820" dirty="0"/>
          </a:p>
        </p:txBody>
      </p:sp>
      <p:sp>
        <p:nvSpPr>
          <p:cNvPr id="45" name="Text 43"/>
          <p:cNvSpPr txBox="1"/>
          <p:nvPr/>
        </p:nvSpPr>
        <p:spPr>
          <a:xfrm>
            <a:off x="4251960" y="1234440"/>
            <a:ext cx="57607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3.2°</a:t>
            </a:r>
            <a:endParaRPr lang="en-US" sz="820" dirty="0"/>
          </a:p>
        </p:txBody>
      </p:sp>
      <p:sp>
        <p:nvSpPr>
          <p:cNvPr id="46" name="Text 44"/>
          <p:cNvSpPr txBox="1"/>
          <p:nvPr/>
        </p:nvSpPr>
        <p:spPr>
          <a:xfrm>
            <a:off x="4828032" y="1234440"/>
            <a:ext cx="48463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420m</a:t>
            </a:r>
            <a:endParaRPr lang="en-US" sz="820" dirty="0"/>
          </a:p>
        </p:txBody>
      </p:sp>
      <p:sp>
        <p:nvSpPr>
          <p:cNvPr id="47" name="Text 45"/>
          <p:cNvSpPr txBox="1"/>
          <p:nvPr/>
        </p:nvSpPr>
        <p:spPr>
          <a:xfrm>
            <a:off x="5312664" y="1234440"/>
            <a:ext cx="48463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22.4m</a:t>
            </a:r>
            <a:endParaRPr lang="en-US" sz="820" dirty="0"/>
          </a:p>
        </p:txBody>
      </p:sp>
      <p:sp>
        <p:nvSpPr>
          <p:cNvPr id="48" name="Text 46"/>
          <p:cNvSpPr txBox="1"/>
          <p:nvPr/>
        </p:nvSpPr>
        <p:spPr>
          <a:xfrm>
            <a:off x="5797296" y="1234440"/>
            <a:ext cx="333756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52744"/>
                </a:solidFill>
              </a:rPr>
              <a:t>PATROL (slow, spread, dwell)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2039112" y="1636776"/>
            <a:ext cx="6986016" cy="402336"/>
          </a:xfrm>
          <a:prstGeom prst="rect">
            <a:avLst/>
          </a:prstGeom>
          <a:solidFill>
            <a:srgbClr val="FFF0E8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2039112" y="1636776"/>
            <a:ext cx="54864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C-1</a:t>
            </a:r>
            <a:endParaRPr lang="en-US" sz="820" dirty="0"/>
          </a:p>
        </p:txBody>
      </p:sp>
      <p:sp>
        <p:nvSpPr>
          <p:cNvPr id="51" name="Text 49"/>
          <p:cNvSpPr txBox="1"/>
          <p:nvPr/>
        </p:nvSpPr>
        <p:spPr>
          <a:xfrm>
            <a:off x="2587752" y="1636776"/>
            <a:ext cx="62179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932</a:t>
            </a:r>
            <a:endParaRPr lang="en-US" sz="820" dirty="0"/>
          </a:p>
        </p:txBody>
      </p:sp>
      <p:sp>
        <p:nvSpPr>
          <p:cNvPr id="52" name="Text 50"/>
          <p:cNvSpPr txBox="1"/>
          <p:nvPr/>
        </p:nvSpPr>
        <p:spPr>
          <a:xfrm>
            <a:off x="3209544" y="1636776"/>
            <a:ext cx="52120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62.7</a:t>
            </a:r>
            <a:endParaRPr lang="en-US" sz="820" dirty="0"/>
          </a:p>
        </p:txBody>
      </p:sp>
      <p:sp>
        <p:nvSpPr>
          <p:cNvPr id="53" name="Text 51"/>
          <p:cNvSpPr txBox="1"/>
          <p:nvPr/>
        </p:nvSpPr>
        <p:spPr>
          <a:xfrm>
            <a:off x="3730752" y="1636776"/>
            <a:ext cx="52120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118.4</a:t>
            </a:r>
            <a:endParaRPr lang="en-US" sz="820" dirty="0"/>
          </a:p>
        </p:txBody>
      </p:sp>
      <p:sp>
        <p:nvSpPr>
          <p:cNvPr id="54" name="Text 52"/>
          <p:cNvSpPr txBox="1"/>
          <p:nvPr/>
        </p:nvSpPr>
        <p:spPr>
          <a:xfrm>
            <a:off x="4251960" y="1636776"/>
            <a:ext cx="57607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28.4°</a:t>
            </a:r>
            <a:endParaRPr lang="en-US" sz="820" dirty="0"/>
          </a:p>
        </p:txBody>
      </p:sp>
      <p:sp>
        <p:nvSpPr>
          <p:cNvPr id="55" name="Text 53"/>
          <p:cNvSpPr txBox="1"/>
          <p:nvPr/>
        </p:nvSpPr>
        <p:spPr>
          <a:xfrm>
            <a:off x="4828032" y="1636776"/>
            <a:ext cx="48463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85m</a:t>
            </a:r>
            <a:endParaRPr lang="en-US" sz="820" dirty="0"/>
          </a:p>
        </p:txBody>
      </p:sp>
      <p:sp>
        <p:nvSpPr>
          <p:cNvPr id="56" name="Text 54"/>
          <p:cNvSpPr txBox="1"/>
          <p:nvPr/>
        </p:nvSpPr>
        <p:spPr>
          <a:xfrm>
            <a:off x="5312664" y="1636776"/>
            <a:ext cx="48463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1.8m</a:t>
            </a:r>
            <a:endParaRPr lang="en-US" sz="820" dirty="0"/>
          </a:p>
        </p:txBody>
      </p:sp>
      <p:sp>
        <p:nvSpPr>
          <p:cNvPr id="57" name="Text 55"/>
          <p:cNvSpPr txBox="1"/>
          <p:nvPr/>
        </p:nvSpPr>
        <p:spPr>
          <a:xfrm>
            <a:off x="5797296" y="1636776"/>
            <a:ext cx="333756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52744"/>
                </a:solidFill>
              </a:rPr>
              <a:t>ASSAULT (fast, tight, no dwell)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2039112" y="2039112"/>
            <a:ext cx="6986016" cy="402336"/>
          </a:xfrm>
          <a:prstGeom prst="rect">
            <a:avLst/>
          </a:prstGeom>
          <a:solidFill>
            <a:srgbClr val="E8FFE8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9" name="Text 57"/>
          <p:cNvSpPr txBox="1"/>
          <p:nvPr/>
        </p:nvSpPr>
        <p:spPr>
          <a:xfrm>
            <a:off x="2039112" y="2039112"/>
            <a:ext cx="54864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C-2</a:t>
            </a:r>
            <a:endParaRPr lang="en-US" sz="820" dirty="0"/>
          </a:p>
        </p:txBody>
      </p:sp>
      <p:sp>
        <p:nvSpPr>
          <p:cNvPr id="60" name="Text 58"/>
          <p:cNvSpPr txBox="1"/>
          <p:nvPr/>
        </p:nvSpPr>
        <p:spPr>
          <a:xfrm>
            <a:off x="2587752" y="2039112"/>
            <a:ext cx="62179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714</a:t>
            </a:r>
            <a:endParaRPr lang="en-US" sz="820" dirty="0"/>
          </a:p>
        </p:txBody>
      </p:sp>
      <p:sp>
        <p:nvSpPr>
          <p:cNvPr id="61" name="Text 59"/>
          <p:cNvSpPr txBox="1"/>
          <p:nvPr/>
        </p:nvSpPr>
        <p:spPr>
          <a:xfrm>
            <a:off x="3209544" y="2039112"/>
            <a:ext cx="52120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41.2</a:t>
            </a:r>
            <a:endParaRPr lang="en-US" sz="820" dirty="0"/>
          </a:p>
        </p:txBody>
      </p:sp>
      <p:sp>
        <p:nvSpPr>
          <p:cNvPr id="62" name="Text 60"/>
          <p:cNvSpPr txBox="1"/>
          <p:nvPr/>
        </p:nvSpPr>
        <p:spPr>
          <a:xfrm>
            <a:off x="3730752" y="2039112"/>
            <a:ext cx="52120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84.6</a:t>
            </a:r>
            <a:endParaRPr lang="en-US" sz="820" dirty="0"/>
          </a:p>
        </p:txBody>
      </p:sp>
      <p:sp>
        <p:nvSpPr>
          <p:cNvPr id="63" name="Text 61"/>
          <p:cNvSpPr txBox="1"/>
          <p:nvPr/>
        </p:nvSpPr>
        <p:spPr>
          <a:xfrm>
            <a:off x="4251960" y="2039112"/>
            <a:ext cx="57607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6.1°</a:t>
            </a:r>
            <a:endParaRPr lang="en-US" sz="820" dirty="0"/>
          </a:p>
        </p:txBody>
      </p:sp>
      <p:sp>
        <p:nvSpPr>
          <p:cNvPr id="64" name="Text 62"/>
          <p:cNvSpPr txBox="1"/>
          <p:nvPr/>
        </p:nvSpPr>
        <p:spPr>
          <a:xfrm>
            <a:off x="4828032" y="2039112"/>
            <a:ext cx="48463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310m</a:t>
            </a:r>
            <a:endParaRPr lang="en-US" sz="820" dirty="0"/>
          </a:p>
        </p:txBody>
      </p:sp>
      <p:sp>
        <p:nvSpPr>
          <p:cNvPr id="65" name="Text 63"/>
          <p:cNvSpPr txBox="1"/>
          <p:nvPr/>
        </p:nvSpPr>
        <p:spPr>
          <a:xfrm>
            <a:off x="5312664" y="2039112"/>
            <a:ext cx="48463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4.2m</a:t>
            </a:r>
            <a:endParaRPr lang="en-US" sz="820" dirty="0"/>
          </a:p>
        </p:txBody>
      </p:sp>
      <p:sp>
        <p:nvSpPr>
          <p:cNvPr id="66" name="Text 64"/>
          <p:cNvSpPr txBox="1"/>
          <p:nvPr/>
        </p:nvSpPr>
        <p:spPr>
          <a:xfrm>
            <a:off x="5797296" y="2039112"/>
            <a:ext cx="333756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52744"/>
                </a:solidFill>
              </a:rPr>
              <a:t>TRANSIT (medium, spread, purposeful)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2039112" y="2441448"/>
            <a:ext cx="6986016" cy="402336"/>
          </a:xfrm>
          <a:prstGeom prst="rect">
            <a:avLst/>
          </a:prstGeom>
          <a:solidFill>
            <a:srgbClr val="F8F0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8" name="Text 66"/>
          <p:cNvSpPr txBox="1"/>
          <p:nvPr/>
        </p:nvSpPr>
        <p:spPr>
          <a:xfrm>
            <a:off x="2039112" y="2441448"/>
            <a:ext cx="54864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C-3</a:t>
            </a:r>
            <a:endParaRPr lang="en-US" sz="820" dirty="0"/>
          </a:p>
        </p:txBody>
      </p:sp>
      <p:sp>
        <p:nvSpPr>
          <p:cNvPr id="69" name="Text 67"/>
          <p:cNvSpPr txBox="1"/>
          <p:nvPr/>
        </p:nvSpPr>
        <p:spPr>
          <a:xfrm>
            <a:off x="2587752" y="2441448"/>
            <a:ext cx="62179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2,184</a:t>
            </a:r>
            <a:endParaRPr lang="en-US" sz="820" dirty="0"/>
          </a:p>
        </p:txBody>
      </p:sp>
      <p:sp>
        <p:nvSpPr>
          <p:cNvPr id="70" name="Text 68"/>
          <p:cNvSpPr txBox="1"/>
          <p:nvPr/>
        </p:nvSpPr>
        <p:spPr>
          <a:xfrm>
            <a:off x="3209544" y="2441448"/>
            <a:ext cx="52120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4.8</a:t>
            </a:r>
            <a:endParaRPr lang="en-US" sz="820" dirty="0"/>
          </a:p>
        </p:txBody>
      </p:sp>
      <p:sp>
        <p:nvSpPr>
          <p:cNvPr id="71" name="Text 69"/>
          <p:cNvSpPr txBox="1"/>
          <p:nvPr/>
        </p:nvSpPr>
        <p:spPr>
          <a:xfrm>
            <a:off x="3730752" y="2441448"/>
            <a:ext cx="52120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12.3</a:t>
            </a:r>
            <a:endParaRPr lang="en-US" sz="820" dirty="0"/>
          </a:p>
        </p:txBody>
      </p:sp>
      <p:sp>
        <p:nvSpPr>
          <p:cNvPr id="72" name="Text 70"/>
          <p:cNvSpPr txBox="1"/>
          <p:nvPr/>
        </p:nvSpPr>
        <p:spPr>
          <a:xfrm>
            <a:off x="4251960" y="2441448"/>
            <a:ext cx="57607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1.2°</a:t>
            </a:r>
            <a:endParaRPr lang="en-US" sz="820" dirty="0"/>
          </a:p>
        </p:txBody>
      </p:sp>
      <p:sp>
        <p:nvSpPr>
          <p:cNvPr id="73" name="Text 71"/>
          <p:cNvSpPr txBox="1"/>
          <p:nvPr/>
        </p:nvSpPr>
        <p:spPr>
          <a:xfrm>
            <a:off x="4828032" y="2441448"/>
            <a:ext cx="48463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380m</a:t>
            </a:r>
            <a:endParaRPr lang="en-US" sz="820" dirty="0"/>
          </a:p>
        </p:txBody>
      </p:sp>
      <p:sp>
        <p:nvSpPr>
          <p:cNvPr id="74" name="Text 72"/>
          <p:cNvSpPr txBox="1"/>
          <p:nvPr/>
        </p:nvSpPr>
        <p:spPr>
          <a:xfrm>
            <a:off x="5312664" y="2441448"/>
            <a:ext cx="48463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61.2m</a:t>
            </a:r>
            <a:endParaRPr lang="en-US" sz="820" dirty="0"/>
          </a:p>
        </p:txBody>
      </p:sp>
      <p:sp>
        <p:nvSpPr>
          <p:cNvPr id="75" name="Text 73"/>
          <p:cNvSpPr txBox="1"/>
          <p:nvPr/>
        </p:nvSpPr>
        <p:spPr>
          <a:xfrm>
            <a:off x="5797296" y="2441448"/>
            <a:ext cx="333756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52744"/>
                </a:solidFill>
              </a:rPr>
              <a:t>STATIC / DEFENSIVE (very slow, wide, long dwell)</a:t>
            </a:r>
            <a:endParaRPr lang="en-US" sz="820" dirty="0"/>
          </a:p>
        </p:txBody>
      </p:sp>
      <p:sp>
        <p:nvSpPr>
          <p:cNvPr id="76" name="Shape 74"/>
          <p:cNvSpPr/>
          <p:nvPr/>
        </p:nvSpPr>
        <p:spPr>
          <a:xfrm>
            <a:off x="2039112" y="2843784"/>
            <a:ext cx="6986016" cy="402336"/>
          </a:xfrm>
          <a:prstGeom prst="rect">
            <a:avLst/>
          </a:prstGeom>
          <a:solidFill>
            <a:srgbClr val="FFFBE8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7" name="Text 75"/>
          <p:cNvSpPr txBox="1"/>
          <p:nvPr/>
        </p:nvSpPr>
        <p:spPr>
          <a:xfrm>
            <a:off x="2039112" y="2843784"/>
            <a:ext cx="54864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C-4</a:t>
            </a:r>
            <a:endParaRPr lang="en-US" sz="820" dirty="0"/>
          </a:p>
        </p:txBody>
      </p:sp>
      <p:sp>
        <p:nvSpPr>
          <p:cNvPr id="78" name="Text 76"/>
          <p:cNvSpPr txBox="1"/>
          <p:nvPr/>
        </p:nvSpPr>
        <p:spPr>
          <a:xfrm>
            <a:off x="2587752" y="2843784"/>
            <a:ext cx="62179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628</a:t>
            </a:r>
            <a:endParaRPr lang="en-US" sz="820" dirty="0"/>
          </a:p>
        </p:txBody>
      </p:sp>
      <p:sp>
        <p:nvSpPr>
          <p:cNvPr id="79" name="Text 77"/>
          <p:cNvSpPr txBox="1"/>
          <p:nvPr/>
        </p:nvSpPr>
        <p:spPr>
          <a:xfrm>
            <a:off x="3209544" y="2843784"/>
            <a:ext cx="52120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29.4</a:t>
            </a:r>
            <a:endParaRPr lang="en-US" sz="820" dirty="0"/>
          </a:p>
        </p:txBody>
      </p:sp>
      <p:sp>
        <p:nvSpPr>
          <p:cNvPr id="80" name="Text 78"/>
          <p:cNvSpPr txBox="1"/>
          <p:nvPr/>
        </p:nvSpPr>
        <p:spPr>
          <a:xfrm>
            <a:off x="3730752" y="2843784"/>
            <a:ext cx="52120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68.1</a:t>
            </a:r>
            <a:endParaRPr lang="en-US" sz="820" dirty="0"/>
          </a:p>
        </p:txBody>
      </p:sp>
      <p:sp>
        <p:nvSpPr>
          <p:cNvPr id="81" name="Text 79"/>
          <p:cNvSpPr txBox="1"/>
          <p:nvPr/>
        </p:nvSpPr>
        <p:spPr>
          <a:xfrm>
            <a:off x="4251960" y="2843784"/>
            <a:ext cx="57607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18.7°</a:t>
            </a:r>
            <a:endParaRPr lang="en-US" sz="820" dirty="0"/>
          </a:p>
        </p:txBody>
      </p:sp>
      <p:sp>
        <p:nvSpPr>
          <p:cNvPr id="82" name="Text 80"/>
          <p:cNvSpPr txBox="1"/>
          <p:nvPr/>
        </p:nvSpPr>
        <p:spPr>
          <a:xfrm>
            <a:off x="4828032" y="2843784"/>
            <a:ext cx="48463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140m</a:t>
            </a:r>
            <a:endParaRPr lang="en-US" sz="820" dirty="0"/>
          </a:p>
        </p:txBody>
      </p:sp>
      <p:sp>
        <p:nvSpPr>
          <p:cNvPr id="83" name="Text 81"/>
          <p:cNvSpPr txBox="1"/>
          <p:nvPr/>
        </p:nvSpPr>
        <p:spPr>
          <a:xfrm>
            <a:off x="5312664" y="2843784"/>
            <a:ext cx="48463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8.6m</a:t>
            </a:r>
            <a:endParaRPr lang="en-US" sz="820" dirty="0"/>
          </a:p>
        </p:txBody>
      </p:sp>
      <p:sp>
        <p:nvSpPr>
          <p:cNvPr id="84" name="Text 82"/>
          <p:cNvSpPr txBox="1"/>
          <p:nvPr/>
        </p:nvSpPr>
        <p:spPr>
          <a:xfrm>
            <a:off x="5797296" y="2843784"/>
            <a:ext cx="333756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52744"/>
                </a:solidFill>
              </a:rPr>
              <a:t>INFILTRATION (moderate speed, tight, evasive)</a:t>
            </a:r>
            <a:endParaRPr lang="en-US" sz="820" dirty="0"/>
          </a:p>
        </p:txBody>
      </p:sp>
      <p:sp>
        <p:nvSpPr>
          <p:cNvPr id="85" name="Shape 83"/>
          <p:cNvSpPr/>
          <p:nvPr/>
        </p:nvSpPr>
        <p:spPr>
          <a:xfrm>
            <a:off x="2039112" y="3300984"/>
            <a:ext cx="6986016" cy="512064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6" name="Text 84"/>
          <p:cNvSpPr txBox="1"/>
          <p:nvPr/>
        </p:nvSpPr>
        <p:spPr>
          <a:xfrm>
            <a:off x="2103120" y="3355848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⭐ TACTICAL GOLD: Cluster C-4 (INFILTRATION) was NOT in the original analyst label schema! Its signature — moderate speed, tight formation, evasive direction changes, night-biased (Time of Day=3) — was labelled post-hoc after domain experts reviewed cluster members. Unsupervised ML discovered a new enemy tactic.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039112" y="3877056"/>
            <a:ext cx="3438144" cy="228600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8" name="Text 86"/>
          <p:cNvSpPr txBox="1"/>
          <p:nvPr/>
        </p:nvSpPr>
        <p:spPr>
          <a:xfrm>
            <a:off x="2093976" y="3877056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WITHIN-CLUSTER VALIDATION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2039112" y="4105656"/>
            <a:ext cx="343814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0" name="Text 88"/>
          <p:cNvSpPr txBox="1"/>
          <p:nvPr/>
        </p:nvSpPr>
        <p:spPr>
          <a:xfrm>
            <a:off x="2112264" y="413308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Silhouette per cluster at k=5: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C-0 PATROL:    S=0.741 (well-separated)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C-1 ASSAULT:   S=0.768 (very clean)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C-2 TRANSIT:   S=0.682 (some overlap with C-4)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C-3 STATIC:    S=0.801 (most distinct!)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C-4 INFILTR.:  S=0.631 (overlaps C-1 &amp; C-2)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Overall Mean Silhouette: 0.712 ✓</a:t>
            </a:r>
            <a:endParaRPr lang="en-US" sz="880" dirty="0"/>
          </a:p>
        </p:txBody>
      </p:sp>
      <p:sp>
        <p:nvSpPr>
          <p:cNvPr id="91" name="Shape 89"/>
          <p:cNvSpPr/>
          <p:nvPr/>
        </p:nvSpPr>
        <p:spPr>
          <a:xfrm>
            <a:off x="5586984" y="3877056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2" name="Text 90"/>
          <p:cNvSpPr txBox="1"/>
          <p:nvPr/>
        </p:nvSpPr>
        <p:spPr>
          <a:xfrm>
            <a:off x="5641848" y="3877056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EXPERT LABEL AGREEMENT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5586984" y="4105656"/>
            <a:ext cx="343814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4" name="Text 92"/>
          <p:cNvSpPr txBox="1"/>
          <p:nvPr/>
        </p:nvSpPr>
        <p:spPr>
          <a:xfrm>
            <a:off x="5660136" y="413308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Human OPFOR analysts independently labelled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200 random trajectories. Agreement with k-Means: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PATROL:   91.3%  ASSAULT:  88.7%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TRANSIT:  84.2%  STATIC:   94.6%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INFILTR.: 76.4% (new category — expected lower)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Overall: 87.0% expert-cluster alignment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DBSCAN — Density-Based Spatial Clustering of Applications with Noise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4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Why Unsupervised?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k-Means: Algorithm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k-Means: Choosing k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k-Means: Case Study</a:t>
            </a:r>
            <a:endParaRPr lang="en-US" sz="590" dirty="0"/>
          </a:p>
        </p:txBody>
      </p:sp>
      <p:sp>
        <p:nvSpPr>
          <p:cNvPr id="13" name="Shape 11"/>
          <p:cNvSpPr/>
          <p:nvPr/>
        </p:nvSpPr>
        <p:spPr>
          <a:xfrm>
            <a:off x="27432" y="1833677"/>
            <a:ext cx="1865376" cy="261823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5. DBSCAN Fundamentals</a:t>
            </a:r>
            <a:endParaRPr lang="en-US" sz="68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DBSCAN in Practice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Gaussian Mixture Models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GMM: EM Algorithm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Hierarchical Clustering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PCA: Theory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PCA: Applications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t-SNE &amp; UMAP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Cluster Validation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DBSCAN: Find Clusters of Any Shape — and Flag Outliers as Noise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DBSCAN ALGORITHM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2514600"/>
          </a:xfrm>
          <a:prstGeom prst="rect">
            <a:avLst/>
          </a:prstGeom>
          <a:solidFill>
            <a:srgbClr val="EB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PARAMETERS: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ε:      neighbourhood radius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MinPts: minimum points to define a dense region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DEFINITIONS: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Core Point:    Has ≥ MinPts points within ε-ball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        Belongs to a high-density region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Border Point:  Within ε of a core point but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        has &lt; MinPts neighbours itself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Noise Point:   Neither core nor border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        → LABELLED AS OUTLIER (cluster=-1)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DIRECTLY DENSITY-REACHABLE: x from y if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d(x,y) ≤ ε AND y is a core point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DENSITY-CONNECTED: x and y both reachable from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some common core point z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CLUSTER = maximal set of density-connected points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ALGORITHM: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For each unvisited point p: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Mark p as visited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If p is a core point: expand cluster from p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(add all density-reachable points)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Else: label p as noise (may re-assign later)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COMPLEXITY: O(N log N) with spatial index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822192"/>
            <a:ext cx="3632728" cy="402336"/>
          </a:xfrm>
          <a:prstGeom prst="rect">
            <a:avLst/>
          </a:prstGeom>
          <a:solidFill>
            <a:srgbClr val="EBF8F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867912"/>
            <a:ext cx="344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Core: |{x: d(p,x)≤ε}| ≥ MinPts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Cluster: maximal density-connected set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DBSCAN vs K-MEANS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SHAPE: k-Means assumes spherical/convex clusters.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DBSCAN finds arbitrary shapes!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(Concentric rings, elongated trajectories)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NOISE HANDLING: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k-Means: forces every point into a cluster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DBSCAN: explicitly labels noise points!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In defence: noise = rare/unusual behaviour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DECEPTION MANOEUVRES!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DETERMINING k: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k-Means: k required as input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DBSCAN: k discovered automatically!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(determined by ε, MinPts, and data density)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CASE STUDY (ε=0.45, MinPts=8):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Cluster A: 3,214 points (PATROL + STATIC mix)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Cluster B: 1,847 points (ASSAULT)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Cluster C: 2,397 points (TRANSIT)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Cluster D: 400 points  (INFILTRATION)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NOISE:     142 points  (1.78%) ← ALERT!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⭐ The 142 noise points = deception manoeuvres!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Zero dwell, random direction changes, night ops,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unusual speed patterns — adversary deception!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DBSCAN — Parameter Tuning &amp; Operational Anomaly Detection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4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Why Unsupervised?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k-Means: Algorithm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k-Means: Choosing k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k-Means: Case Study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DBSCAN Fundamentals</a:t>
            </a:r>
            <a:endParaRPr lang="en-US" sz="590" dirty="0"/>
          </a:p>
        </p:txBody>
      </p:sp>
      <p:sp>
        <p:nvSpPr>
          <p:cNvPr id="14" name="Shape 12"/>
          <p:cNvSpPr/>
          <p:nvPr/>
        </p:nvSpPr>
        <p:spPr>
          <a:xfrm>
            <a:off x="27432" y="2086356"/>
            <a:ext cx="1865376" cy="261823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6. DBSCAN in Practice</a:t>
            </a:r>
            <a:endParaRPr lang="en-US" sz="68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Gaussian Mixture Models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GMM: EM Algorithm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Hierarchical Clustering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PCA: Theory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PCA: Applications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t-SNE &amp; UMAP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Cluster Validation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Tuning ε and MinPts — The k-Distance Plot Method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K-DISTANCE PLOT FOR ε SELECTION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HOW TO CHOOSE ε: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1. For each point, compute distance to its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MinPts-th nearest neighbour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2. Sort these distances in ascending order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3. Plot the sorted k-distances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4. Choose ε at the "knee" (sharp change)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CASE STUDY k-Distance Plot (MinPts=8):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Sorted 8th-NN distances (sample):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99th%ile  = 0.21  [dense core region]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90th%ile  = 0.32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80th%ile  = 0.41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70th%ile  = 0.47  ← KNEE (ε=0.45 chosen)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60th%ile  = 0.58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50th%ile  = 0.72  [sparser region begins]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10th%ile  = 1.84  [isolated points / noise]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MinPts SELECTION: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Rule of thumb: MinPts ≥ d + 1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For d=12 features: MinPts ≥ 13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BUT: noise fraction sensitive to MinPts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MinPts=5: 42 noise (0.5%) — too few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MinPts=8: 142 noise (1.8%) ← balanced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MinPts=15: 318 noise (4.0%) — too many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OPERATIONAL USE — ANOMALY DETECTION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The 142 NOISE POINTS from DBSCAN are the most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operationally significant output!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ANALYST INVESTIGATION of noise trajectories: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Profile of noise point characteristics: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- 89% occurred at night (x9=3)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- Avg direction change: 34.2 deg/min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(vs 28.4 for ASSAULT, 18.7 for INFILTR.)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- Near-zero dwell time at ALL waypoints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- Route deviation 820m+ from shortest path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- Force size: 82% were single-unit (small cell)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EXPERT CONCLUSION: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These are DELIBERATE DECEPTION MANOEUVRES: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small units moving erratically to confuse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pattern-of-life analysis.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ACTION TAKEN: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New OPFOR doctrine SOP created for deceptive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manoeuvres based on these 142 trajectories.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Added as explicit Category 6 in training.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⭐ Without DBSCAN, these 142 points would have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been FORCED into k-Means clusters, hiding them.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2039112" y="3730752"/>
            <a:ext cx="6986016" cy="512064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03120" y="378561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⚠ DBSCAN LIMITATION: Struggles with clusters of VARYING density (a common real-world problem). HDBSCAN (Hierarchical DBSCAN) extends it to handle variable density — recommended for real intelligence data where high-activity urban areas have much denser trajectory data than rural areas.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39112" y="4306824"/>
            <a:ext cx="6986016" cy="365760"/>
          </a:xfrm>
          <a:prstGeom prst="rect">
            <a:avLst/>
          </a:prstGeom>
          <a:solidFill>
            <a:srgbClr val="EBF8F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130552" y="4352544"/>
            <a:ext cx="6803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HDBSCAN: Convert DBSCAN to hierarchy via single-linkage tree — extracts stable clusters at multiple density scales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Gaussian Mixture Models (GMM) — Probabilistic Soft Clustering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4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Why Unsupervised?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k-Means: Algorithm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k-Means: Choosing k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k-Means: Case Study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DBSCAN Fundamentals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DBSCAN in Practice</a:t>
            </a:r>
            <a:endParaRPr lang="en-US" sz="590" dirty="0"/>
          </a:p>
        </p:txBody>
      </p:sp>
      <p:sp>
        <p:nvSpPr>
          <p:cNvPr id="15" name="Shape 13"/>
          <p:cNvSpPr/>
          <p:nvPr/>
        </p:nvSpPr>
        <p:spPr>
          <a:xfrm>
            <a:off x="27432" y="2339035"/>
            <a:ext cx="1865376" cy="261823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7. Gaussian Mixture Models</a:t>
            </a:r>
            <a:endParaRPr lang="en-US" sz="68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GMM: EM Algorithm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Hierarchical Clustering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PCA: Theory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PCA: Applications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t-SNE &amp; UMAP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Cluster Validation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GMM: Each Cluster is a Gaussian — Soft Assignments via Probability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GMM MODEL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2514600"/>
          </a:xfrm>
          <a:prstGeom prst="rect">
            <a:avLst/>
          </a:prstGeom>
          <a:solidFill>
            <a:srgbClr val="EB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MODEL: Data is generated by a mixture of K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Gaussian distributions: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P(x) = Σ_{k=1}^{K} π_k · N(x; μ_k, Σ_k)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π_k: mixture weight (fraction from cluster k)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Σ_k π_k = 1, π_k ≥ 0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μ_k: cluster mean (centroid)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Σ_k: cluster covariance (shape, orientation)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SOFT ASSIGNMENT (responsibility):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r_ik = P(cluster k | x_i)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= π_k N(x_i; μ_k, Σ_k) / Σ_j π_j N(x_i; μ_j, Σ_j)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r_ik ∈ [0, 1],  Σ_k r_ik = 1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Each point partially belongs to ALL clusters!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GMM vs k-Means: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k-Means: HARD assignment (each point → 1 cluster)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GMM:     SOFT assignment (probabilistic membership)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k-Means: Spherical clusters (identity covariance)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GMM:     Elliptical clusters (full Σ_k matrix)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k-Means: Special case of GMM with Σ_k = σ²I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  and σ → 0 (hard limit)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822192"/>
            <a:ext cx="3632728" cy="457200"/>
          </a:xfrm>
          <a:prstGeom prst="rect">
            <a:avLst/>
          </a:prstGeom>
          <a:solidFill>
            <a:srgbClr val="EBF8F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867912"/>
            <a:ext cx="344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GMM CASE STUDY RESULTS (K=5)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Model selection (lower AIC/BIC = better):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K=3: AIC=51,240  BIC=51,890  logL=−25,440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K=4: AIC=49,820  BIC=50,640  logL=−24,730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K=5: AIC=49,432  BIC=50,540  logL=−24,516 ← best!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K=6: AIC=49,680  BIC=51,020  logL=−24,440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K=7: AIC=50,010  BIC=51,590  logL=−24,205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BIC selects K=5 (AIC slightly favours K=6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but BIC penalises extra params more heavily)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K=5 GMM Cluster Profiles: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C1 (PATROL): π=0.193, large Σ (wide spread)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C2 (ASSAULT): π=0.117, small Σ (tight formation)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C3 (TRANSIT): π=0.089, elongated Σ (directional)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C4 (STATIC): π=0.272, near-zero velocity μ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C5 (INFILTR.): π=0.079, diagonal Σ (mixed feats)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BENEFIT: Soft memberships for boundary trajectories!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Trajectory T_481: r(ASSAULT)=0.62, r(INFILTR.)=0.38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→ Alert analysts this trajectory is ambiguous</a:t>
            </a:r>
            <a:endParaRPr lang="en-US" sz="840"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3904488"/>
            <a:ext cx="33766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EM Algorithm — Maximum Likelihood for GMM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4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Why Unsupervised?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k-Means: Algorithm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k-Means: Choosing k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k-Means: Case Study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DBSCAN Fundamentals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DBSCAN in Practice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Gaussian Mixture Models</a:t>
            </a:r>
            <a:endParaRPr lang="en-US" sz="590" dirty="0"/>
          </a:p>
        </p:txBody>
      </p:sp>
      <p:sp>
        <p:nvSpPr>
          <p:cNvPr id="16" name="Shape 14"/>
          <p:cNvSpPr/>
          <p:nvPr/>
        </p:nvSpPr>
        <p:spPr>
          <a:xfrm>
            <a:off x="27432" y="2591714"/>
            <a:ext cx="1865376" cy="261823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8. GMM: EM Algorithm</a:t>
            </a:r>
            <a:endParaRPr lang="en-US" sz="68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Hierarchical Clustering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PCA: Theory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PCA: Applications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t-SNE &amp; UMAP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Cluster Validation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Expectation-Maximisation: Alternating E-Step and M-Step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EM ALGORITHM FOR GMM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3017520"/>
          </a:xfrm>
          <a:prstGeom prst="rect">
            <a:avLst/>
          </a:prstGeom>
          <a:solidFill>
            <a:srgbClr val="EB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GOAL: Maximise log-likelihood of the data: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L(θ) = Σ_{i=1}^N log P(x_i; θ)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= Σ_i log[Σ_k π_k N(x_i; μ_k, Σ_k)]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θ = {π_k, μ_k, Σ_k}_{k=1}^K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INITIALISE: θ⁰ (use k-Means output → fast!)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E-STEP (Expectation):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Compute responsibilities using CURRENT θ: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r_ik = π_k N(x_i; μ_k, Σ_k) / Σ_j π_j N(x_i; μ_j, Σ_j)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[soft cluster assignments given current params]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M-STEP (Maximisation):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Update parameters using current r_ik: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N_k = Σ_i r_ik   [effective cluster size]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π_k = N_k / 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μ_k = (1/N_k) Σ_i r_ik x_i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Σ_k = (1/N_k) Σ_i r_ik (x_i−μ_k)(x_i−μ_k)^T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REPEAT E → M → E → M until L converges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 increases (or stays same) at every M-step!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(EM theorem: guaranteed non-decreasing)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CONVERGENCE: |L(θ^{t+1}) − L(θ^t)| &lt; 10⁻⁶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4325112"/>
            <a:ext cx="3632728" cy="384048"/>
          </a:xfrm>
          <a:prstGeom prst="rect">
            <a:avLst/>
          </a:prstGeom>
          <a:solidFill>
            <a:srgbClr val="EBF8F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4370832"/>
            <a:ext cx="344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EM CONVERGENCE &amp; PITFALLS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CASE STUDY CONVERGENCE: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Random init: logL starts at −38,214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After 10 iters:  logL = −27,840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After 20 iters:  logL = −25,118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After 40 iters:  logL = −24,551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After 65 iters:  logL = −24,519 ← converged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(|ΔL| &lt; 10⁻⁶ criterion met at iter 65)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PITFALL 1 — LOCAL MAXIMA: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EM finds local max of log-likelihood.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Solution: Multiple random starts (n_init=10).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Best logL across 10 runs: −24,516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PITFALL 2 — SINGULARITIES: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If a cluster collapses to ONE POINT: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N_k → 1 → Σ_k → 0 → N(x_i; μ_k, Σ_k) → ∞!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Solution: Regularise Σ_k += ε_reg·I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Or: constraint min_eigenvalue(Σ_k) ≥ 0.01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PITFALL 3 — LABEL SWITCHING: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GMM components are exchangeable: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Cluster "1" in run 1 ≠ Cluster "1" in run 2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Solution: Hungarian algorithm to align runs</a:t>
            </a:r>
            <a:endParaRPr lang="en-US" sz="880"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4407408"/>
            <a:ext cx="3376696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Hierarchical Clustering — Dendrograms for Analyst Visualisation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4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Why Unsupervised?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k-Means: Algorithm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k-Means: Choosing k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k-Means: Case Study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DBSCAN Fundamentals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DBSCAN in Practice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Gaussian Mixture Models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GMM: EM Algorithm</a:t>
            </a:r>
            <a:endParaRPr lang="en-US" sz="590" dirty="0"/>
          </a:p>
        </p:txBody>
      </p:sp>
      <p:sp>
        <p:nvSpPr>
          <p:cNvPr id="17" name="Shape 15"/>
          <p:cNvSpPr/>
          <p:nvPr/>
        </p:nvSpPr>
        <p:spPr>
          <a:xfrm>
            <a:off x="27432" y="2844394"/>
            <a:ext cx="1865376" cy="261823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 Hierarchical Clustering</a:t>
            </a:r>
            <a:endParaRPr lang="en-US" sz="68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PCA: Theory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PCA: Applications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t-SNE &amp; UMAP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Cluster Validation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Agglomerative Clustering: Build a Hierarchy, Cut at the Right Level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AGGLOMERATIVE ALGORITHM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Start: N clusters (each point = its own cluster)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Repeat until 1 cluster remains: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Find the two CLOSEST clusters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Merge them into a single cluster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Result: DENDROGRAM (binary merge tree)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LINKAGE CRITERIA (distance between clusters):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Single:   min distance between any pair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   → Chaining effect (elongated clusters)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Complete: max distance between any pair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   → Compact, roughly spherical clusters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Average:  mean distance between all pairs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   → Balanced; most commonly used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Ward:     merges minimising WCSS increase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   → Similar to k-Means; compact clusters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   → BEST for most defence applications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TIME COMPLEXITY: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Naïve: O(N³)  →  infeasible for N=8,000!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With efficient implementation: O(N²)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For N=8,000: ~64M ops ≈ 8 sec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CHOOSING CUT LEVEL: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Look for the LARGEST VERTICAL GAP in dendrogram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Cut there → reveals natural cluster count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CASE STUDY — WARD LINKAGE DENDROGRAM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Ward linkage applied to N=8,000 trajectories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(subsample 2,000 for visualisation)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DENDROGRAM KEY MERGE HEIGHTS: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Height 0.00 – 0.12: leaf merges (similar points)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Height 0.28: first major merge (PATROL splits)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Height 0.45: ASSAULT separates (distinct!)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Height 0.68: TRANSIT emerges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Height 0.83: INFILTRATION separates from ASSAULT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Height 1.24: STATIC emerges ← BIG GAP above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Height 2.11: all 5 clusters merge into 2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Height 3.84: merge into 1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CUT AT HEIGHT 1.5 → 5 clusters (matches k-Means!)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5-CLUSTER WARD AGREEMENT WITH k-Means (k=5):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Adjusted Rand Index (ARI) = 0.847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(1.0 = perfect agreement, 0 = random)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→ Two completely different methods → 84.7%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agreement → STRONG evidence for k=5 archetypes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DENDROGRAM ADVANTAGE: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Reveals WHICH clusters are most similar: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ASSAULT ↔ INFILTRATION (merge height 0.83)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→ They share the "no dwell, tight" signature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2039112" y="4325112"/>
            <a:ext cx="6986016" cy="38404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03120" y="437997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🎖 DEFENCE VALUE: The dendrogram is a VISUAL INTELLIGENCE PRODUCT — analysts can see that ASSAULT and INFILTRATION are behaviorally closest (they share speed/formation), while STATIC and PATROL are most distinct from all others. Informs COA analysis and watch-list prioritisation.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Principal Component Analysis (PCA) — Mathematical Foundation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4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Why Unsupervised?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k-Means: Algorithm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k-Means: Choosing k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k-Means: Case Study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DBSCAN Fundamentals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DBSCAN in Practice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Gaussian Mixture Models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GMM: EM Algorithm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Hierarchical Clustering</a:t>
            </a:r>
            <a:endParaRPr lang="en-US" sz="590" dirty="0"/>
          </a:p>
        </p:txBody>
      </p:sp>
      <p:sp>
        <p:nvSpPr>
          <p:cNvPr id="18" name="Shape 16"/>
          <p:cNvSpPr/>
          <p:nvPr/>
        </p:nvSpPr>
        <p:spPr>
          <a:xfrm>
            <a:off x="27432" y="3097073"/>
            <a:ext cx="1865376" cy="261823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10. PCA: Theory</a:t>
            </a:r>
            <a:endParaRPr lang="en-US" sz="68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PCA: Applications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t-SNE &amp; UMAP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Cluster Validation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PCA: Find the Directions of Maximum Variance in High-Dimensional Data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PCA DERIVATION FROM FIRST PRINCIPLES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2606040"/>
          </a:xfrm>
          <a:prstGeom prst="rect">
            <a:avLst/>
          </a:prstGeom>
          <a:solidFill>
            <a:srgbClr val="EB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GOAL: Find d-dimensional projection W ∈ ℝ^{d×k}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(k &lt; d) that maximises variance of projected data.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COMPUTE COVARIANCE MATRIX: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X̄ = X − mean(X)  [centre the data]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 = (1/N) X̄^T X̄ ∈ ℝ^{d×d}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 is symmetric PSD → real non-negative eigenvalues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EIGENDECOMPOSITION: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 = V Λ V^T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V = [v₁|v₂|...|v_d] eigenvectors (principal components)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Λ = diag(λ₁≥λ₂≥...≥λ_d) eigenvalues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λ_j = variance explained by j-th PC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EXPLAINED VARIANCE RATIO: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EVR_j = λ_j / Σ_{i=1}^d λ_i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Cumulative: CUMEVR_k = Σ_{j=1}^k EVR_j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PROJECTION: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Z = X̄ · V_k  [N×k matrix of PC scores]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V_k = first k columns of V (top k eigenvectors)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ALTERNATIVE: SVD for numerical stability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X̄ = U S V^T → PCs = V columns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Eigenvalues λ_j = s_j² / (N−1)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913632"/>
            <a:ext cx="3632728" cy="402336"/>
          </a:xfrm>
          <a:prstGeom prst="rect">
            <a:avLst/>
          </a:prstGeom>
          <a:solidFill>
            <a:srgbClr val="EBF8F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959352"/>
            <a:ext cx="344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PCA ON 12-FEATURE CASE STUDY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PCA on 8,000 × 12 normalised trajectory features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EIGENVALUE / EXPLAINED VARIANCE TABLE: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PC   Eigenvalue   EVR     Cumulative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──────────────────────────────────────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PC1    4.21      35.1%     35.1%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PC2    2.84      23.7%     58.8%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PC3    1.62      13.5%     72.3%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PC4    1.45      12.1%     84.4% ← 84.4%!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PC5    0.72       6.0%     90.4%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PC6    0.44       3.7%     94.1%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PC7    0.31       2.6%     96.7%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...    ...         ...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PC12   0.03       0.2%    100%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4 PCs explain 84.4% of total variance!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Kaiser rule (keep λ &gt; 1): retain 4 PCs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95% threshold: need 6 PCs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PC1 LOADINGS (dominant features):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Speed (0.48), MaxSpeed (0.41), DirChange (0.38)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→ PC1 = "Activity/Aggression" axis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PC2 LOADINGS: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Spread (0.52), DwellTime (0.44), Exposure (0.31)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→ PC2 = "Dispersion/Caution" axis</a:t>
            </a:r>
            <a:endParaRPr lang="en-US" sz="840"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3995928"/>
            <a:ext cx="3376696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t-SNE &amp; UMAP — Non-linear Dimensionality Reduction for Visualisation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4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Why Unsupervised?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k-Means: Algorithm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k-Means: Choosing k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k-Means: Case Study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DBSCAN Fundamentals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DBSCAN in Practice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Gaussian Mixture Models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GMM: EM Algorithm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Hierarchical Clustering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PCA: Theory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PCA: Applications</a:t>
            </a:r>
            <a:endParaRPr lang="en-US" sz="590" dirty="0"/>
          </a:p>
        </p:txBody>
      </p:sp>
      <p:sp>
        <p:nvSpPr>
          <p:cNvPr id="20" name="Shape 18"/>
          <p:cNvSpPr/>
          <p:nvPr/>
        </p:nvSpPr>
        <p:spPr>
          <a:xfrm>
            <a:off x="27432" y="3602431"/>
            <a:ext cx="1865376" cy="261823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12. t-SNE &amp; UMAP</a:t>
            </a:r>
            <a:endParaRPr lang="en-US" sz="68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Cluster Validation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Beyond PCA: Non-linear Methods for Cluster Visualisation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t-SNE (t-Distributed Stochastic Neighbour Embedding)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PCA is LINEAR — cannot capture non-linear cluster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structure (concentric rings, manifolds)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t-SNE IDEA: Preserve LOCAL neighbourhood structure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STEP 1: Compute high-dim similarity: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p_{j|i} = exp(−||x_i−x_j||²/2σ_i²) / Σ_{k≠i} exp(...)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p_{ij} = (p_{j|i} + p_{i|j}) / 2N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STEP 2: Place points in 2D, compute low-dim sim: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q_{ij} = (1 + ||y_i−y_j||²)^{-1} / Σ_{k≠l} (1+||y_k−y_l||²)^{-1}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[Student t with 1 degree of freedom → heavy tails]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STEP 3: Minimise KL divergence: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C = Σ_{i,j} p_{ij} log(p_{ij}/q_{ij})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via gradient descent (typical: 1000 iterations)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HYPERPARAMETER: PERPLEXITY (5-50, typical=30)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Controls effective neighbourhood size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CASE STUDY: t-SNE on 2,000 subsampled trajectories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5 distinct colour-coded clouds in 2D ✓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INFILTRATION (C-4) splits slightly from ASSAULT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STATIC isolated far right → most distinct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039112" y="4050792"/>
            <a:ext cx="3438144" cy="65836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03120" y="4105656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⚠ t-SNE WARNING: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Distances between clusters in t-SNE plot are NOT meaningful!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Only LOCAL structure (within clusters) is preserved.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Cluster SHAPES and SIZES in t-SNE plot are artefacts.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Never compare inter-cluster distances from t-SNE.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UMAP (Uniform Manifold Approximation &amp; Projection)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586984" y="1243584"/>
            <a:ext cx="3438144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660136" y="1271016"/>
            <a:ext cx="329184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ADVANTAGES over t-SNE: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✔ Faster (hours → seconds on N=8,000)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✔ Preserves MORE global structure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✔ Deterministic (reproducible output)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✔ Can project NEW points (t-SNE cannot!)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MATHEMATICAL BASIS: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Riemannian geometry + topological analysis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Build fuzzy simplicial complex in high-dim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Optimise low-dim representation to match topology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Metric: cross-entropy of fuzzy set memberships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HYPERPARAMETERS: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n_neighbors: local vs global structure (15-50)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min_dist: how tightly to pack clusters (0.1-0.5)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metric: Euclidean, cosine, etc.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CASE STUDY UMAP (n_neighbors=15, min_dist=0.1):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Runtime: 4.2 sec vs t-SNE 38.4 sec (9× faster!)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Global structure partially preserved: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ASSAULT and INFILTRATION adjacent (correct!)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STATIC maximally separated (correct!)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CAN project new trajectories into existing map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→ REAL-TIME new trajectory classification!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New trajectory from wargame exercise → UMAP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→ Falls in INFILTRATION cluster region → ALERT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Cluster Validation — Internal and External Metrics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4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Why Unsupervised?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k-Means: Algorithm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k-Means: Choosing k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k-Means: Case Study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DBSCAN Fundamentals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DBSCAN in Practice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Gaussian Mixture Models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GMM: EM Algorithm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Hierarchical Clustering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PCA: Theory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PCA: Applications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t-SNE &amp; UMAP</a:t>
            </a:r>
            <a:endParaRPr lang="en-US" sz="590" dirty="0"/>
          </a:p>
        </p:txBody>
      </p:sp>
      <p:sp>
        <p:nvSpPr>
          <p:cNvPr id="21" name="Shape 19"/>
          <p:cNvSpPr/>
          <p:nvPr/>
        </p:nvSpPr>
        <p:spPr>
          <a:xfrm>
            <a:off x="27432" y="3855110"/>
            <a:ext cx="1865376" cy="261823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13. Cluster Validation</a:t>
            </a:r>
            <a:endParaRPr lang="en-US" sz="68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How Do We KNOW the Clusters Are Real? A Battery of Validation Tests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6986016" cy="219456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39112" y="1014984"/>
            <a:ext cx="1298448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Metric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3337560" y="1014984"/>
            <a:ext cx="1444752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Formula / Method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4782312" y="1014984"/>
            <a:ext cx="786384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Range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5568696" y="1014984"/>
            <a:ext cx="603504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Case Study Value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6172200" y="1014984"/>
            <a:ext cx="2871216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Interpretation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039112" y="1234440"/>
            <a:ext cx="6986016" cy="384048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2039112" y="1234440"/>
            <a:ext cx="1298448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Silhouette Score (S)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3337560" y="12344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(b−a)/max(a,b), mean over all points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4782312" y="1234440"/>
            <a:ext cx="786384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−1 to +1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5568696" y="1234440"/>
            <a:ext cx="603504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0.712 (k=5)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6172200" y="1234440"/>
            <a:ext cx="2871216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Strong structure (&gt;0.70)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039112" y="1618488"/>
            <a:ext cx="698601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2039112" y="1618488"/>
            <a:ext cx="1298448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Calinski-Harabász (CH)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3337560" y="1618488"/>
            <a:ext cx="1444752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Between-cluster / within-cluster variance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4782312" y="1618488"/>
            <a:ext cx="786384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 to ∞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5568696" y="1618488"/>
            <a:ext cx="603504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1,842 (k=5)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6172200" y="1618488"/>
            <a:ext cx="2871216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Higher = better (no upper bound)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039112" y="2002536"/>
            <a:ext cx="6986016" cy="384048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2039112" y="2002536"/>
            <a:ext cx="1298448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Davies-Bouldin (DB)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3337560" y="2002536"/>
            <a:ext cx="1444752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Avg(max ratio of within/between cluster dist)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4782312" y="2002536"/>
            <a:ext cx="786384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 to ∞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5568696" y="2002536"/>
            <a:ext cx="603504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0.68 (k=5)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6172200" y="2002536"/>
            <a:ext cx="2871216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Lower = better (0 = perfect)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039112" y="2386584"/>
            <a:ext cx="698601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 txBox="1"/>
          <p:nvPr/>
        </p:nvSpPr>
        <p:spPr>
          <a:xfrm>
            <a:off x="2039112" y="2386584"/>
            <a:ext cx="1298448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Dunn Index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3337560" y="2386584"/>
            <a:ext cx="1444752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Min inter / Max intra cluster distance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4782312" y="2386584"/>
            <a:ext cx="786384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 to ∞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5568696" y="2386584"/>
            <a:ext cx="603504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0.41 (k=5)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6172200" y="2386584"/>
            <a:ext cx="2871216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Higher = better; compact+separated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039112" y="2770632"/>
            <a:ext cx="6986016" cy="384048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2" name="Text 60"/>
          <p:cNvSpPr txBox="1"/>
          <p:nvPr/>
        </p:nvSpPr>
        <p:spPr>
          <a:xfrm>
            <a:off x="2039112" y="2770632"/>
            <a:ext cx="1298448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Adj. Rand Index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3337560" y="2770632"/>
            <a:ext cx="1444752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Agreement with expert labels (requires labels)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4782312" y="2770632"/>
            <a:ext cx="786384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−1 to +1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5568696" y="2770632"/>
            <a:ext cx="603504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0.870 (k=5)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6172200" y="2770632"/>
            <a:ext cx="2871216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Near-perfect expert alignment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039112" y="3154680"/>
            <a:ext cx="698601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8" name="Text 66"/>
          <p:cNvSpPr txBox="1"/>
          <p:nvPr/>
        </p:nvSpPr>
        <p:spPr>
          <a:xfrm>
            <a:off x="2039112" y="31546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Stability (bootstrap)</a:t>
            </a:r>
            <a:endParaRPr lang="en-US" sz="800" dirty="0"/>
          </a:p>
        </p:txBody>
      </p:sp>
      <p:sp>
        <p:nvSpPr>
          <p:cNvPr id="69" name="Text 67"/>
          <p:cNvSpPr txBox="1"/>
          <p:nvPr/>
        </p:nvSpPr>
        <p:spPr>
          <a:xfrm>
            <a:off x="3337560" y="31546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Re-cluster B=100 bootstrap samples, avg ARI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4782312" y="3154680"/>
            <a:ext cx="786384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 to 1</a:t>
            </a:r>
            <a:endParaRPr lang="en-US" sz="800" dirty="0"/>
          </a:p>
        </p:txBody>
      </p:sp>
      <p:sp>
        <p:nvSpPr>
          <p:cNvPr id="71" name="Text 69"/>
          <p:cNvSpPr txBox="1"/>
          <p:nvPr/>
        </p:nvSpPr>
        <p:spPr>
          <a:xfrm>
            <a:off x="5568696" y="3154680"/>
            <a:ext cx="603504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0.893</a:t>
            </a:r>
            <a:endParaRPr lang="en-US" sz="800" dirty="0"/>
          </a:p>
        </p:txBody>
      </p:sp>
      <p:sp>
        <p:nvSpPr>
          <p:cNvPr id="72" name="Text 70"/>
          <p:cNvSpPr txBox="1"/>
          <p:nvPr/>
        </p:nvSpPr>
        <p:spPr>
          <a:xfrm>
            <a:off x="6172200" y="3154680"/>
            <a:ext cx="2871216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Very stable across data subsamples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039112" y="3593592"/>
            <a:ext cx="6986016" cy="47548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4" name="Text 72"/>
          <p:cNvSpPr txBox="1"/>
          <p:nvPr/>
        </p:nvSpPr>
        <p:spPr>
          <a:xfrm>
            <a:off x="2103120" y="36484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🏆 VERDICT: All 6 validation metrics agree — k=5 clustering is robust, stable, and expert-aligned. This is exceptional evidence for deploying the clustering model in operational OPFOR characterisation. Silhouette=0.712 + ARI=0.870 + Bootstrap Stability=0.893 = HIGH CONFIDENCE solution.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039112" y="4142232"/>
            <a:ext cx="3438144" cy="228600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6" name="Text 74"/>
          <p:cNvSpPr txBox="1"/>
          <p:nvPr/>
        </p:nvSpPr>
        <p:spPr>
          <a:xfrm>
            <a:off x="2093976" y="4142232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GAP STATISTIC (k selection)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2039112" y="4370832"/>
            <a:ext cx="3438144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8" name="Text 76"/>
          <p:cNvSpPr txBox="1"/>
          <p:nvPr/>
        </p:nvSpPr>
        <p:spPr>
          <a:xfrm>
            <a:off x="2112264" y="43982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Gap(k) = E[log WCSS(k_random)] − log WCSS(k_data)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Compares data clustering to random baseline.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Choose k where Gap(k) is maximised.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Case Study: Gap statistic peaks at k=5 ✓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5586984" y="4142232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0" name="Text 78"/>
          <p:cNvSpPr txBox="1"/>
          <p:nvPr/>
        </p:nvSpPr>
        <p:spPr>
          <a:xfrm>
            <a:off x="5641848" y="4142232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PREDICTION STRENGTH (Tibshirani 2005)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586984" y="4370832"/>
            <a:ext cx="3438144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2" name="Text 80"/>
          <p:cNvSpPr txBox="1"/>
          <p:nvPr/>
        </p:nvSpPr>
        <p:spPr>
          <a:xfrm>
            <a:off x="5660136" y="43982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Split data into train/test. Cluster both. Measure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how many co-assigned train pairs are also co-assigned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in test. Choose k where PS &gt; 0.80.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Case Study: PS=0.887 at k=5 → strong ✓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Algorithm Comparison — All Methods on the OPFOR Dataset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4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Why Unsupervised?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k-Means: Algorithm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k-Means: Choosing k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k-Means: Case Study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DBSCAN Fundamentals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DBSCAN in Practice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Gaussian Mixture Models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GMM: EM Algorithm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Hierarchical Clustering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PCA: Theory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PCA: Applications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t-SNE &amp; UMAP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Cluster Validation</a:t>
            </a:r>
            <a:endParaRPr lang="en-US" sz="590" dirty="0"/>
          </a:p>
        </p:txBody>
      </p:sp>
      <p:sp>
        <p:nvSpPr>
          <p:cNvPr id="22" name="Shape 20"/>
          <p:cNvSpPr/>
          <p:nvPr/>
        </p:nvSpPr>
        <p:spPr>
          <a:xfrm>
            <a:off x="27432" y="4107790"/>
            <a:ext cx="1865376" cy="261823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14. Algorithm Comparison</a:t>
            </a:r>
            <a:endParaRPr lang="en-US" sz="68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Head-to-Head: 4 Clustering Methods on 8,000 OPFOR Trajectories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6986016" cy="219456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39112" y="1014984"/>
            <a:ext cx="1078992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Algorithm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3118104" y="1014984"/>
            <a:ext cx="548640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k Found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3666744" y="1014984"/>
            <a:ext cx="548640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Silhouette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4215384" y="1014984"/>
            <a:ext cx="566928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ARI (expert)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4782312" y="1014984"/>
            <a:ext cx="493776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Noise pts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5276088" y="1014984"/>
            <a:ext cx="420624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Train (s)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5696712" y="1014984"/>
            <a:ext cx="3346704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Key Strength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039112" y="1234440"/>
            <a:ext cx="6986016" cy="420624"/>
          </a:xfrm>
          <a:prstGeom prst="rect">
            <a:avLst/>
          </a:prstGeom>
          <a:solidFill>
            <a:srgbClr val="E0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039112" y="1234440"/>
            <a:ext cx="1078992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D5C6F"/>
                </a:solidFill>
              </a:rPr>
              <a:t>k-Means (k=5)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3118104" y="1234440"/>
            <a:ext cx="548640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D5C6F"/>
                </a:solidFill>
              </a:rPr>
              <a:t>5 (input)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3666744" y="1234440"/>
            <a:ext cx="548640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D5C6F"/>
                </a:solidFill>
              </a:rPr>
              <a:t>0.712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4215384" y="1234440"/>
            <a:ext cx="566928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D5C6F"/>
                </a:solidFill>
              </a:rPr>
              <a:t>0.870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4782312" y="1234440"/>
            <a:ext cx="493776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D5C6F"/>
                </a:solidFill>
              </a:rPr>
              <a:t>None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5276088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D5C6F"/>
                </a:solidFill>
              </a:rPr>
              <a:t>0.8 s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5696712" y="1234440"/>
            <a:ext cx="3346704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D5C6F"/>
                </a:solidFill>
              </a:rPr>
              <a:t>Fast, simple, interpretable centroids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039112" y="1655064"/>
            <a:ext cx="698601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2039112" y="1655064"/>
            <a:ext cx="1078992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DBSCAN (ε=0.45,m=8)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3118104" y="1655064"/>
            <a:ext cx="548640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4 auto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3666744" y="1655064"/>
            <a:ext cx="548640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0.684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4215384" y="1655064"/>
            <a:ext cx="566928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0.821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4782312" y="1655064"/>
            <a:ext cx="493776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142 (1.8%)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5276088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2.1 s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5696712" y="1655064"/>
            <a:ext cx="3346704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Finds noise; any shape; discovers k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039112" y="2075688"/>
            <a:ext cx="6986016" cy="420624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 txBox="1"/>
          <p:nvPr/>
        </p:nvSpPr>
        <p:spPr>
          <a:xfrm>
            <a:off x="2039112" y="2075688"/>
            <a:ext cx="1078992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GMM (K=5, Ward init)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3118104" y="2075688"/>
            <a:ext cx="548640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5 (input)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3666744" y="2075688"/>
            <a:ext cx="548640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0.698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4215384" y="2075688"/>
            <a:ext cx="566928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0.857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4782312" y="2075688"/>
            <a:ext cx="493776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None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5276088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18.4 s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5696712" y="2075688"/>
            <a:ext cx="3346704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Soft memberships; elliptical clusters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039112" y="2496312"/>
            <a:ext cx="698601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4" name="Text 62"/>
          <p:cNvSpPr txBox="1"/>
          <p:nvPr/>
        </p:nvSpPr>
        <p:spPr>
          <a:xfrm>
            <a:off x="2039112" y="2496312"/>
            <a:ext cx="1078992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Ward Hierarchical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3118104" y="2496312"/>
            <a:ext cx="548640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5 (cut)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3666744" y="2496312"/>
            <a:ext cx="548640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0.701</a:t>
            </a:r>
            <a:endParaRPr lang="en-US" sz="800" dirty="0"/>
          </a:p>
        </p:txBody>
      </p:sp>
      <p:sp>
        <p:nvSpPr>
          <p:cNvPr id="67" name="Text 65"/>
          <p:cNvSpPr txBox="1"/>
          <p:nvPr/>
        </p:nvSpPr>
        <p:spPr>
          <a:xfrm>
            <a:off x="4215384" y="2496312"/>
            <a:ext cx="566928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0.847</a:t>
            </a:r>
            <a:endParaRPr lang="en-US" sz="800" dirty="0"/>
          </a:p>
        </p:txBody>
      </p:sp>
      <p:sp>
        <p:nvSpPr>
          <p:cNvPr id="68" name="Text 66"/>
          <p:cNvSpPr txBox="1"/>
          <p:nvPr/>
        </p:nvSpPr>
        <p:spPr>
          <a:xfrm>
            <a:off x="4782312" y="2496312"/>
            <a:ext cx="493776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None</a:t>
            </a:r>
            <a:endParaRPr lang="en-US" sz="800" dirty="0"/>
          </a:p>
        </p:txBody>
      </p:sp>
      <p:sp>
        <p:nvSpPr>
          <p:cNvPr id="69" name="Text 67"/>
          <p:cNvSpPr txBox="1"/>
          <p:nvPr/>
        </p:nvSpPr>
        <p:spPr>
          <a:xfrm>
            <a:off x="5276088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8.3 s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5696712" y="2496312"/>
            <a:ext cx="3346704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Dendrogram; visual hierarchy for analysts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039112" y="2971800"/>
            <a:ext cx="6986016" cy="493776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2" name="Text 70"/>
          <p:cNvSpPr txBox="1"/>
          <p:nvPr/>
        </p:nvSpPr>
        <p:spPr>
          <a:xfrm>
            <a:off x="2103120" y="302666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RECOMMENDED WORKFLOW: Run k-Means first (fast) → use as initialisation for GMM (better probabilities) → confirm with Hierarchical dendrogram (visual) → DBSCAN for anomaly/noise detection (the 142 deception trajectories). No single method is "best" — use ALL FOUR for operational intelligence products.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039112" y="3538728"/>
            <a:ext cx="2292096" cy="219456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4" name="Text 72"/>
          <p:cNvSpPr txBox="1"/>
          <p:nvPr/>
        </p:nvSpPr>
        <p:spPr>
          <a:xfrm>
            <a:off x="2039112" y="3538728"/>
            <a:ext cx="2292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SHAPES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HANDLED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039112" y="3794760"/>
            <a:ext cx="229209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6" name="Text 74"/>
          <p:cNvSpPr txBox="1"/>
          <p:nvPr/>
        </p:nvSpPr>
        <p:spPr>
          <a:xfrm>
            <a:off x="2103120" y="3849624"/>
            <a:ext cx="216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k-Means: Spherical only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GMM: Elliptical (any Σ)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DBSCAN: Any shape!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Hierarchical: Any (Ward~sphere)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386072" y="3538728"/>
            <a:ext cx="2292096" cy="219456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8" name="Text 76"/>
          <p:cNvSpPr txBox="1"/>
          <p:nvPr/>
        </p:nvSpPr>
        <p:spPr>
          <a:xfrm>
            <a:off x="4386072" y="3538728"/>
            <a:ext cx="2292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DETERMINES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k AUTOMATICALLY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386072" y="3794760"/>
            <a:ext cx="229209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0" name="Text 78"/>
          <p:cNvSpPr txBox="1"/>
          <p:nvPr/>
        </p:nvSpPr>
        <p:spPr>
          <a:xfrm>
            <a:off x="4450080" y="3849624"/>
            <a:ext cx="216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k-Means: ✗ (must specify)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GMM: ✗ (AIC/BIC post-hoc)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DBSCAN: ✓ (from ε,MinPts)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Hierarchical: ✓ (cut dendrogram)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733032" y="3538728"/>
            <a:ext cx="2292096" cy="219456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2" name="Text 80"/>
          <p:cNvSpPr txBox="1"/>
          <p:nvPr/>
        </p:nvSpPr>
        <p:spPr>
          <a:xfrm>
            <a:off x="6733032" y="3538728"/>
            <a:ext cx="2292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SCALES TO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LARGE N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733032" y="3794760"/>
            <a:ext cx="229209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4" name="Text 82"/>
          <p:cNvSpPr txBox="1"/>
          <p:nvPr/>
        </p:nvSpPr>
        <p:spPr>
          <a:xfrm>
            <a:off x="6797040" y="3849624"/>
            <a:ext cx="216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k-Means: ✓ O(Nkd)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GMM: ✓ O(NK²d²)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DBSCAN: ✓ O(N log 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Hierarchical: ✗ O(N²) memory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Lecture 4 Summary — Unsupervised Learning &amp; Clustering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4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Why Unsupervised?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k-Means: Algorithm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k-Means: Choosing k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k-Means: Case Study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DBSCAN Fundamentals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DBSCAN in Practice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Gaussian Mixture Models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GMM: EM Algorithm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Hierarchical Clustering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PCA: Theory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PCA: Applications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t-SNE &amp; UMAP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Cluster Validation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3" name="Shape 21"/>
          <p:cNvSpPr/>
          <p:nvPr/>
        </p:nvSpPr>
        <p:spPr>
          <a:xfrm>
            <a:off x="27432" y="4360469"/>
            <a:ext cx="1865376" cy="261823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15. Summary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Key Takeaways: 4 Clustering Methods + 3 Dim-Reduction Techniques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2455164" cy="256032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k-Means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2039112" y="1271016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325880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Minimise WCSS by alternating assign+update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Choose k via Elbow+Silhouette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Fast, scalable, interpretable centroids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Fast first pass; best starting point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4567428" y="1014984"/>
            <a:ext cx="2455164" cy="256032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4622292" y="1014984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DBSCAN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4567428" y="1271016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4631436" y="1325880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Core/border/noise via ε-neighbourhood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Finds clusters of ANY shape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142 noise pts = deception manoeuvres!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Anomaly detection; no k needed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2039112" y="2258568"/>
            <a:ext cx="2455164" cy="256032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093976" y="2258568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GMM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2039112" y="2514600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103120" y="2569464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Probabilistic soft memberships r_ik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Fit via EM: E-step + M-step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Handles elliptical clusters (full Σ)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Ambiguous boundaries; model selection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4567428" y="2258568"/>
            <a:ext cx="2455164" cy="256032"/>
          </a:xfrm>
          <a:prstGeom prst="rect">
            <a:avLst/>
          </a:prstGeom>
          <a:solidFill>
            <a:srgbClr val="E05218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4622292" y="2258568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Hierarchical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(Ward)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4567428" y="2514600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4631436" y="2569464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Dendrogram = visual intelligence product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ARI=0.847 agreement with k-Means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Reveals cluster relationships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Analyst visualisation; hierarchy context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2039112" y="3502152"/>
            <a:ext cx="2455164" cy="256032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2093976" y="3502152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PCA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2039112" y="3758184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2103120" y="3813048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Linear dim reduction via eigenvectors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4 PCs explain 84.4% variance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PC1=Activity, PC2=Dispersion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Feature compression; noise removal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4567428" y="3502152"/>
            <a:ext cx="2455164" cy="25603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4622292" y="3502152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t-SNE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&amp; UMAP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4567428" y="3758184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Text 52"/>
          <p:cNvSpPr txBox="1"/>
          <p:nvPr/>
        </p:nvSpPr>
        <p:spPr>
          <a:xfrm>
            <a:off x="4631436" y="3813048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Non-linear visualisation for clusters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UMAP: 9× faster + can project new pts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⚠ Distances not meaningful in t-SNE!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2D cluster visualisation for analysts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7095744" y="1014984"/>
            <a:ext cx="1892808" cy="3712464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 txBox="1"/>
          <p:nvPr/>
        </p:nvSpPr>
        <p:spPr>
          <a:xfrm>
            <a:off x="7159752" y="1069848"/>
            <a:ext cx="1764792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🚀 NEXT: Lecture 5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Unsupervised Learning Part 2: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Anomaly Detection in Depth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– Isolation Forest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– One-Class SVM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– Autoencoders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Cybersecurity Applications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– Network intrusion detection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– Malware traffic clustering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Advanced OPFOR analytics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– Deception signature ML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– Intent estimation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Case Study: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N=500K network packets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Insider threat detection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Assignment 4 released.</a:t>
            </a:r>
            <a:endParaRPr lang="en-US" sz="8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Lecture 5 Preview — Unsupervised Learning Part 2: Anomaly Detection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4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Why Unsupervised?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k-Means: Algorithm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k-Means: Choosing k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k-Means: Case Study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DBSCAN Fundamentals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DBSCAN in Practice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Gaussian Mixture Models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GMM: EM Algorithm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Hierarchical Clustering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PCA: Theory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PCA: Applications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t-SNE &amp; UMAP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Cluster Validation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4" name="Shape 22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5" name="Shape 23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Text 24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Lecture 5: When Normal Is the Label — Detecting the Abnormal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0" name="Shape 28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Text 29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LECTURE 5 TOPICS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39112" y="1243584"/>
            <a:ext cx="3438144" cy="32278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3" name="Text 31"/>
          <p:cNvSpPr txBox="1"/>
          <p:nvPr/>
        </p:nvSpPr>
        <p:spPr>
          <a:xfrm>
            <a:off x="2112264" y="1271016"/>
            <a:ext cx="329184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Anomaly Detection vs Clustering distinction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Statistical approaches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Z-score, IQR, Mahalanobis distance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Multivariate outlier detection (Robust PCA)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Isolation Forest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Random recursive partitioning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Anomaly score = avg path length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O(N) training, O(1) inference!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One-Class SVM (OCSVM)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Learns tight boundary around normal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RBF kernel for non-linear boundary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ν parameter controls outlier fraction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Autoencoder-based Detection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Encode → bottleneck → Decode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High reconstruction error = anomaly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Works for images, signals, text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Cybersecurity Applications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SIGINT intrusion detection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Lateral movement detection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Command &amp; Control traffic identification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5" name="Text 33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PREVIEW NUMBERS (Lecture 5)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86984" y="1243584"/>
            <a:ext cx="3438144" cy="3227832"/>
          </a:xfrm>
          <a:prstGeom prst="rect">
            <a:avLst/>
          </a:prstGeom>
          <a:solidFill>
            <a:srgbClr val="EB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7" name="Text 35"/>
          <p:cNvSpPr txBox="1"/>
          <p:nvPr/>
        </p:nvSpPr>
        <p:spPr>
          <a:xfrm>
            <a:off x="5660136" y="1271016"/>
            <a:ext cx="329184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Case Study: Network Intrusion Detection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Dataset: N=500,000 network packets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Normal (benign): 482,000 (96.4%)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Anomalous (attack): 18,000 (3.6%)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Features: 41 packet-level features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Method Comparison: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Z-score baseline:        TPR=58.2%  FPR=2.4%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Mahalanobis:             TPR=72.1%  FPR=1.8%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Isolation Forest:        TPR=91.4%  FPR=1.1%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One-Class SVM (RBF):    TPR=89.7%  FPR=0.9%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Autoencoder (latent=16): TPR=95.8%  FPR=0.6% ←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Insider Threat Module: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15 compromised accounts (99.997% normal)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Autoencoder: detects 13/15 (86.7%) within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48 hrs of first anomalous login pattern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039112" y="4544568"/>
            <a:ext cx="6986016" cy="38404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9" name="Text 37"/>
          <p:cNvSpPr txBox="1"/>
          <p:nvPr/>
        </p:nvSpPr>
        <p:spPr>
          <a:xfrm>
            <a:off x="2103120" y="459943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📝 Assignment 4 (released with this pack — Part 3): k-Means derivation + DBSCAN noise analysis + GMM EM step worked example. Solutions provided.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ISSA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ML in Warfare – Lecture 4: Unsupervised Learning &amp; Clustering</dc:title>
  <dc:subject>PptxGenJS Presentation</dc:subject>
  <dc:creator>AK DHAMIJA</dc:creator>
  <cp:lastModifiedBy>AK DHAMIJA</cp:lastModifiedBy>
  <cp:revision>1</cp:revision>
  <dcterms:created xsi:type="dcterms:W3CDTF">2026-09-23T08:51:32Z</dcterms:created>
  <dcterms:modified xsi:type="dcterms:W3CDTF">2026-09-23T08:51:32Z</dcterms:modified>
</cp:coreProperties>
</file>