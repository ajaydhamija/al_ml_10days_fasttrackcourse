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120D0D"/>
          </a:solidFill>
          <a:ln w="12700">
            <a:solidFill>
              <a:srgbClr val="120D0D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AI &amp; ML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Unsupervised Learning Part 2:</a:t>
            </a:r>
            <a:endParaRPr lang="en-US" sz="2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Anomaly Detection &amp;</a:t>
            </a:r>
            <a:endParaRPr lang="en-US" sz="2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Cybersecurity Applications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96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DD7EE"/>
                </a:solidFill>
              </a:rPr>
              <a:t>Lecture 5:  Statistical · Isolation Forest · One-Class SVM · Autoencoders · Intrusion Detection · Insider Threat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8B1A1A"/>
                </a:solidFill>
              </a:rPr>
              <a:t>Case Study A: Network Intrusion (N=500K packets, 41 features)  •  Case Study B: Insider Threat (500K users, 15 compromised)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5 — Objectives &amp; Case Study Datasets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1. Anomaly vs Clustering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Anomaly Detection: Finding the Needle in the Haystack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93008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ANOMALY DETECTION?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93008" cy="247802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34670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CLUSTERING: "Group similar things together"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→ Requires MOST data to form clusters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→ Anomalies are forced into clusters or noise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ANOMALY DETECTION: "Learn what NORMAL looks like.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Flag everything that deviates significantly."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→ NO attack labels needed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→ Catches ZERO-DAY threats (never seen before!)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THREE TYPES OF ANOMALY: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Point Anomaly:   Single unusual event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(one login at 3am from foreign IP)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Contextual Anomaly: Normal event in wrong context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(large file transfer normal on backup day,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 abnormal on random Tuesday at midnight)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Collective Anomaly: Group of events unusual together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 (each packet normal; 1000 in 10ms = port scan)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DEFENCE RELEVANCE: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Network intrusion detection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Insider threat (credential compromise)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SIGINT anomalous transmission patterns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Wargame CGF agent abnormal behaviour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• Supply chain anomaly (counterfeit components)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3794760"/>
            <a:ext cx="3493008" cy="658368"/>
          </a:xfrm>
          <a:prstGeom prst="rect">
            <a:avLst/>
          </a:prstGeom>
          <a:solidFill>
            <a:srgbClr val="FFF0F0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03120" y="3849624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LEARNING OBJECTIVES: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①Statistical outlier methods (Z-score, Mahalanobis)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②Isolation Forest: path length theory → O(1) inference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③One-Class SVM: ν-parameter and RBF kernel boundary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④Autoencoder architecture and reconstruction-error threshold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⑤Apply all methods to network intrusion and insider threat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⑥Evaluate using TPR, FPR, AUROC at extreme class imbalance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660136" y="1014984"/>
            <a:ext cx="3364992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715000" y="1014984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CASE STUDY A — NETWORK INTRUSION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0136" y="1243584"/>
            <a:ext cx="3364992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733288" y="1271016"/>
            <a:ext cx="321868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Dataset: 500,000 network packet records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(representative of a 24-hour CERT log)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Normal traffic:  482,000  (96.4%)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Attack traffic:    18,000  (3.6%)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Attack types: DoS, Probe, R2L, U2R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Features (41): Packet-level attributes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Duration, Protocol type, Service,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Flag, Source bytes, Destination bytes,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Land, Wrong fragment, Urgent,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Hot indicators, Failed logins,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Is guest login, Connection count,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SYN error rate, REJ rate, etc.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 set: 400,000 (all normal + 14,400 attacks)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Test set:   100,000 (all normal + 3,600 attacks)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660136" y="3044952"/>
            <a:ext cx="3364992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715000" y="304495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CASE STUDY B — INSIDER THREAT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60136" y="3273552"/>
            <a:ext cx="3364992" cy="1188720"/>
          </a:xfrm>
          <a:prstGeom prst="rect">
            <a:avLst/>
          </a:prstGeom>
          <a:solidFill>
            <a:srgbClr val="FFF0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733288" y="3300984"/>
            <a:ext cx="321868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Dataset: 500,000 user activity logs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500 users × 1,000 log entries/user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Compromised accounts: 15 (0.003%!)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Features (18): User behaviour attributes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Login hour, Login location (IP subnet),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Files accessed (count &amp; category),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Email recipients (internal/external),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USB/removable drive events,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After-hours activity flag,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Data transfer volume,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Privilege escalation attempts,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Failed authentication count,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App usage pattern deviation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Statistical Anomaly Detection — Z-score, IQR &amp; Mahalanobis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Shape 8"/>
          <p:cNvSpPr/>
          <p:nvPr/>
        </p:nvSpPr>
        <p:spPr>
          <a:xfrm>
            <a:off x="27432" y="1075639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2. Z-score &amp; IQR Methods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Classical Statistical Approaches: Fast, Interpretable, Limited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Z-SCORE &amp; IQR (UNIVARIATE)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Z-SCORE METHOD: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z_i = (x_i − μ) / σ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Flag as anomaly if |z_i| &gt; threshold 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(τ = 2.5 or 3.0 standard deviations)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CASE A (network packets, feature: src_bytes):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μ_normal = 4,218 bytes,  σ = 2,104 bytes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Attack DoS: avg src_bytes = 1.2 bytes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z_DoS = (1.2 − 4218) / 2104 = −2.004  (borderline)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Attack U2R: avg src_bytes = 11,240 bytes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z_U2R = (11240 − 4218) / 2104 = +3.34  (flagged!)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Threshold τ=3.0: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 DoS packets: MISSED (|z|=2.0 &lt; 3.0)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  U2R packets: DETECTED ✓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IQR METHOD (robust to outliers):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Anomaly if x &lt; Q1 − 1.5×IQR or x &gt; Q3 + 1.5×IQR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Q1=2,840, Q3=5,620, IQR=2,780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DoS src_bytes=1.2: 1.2 &lt; 2840−4170 = BELOW fence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→ DETECTED ✓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LIMITATION: Checks ONE feature at a time.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Multi-feature attacks invisible to univariate methods.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MAHALANOBIS DISTANCE (MULTIVARIATE)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606040"/>
          </a:xfrm>
          <a:prstGeom prst="rect">
            <a:avLst/>
          </a:prstGeom>
          <a:solidFill>
            <a:srgbClr val="FFF0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Handles CORRELATIONS between features!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D_M(x) = √[(x−μ)^T Σ⁻¹ (x−μ)]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Euclidean distance: ||x−μ||² treats all directions equally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Mahalanobis: scales each direction by its variance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and accounts for feature correlations (Σ⁻¹)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Properties: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D_M ~ χ²(d) distribution under normality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Threshold: D_M &gt; √χ²_{d, 0.999} at 0.1% FPR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For d=41: threshold ≈ 9.46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CASE A RESULTS (41 features):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Normal packets:   D_M mean = 4.12,  std = 1.18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DoS attacks:      D_M mean = 12.41  → ABOVE threshold!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U2R attacks:      D_M mean = 18.72  → ABOVE threshold!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R2L attacks:      D_M mean = 9.83   → ABOVE (marginal)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Probe attacks:    D_M mean = 7.24   → SOME missed!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Overall Test TPR: 72.1%    FPR: 1.8%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⚠ LIMITATION: Assumes multivariate GAUSSIAN normal data.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Network traffic is highly non-Gaussian (heavy tails, zeros).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Also requires Σ to be invertible — fails with collinear features!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3913632"/>
            <a:ext cx="6986016" cy="402336"/>
          </a:xfrm>
          <a:prstGeom prst="rect">
            <a:avLst/>
          </a:prstGeom>
          <a:solidFill>
            <a:srgbClr val="FFF0F0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30552" y="3959352"/>
            <a:ext cx="680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39112" y="4370832"/>
            <a:ext cx="6986016" cy="402336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44256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ROBUST VARIANT: Replace μ and Σ with Minimum Covariance Determinant (MCD) estimates — computationally fits Gaussian to the most central 50% of data, making it robust to the very anomalies it is trying to detect. Standard Σ is contaminated by outliers!</a:t>
            </a:r>
            <a:endParaRPr lang="en-US" sz="900" dirty="0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6729984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Isolation Forest — Theory &amp; Path Length Anomaly Score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27432" y="1833677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5. Isolation Forest: Theory</a:t>
            </a:r>
            <a:endParaRPr lang="en-US" sz="68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Isolation Forest: Anomalies are EASIER to Isolate Than Normal Points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CORE INSIGHT &amp; ALGORITHM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FFF8F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IDEA: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Normal points are dense → need MANY random splits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 isolate them (they hide among neighbours).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Anomalies are sparse → isolated with FEW splits!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Average path length in random trees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= anomaly score (shorter = more anomalous)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ALGORITHM (build B=100 iTree forest):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 each iTree t = 1,...,B: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Step 1: Sample ψ=256 points (sub-sample)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Step 2: Recursively: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Select random feature j ∈ {1,...,d}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Select random split value q ∈ [min(xⱼ), max(xⱼ)]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Split: left = {x: xⱼ &lt; q}, right = {x: xⱼ ≥ q}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Repeat until each leaf contains 1 point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OR tree height limit h_max = log₂(ψ)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End for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ANOMALY SCORE for point x: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s(x, ψ) = 2^{−E[h(x)] / c(ψ)}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h(x) = path length from root to x in a tree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E[h(x)] = average over B trees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c(ψ) = normalisation: 2H(ψ−1) − 2(ψ−1)/ψ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H(i) = ln(i) + 0.5772 (Euler-Mascheroni const.)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 → 1:  SHORT path → ANOMALY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 → 0:  LONG path  → NORMAL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 ≈ 0.5: ambiguous (entire dataset ~ normal)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632728" cy="493776"/>
          </a:xfrm>
          <a:prstGeom prst="rect">
            <a:avLst/>
          </a:prstGeom>
          <a:solidFill>
            <a:srgbClr val="FFF0F0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44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COMPUTATIONAL ADVANTAGES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0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TIME COMPLEXITY: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Training: O(B × ψ × log ψ)  ← linear in N!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B=100, ψ=256: train on 25,600 points each tree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Full 500K dataset: just sample 256 pts each time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Training time Case A: 0.4 seconds! (vs 38.4s OCSVM)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Inference: O(B × log ψ) per new point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Path traversal: log₂(256) = 8 comparisons per tree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100 trees × 8 comparisons = 800 comparisons/packet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Inference: 0.002 ms per packet → REAL TIME! ✓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WHY SUB-SAMPLING HELPS: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Using only ψ=256 of N=500K points per tree: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Normal points: in dense regions, always have neighbours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within sample → still need many splits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Anomalies: in sparse regions, sub-sampling doesn't help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them — still isolated quickly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Sub-sampling AMPLIFIES the isolation difference!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CASE A RESULTS (B=100, ψ=256):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TPR = 91.4%    FPR = 1.1%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AUROC = 0.976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Training: 0.4s   Inference: 0.002ms per packet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1M packets/sec screening capacity!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3376696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Isolation Forest — Defence Applications &amp; Score Interpretation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4" name="Shape 12"/>
          <p:cNvSpPr/>
          <p:nvPr/>
        </p:nvSpPr>
        <p:spPr>
          <a:xfrm>
            <a:off x="27432" y="2086356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6. Isolation Forest: Defence</a:t>
            </a:r>
            <a:endParaRPr lang="en-US" sz="68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Applying Isolation Forest to SIGINT Anomaly Detection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PATH LENGTH ANALYSIS (CASE A)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Expected path lengths in B=100 trees: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Packet type       E[h(x)]   Score s(x)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─────────────────────────────────────────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Normal HTTP         6.84      0.412 (normal)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Normal FTP          6.71      0.422 (normal)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Normal DNS          7.12      0.391 (normal)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─────────────────────────────────────────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DoS SYN Flood       2.31      0.861 ← ALERT!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Probe: Port Scan    1.98      0.887 ← ALERT!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R2L: Password Brute 3.42      0.742 ← ALERT!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U2R: Root Exploit   2.14      0.875 ← ALERT!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─────────────────────────────────────────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Threshold: s &gt; 0.60 = anomaly flag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Why DoS has short path: DoS packets have extreme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src_byte (≈1 byte) and connection_count (1000s/sec).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First random split on either feature immediately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isolates them → short path → high anomaly score.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SIGINT ANOMALY DETECTION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240280"/>
          </a:xfrm>
          <a:prstGeom prst="rect">
            <a:avLst/>
          </a:prstGeom>
          <a:solidFill>
            <a:srgbClr val="FFF0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EXTENDED TO SIGINT (radar/comms emissions):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Normal SIGINT pattern: Training on 90-day baseline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Frequency: 8.42 GHz ± 0.12 GHz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PRF: 1,240 Hz ± 84 Hz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Pulse width: 2.1 µs ± 0.4 µs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Scan rate: 6.0 deg/s ± 0.8 deg/s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Anomaly Scores for Observed Signals: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Signal A: s = 0.41  (normal; routine patrol radar)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Signal B: s = 0.38  (normal; known civilian ATC)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Signal C: s = 0.82  (ALERT! unusual PRF+frequency)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Signal D: s = 0.91  (ALERT! never-seen-before LPI radar)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Signal D identified as Low Probability of Intercept (LPI)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radar — new signature not in threat library!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⭐ ZERO-DAY DETECTION: No prior label needed.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Isolation Forest detected Signal D as anomalous purely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because its feature combination (freq drift + random PRF)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was statistically unusual vs 90-day normal baseline.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3547872"/>
            <a:ext cx="6986016" cy="56692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360273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HYBRID APPROACH (recommended for operational use):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1. Isolation Forest for real-time screening (0.002ms) → flag suspicious packets (s &gt; 0.55)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2. OCSVM or Autoencoder for secondary deep-scan of flagged packets → confirm / dismiss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3. Analyst review of high-confidence anomalies (s &gt; 0.85) → update threat library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This 3-tier approach balances speed (tier 1) with precision (tier 2) and knowledge update (tier 3).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39112" y="4178808"/>
            <a:ext cx="6986016" cy="365760"/>
          </a:xfrm>
          <a:prstGeom prst="rect">
            <a:avLst/>
          </a:prstGeom>
          <a:solidFill>
            <a:srgbClr val="FFF0F0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30552" y="4224528"/>
            <a:ext cx="6803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Operational threshold selection: choose s* to achieve target FPR ≤ 1% on validation set, then compute resulting TPR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One-Class SVM (OCSVM) — Tight Boundary Around Normal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5" name="Shape 13"/>
          <p:cNvSpPr/>
          <p:nvPr/>
        </p:nvSpPr>
        <p:spPr>
          <a:xfrm>
            <a:off x="27432" y="2339035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7. One-Class SVM (OCSVM)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OCSVM: Learn a Hypersphere Enclosing Normal Data — Reject Outliers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OCSVM FORMULATION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FFF8F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GOAL: Find a function f(x) such that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f(x) ≥ 0 for NORMAL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f(x) &lt; 0 for ANOMALIES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Schölkopf (2001) OCSVM: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Minimise:  ½||w||² + (1/νN) Σ ξᵢ − ρ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Subject to: w·φ(xᵢ) ≥ ρ − ξᵢ,  ξᵢ ≥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(train on NORMAL data only!)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ν ∈ (0,1]: upper bound on fraction of outliers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    lower bound on fraction of support vectors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ν = 0.01: very tight boundary (1% slack)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ν = 0.10: 10% of training data may be outside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ν = FPR target: good starting point for tuning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PREDICTION: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f(x) = sign(Σᵢ αᵢ K(xᵢ, x) − ρ)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f(x) ≥ 0: NORMAL  |  f(x) &lt; 0: ANOMALY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RBF KERNEL (most common):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K(x,x') = exp(−γ||x−x'||²)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Maps to infinite-dim feature space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Creates non-linear boundary in original space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SVDD (Support Vector Data Description):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Alternative formulation: finds minimum-radius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hypersphere enclosing (1−ν) fraction of training data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Geometrically equivalent to OCSVM with RBF kernel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632728" cy="402336"/>
          </a:xfrm>
          <a:prstGeom prst="rect">
            <a:avLst/>
          </a:prstGeom>
          <a:solidFill>
            <a:srgbClr val="FFF0F0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44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OCSVM decision: f(x) = sign(Σᵢ αᵢ K(xᵢ,x) − ρ)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ν = upper bound on FPR in training set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OCSVM CASE A: TUNING &amp; RESULTS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0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GRID SEARCH (ν × γ on 5-fold CV, train on normal only):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       γ=0.001  γ=0.01  γ=0.10  γ=1.0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ν=0.01:  TPR=71%  81%     87%     74%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ν=0.05:  TPR=79%  88%     89.7%   79%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ν=0.10:  TPR=82%  89.1%   86.3%   72%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ν=0.20:  TPR=84%  86.4%   78.2%   64%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Optimal: ν=0.05, γ=0.10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Test TPR: 89.7%   FPR: 0.9%  AUROC: 0.971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Training time: 38.4 sec (on 482K normal samples)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Inference:     4.2 ms per packet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⚠ OCSVM LIMITATIONS: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• Scales as O(N²) in training: 482K² = infeasible!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Solution: Sub-sample 50K normal packets for training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(verified: sub-sample gives 88.9% TPR — close to full)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• Sensitive to γ: wrong γ → either all flagged or none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152744"/>
                </a:solidFill>
              </a:rPr>
              <a:t>  • Not naturally probabilistic (binary decision only)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Autoencoders — Learning Normal Data Distribution via Reconstruction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7" name="Shape 15"/>
          <p:cNvSpPr/>
          <p:nvPr/>
        </p:nvSpPr>
        <p:spPr>
          <a:xfrm>
            <a:off x="27432" y="2844394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 Autoencoders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Autoencoder: Compress → Reconstruct → High Error = Anomaly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ARCHITECTURE &amp; TRAINING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FFF8F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AUTOENCODER STRUCTURE: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Input x ∈ ℝ^d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ENCODER: x → h = f_enc(x; θ_enc)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h ∈ ℝ^k  (bottleneck, k &lt;&lt; 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Typical: 2-3 fully connected layers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Activation: ReLU or tanh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DECODER: h → x̂ = f_dec(h; θ_dec)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x̂ ∈ ℝ^d  (reconstruction)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Mirror architecture of encoder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 (on NORMAL data ONLY):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Minimise reconstruction loss: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L(θ) = (1/N) Σᵢ ||xᵢ − x̂ᵢ||²  [MSE]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ANOMALY DETECTION: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Reconstruction Error (RE) = ||x − x̂||²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Normal points: low RE (model learned normal patterns)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Anomalies: high RE (model never saw this structure)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Flag: x is anomalous if RE(x) &gt; threshold τ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ARCHITECTURE FOR CASE A (d=41 features):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Encoder: 41 → 32 → 16 (bottleneck)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Decoder: 16 → 32 → 41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Total params: 41×32+32×16+16×32+32×41 = 3,968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Training: Adam, lr=0.001, 50 epochs, batch=512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Trained on 482K normal packets → 12.8 sec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632728" cy="402336"/>
          </a:xfrm>
          <a:prstGeom prst="rect">
            <a:avLst/>
          </a:prstGeom>
          <a:solidFill>
            <a:srgbClr val="FFF0F0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44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TYPES OF AUTOENCODERS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0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VANILLA AE (used in Case A):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Standard encoder-decoder, MSE loss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Deterministic bottleneck representation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VARIATIONAL AE (VAE):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Bottleneck = distribution N(μ, σ²)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Loss = MSE + KL divergence penalty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Probabilistic anomaly score: log-likelihood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Better for images (smoother reconstructions)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SPARSE AE: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Adds L1 penalty to activations → sparse 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Forces each neuron to specialise → better features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DEEP CONVOLUTIONAL AE (for network traffic images):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1D-CNN encoder captures local packet sequence patterns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Better for temporal/sequential traffic anomalies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CASE A RESULTS (vanilla AE, latent=16):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Test TPR: 95.8%   FPR: 0.6%  AUROC: 0.988 ← BEST!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Training: 12.8 sec  Inference: 0.04 ms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RE threshold τ = 0.087 (chosen at FPR=0.6% on val)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Normal RE: mean=0.024,  std=0.018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Attack RE: mean=0.354,  std=0.142</a:t>
            </a:r>
            <a:endParaRPr lang="en-US" sz="85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995928"/>
            <a:ext cx="3376696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Network Intrusion Detection — Case A Full Results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19" name="Shape 17"/>
          <p:cNvSpPr/>
          <p:nvPr/>
        </p:nvSpPr>
        <p:spPr>
          <a:xfrm>
            <a:off x="27432" y="3349752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11. Network Intrusion Detect.</a:t>
            </a:r>
            <a:endParaRPr lang="en-US" sz="68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Case A: Head-to-Head on 500K Packets, 41 Features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Method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3410712" y="1014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TPR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959352" y="1014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FPR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507992" y="1014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AUROC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148072" y="1014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 (s)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788152" y="1014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Infer (ms)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6336792" y="1014984"/>
            <a:ext cx="281635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Key Limitation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39112" y="1234440"/>
            <a:ext cx="6986016" cy="384048"/>
          </a:xfrm>
          <a:prstGeom prst="rect">
            <a:avLst/>
          </a:prstGeom>
          <a:solidFill>
            <a:srgbClr val="FFEFE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39112" y="1234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Z-score (τ=3.0, per-feature)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3410712" y="1234440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58.2%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3959352" y="1234440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2.4%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507992" y="1234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0.821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5148072" y="1234440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0.1 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788152" y="1234440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&lt;0.01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336792" y="1234440"/>
            <a:ext cx="28163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Univariate; misses multi-feature attacks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039112" y="1618488"/>
            <a:ext cx="6986016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39112" y="16184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IQR fences (per-feature)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3410712" y="1618488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61.7%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3959352" y="1618488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2.8%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507992" y="1618488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0.834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148072" y="1618488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0.1 s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788152" y="1618488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&lt;0.01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336792" y="1618488"/>
            <a:ext cx="28163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Same as Z-score; doesn't handle correlations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039112" y="2002536"/>
            <a:ext cx="6986016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2039112" y="20025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Mahalanobis Distance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3410712" y="2002536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72.1%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3959352" y="2002536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1.8%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4507992" y="2002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0.912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5148072" y="2002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2.4 s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5788152" y="2002536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0.03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6336792" y="2002536"/>
            <a:ext cx="28163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Assumes Gaussian; fails on heavy-tail traffic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39112" y="2386584"/>
            <a:ext cx="6986016" cy="384048"/>
          </a:xfrm>
          <a:prstGeom prst="rect">
            <a:avLst/>
          </a:prstGeom>
          <a:solidFill>
            <a:srgbClr val="E8F8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4" name="Text 62"/>
          <p:cNvSpPr txBox="1"/>
          <p:nvPr/>
        </p:nvSpPr>
        <p:spPr>
          <a:xfrm>
            <a:off x="2039112" y="23865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Isolation Forest (B=100,ψ=256)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3410712" y="2386584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91.4%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3959352" y="2386584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1.1%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4507992" y="2386584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0.976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5148072" y="2386584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0.4 s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5788152" y="2386584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0.002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6336792" y="2386584"/>
            <a:ext cx="28163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Threshold tuning needed; no probabilities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039112" y="2770632"/>
            <a:ext cx="6986016" cy="384048"/>
          </a:xfrm>
          <a:prstGeom prst="rect">
            <a:avLst/>
          </a:prstGeom>
          <a:solidFill>
            <a:srgbClr val="E8F8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2" name="Text 70"/>
          <p:cNvSpPr txBox="1"/>
          <p:nvPr/>
        </p:nvSpPr>
        <p:spPr>
          <a:xfrm>
            <a:off x="2039112" y="27706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One-Class SVM (ν=0.05, γ=0.10)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3410712" y="2770632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89.7%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3959352" y="2770632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0.9%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4507992" y="2770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0.971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5148072" y="2770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38.4 s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5788152" y="2770632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4.2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6336792" y="2770632"/>
            <a:ext cx="28163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Slow training; not fully scalable to 500K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039112" y="3154680"/>
            <a:ext cx="6986016" cy="384048"/>
          </a:xfrm>
          <a:prstGeom prst="rect">
            <a:avLst/>
          </a:prstGeom>
          <a:solidFill>
            <a:srgbClr val="E0F4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0" name="Text 78"/>
          <p:cNvSpPr txBox="1"/>
          <p:nvPr/>
        </p:nvSpPr>
        <p:spPr>
          <a:xfrm>
            <a:off x="2039112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Autoencoder (latent=16, 3-layer)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3410712" y="3154680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95.8%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3959352" y="3154680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0.6%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4507992" y="3154680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0.988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5148072" y="3154680"/>
            <a:ext cx="64008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12.8 s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5788152" y="3154680"/>
            <a:ext cx="548640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0.04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6336792" y="31546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Requires GPU for large networks; black-box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39112" y="3575304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8" name="Text 86"/>
          <p:cNvSpPr txBox="1"/>
          <p:nvPr/>
        </p:nvSpPr>
        <p:spPr>
          <a:xfrm>
            <a:off x="2103120" y="36301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🏆 Autoencoder wins on ALL metrics (TPR=95.8%, FPR=0.6%, AUROC=0.988). Isolation Forest is the speed champion (0.002ms inference, trains in 0.4s). RECOMMENDED DEPLOYMENT: Isolation Forest as real-time tier-1 screen → Autoencoder as tier-2 deep scan on flagged packets.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039112" y="4114800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0" name="Text 88"/>
          <p:cNvSpPr txBox="1"/>
          <p:nvPr/>
        </p:nvSpPr>
        <p:spPr>
          <a:xfrm>
            <a:off x="2093976" y="4114800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BY ATTACK TYPE (Autoencoder)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2039112" y="4343400"/>
            <a:ext cx="343814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Text 90"/>
          <p:cNvSpPr txBox="1"/>
          <p:nvPr/>
        </p:nvSpPr>
        <p:spPr>
          <a:xfrm>
            <a:off x="2112264" y="43708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Attack type    TPR     RE (mean)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──────────────────────────────────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DoS (12,000)  97.2%    0.412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Probe (3,000) 94.1%    0.318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R2L  (1,800)  92.8%    0.291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U2R  (1,200)  98.4%    0.461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U2R hardest to detect via statistical methods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but easiest for autoencoder (most unusual features)</a:t>
            </a:r>
            <a:endParaRPr lang="en-US" sz="880" dirty="0"/>
          </a:p>
        </p:txBody>
      </p:sp>
      <p:sp>
        <p:nvSpPr>
          <p:cNvPr id="93" name="Shape 91"/>
          <p:cNvSpPr/>
          <p:nvPr/>
        </p:nvSpPr>
        <p:spPr>
          <a:xfrm>
            <a:off x="5586984" y="4114800"/>
            <a:ext cx="3438144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4" name="Text 92"/>
          <p:cNvSpPr txBox="1"/>
          <p:nvPr/>
        </p:nvSpPr>
        <p:spPr>
          <a:xfrm>
            <a:off x="5650992" y="4169664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⚠ REAL-WORLD NOTE: These results are on the KDD Cup 99/NSL-KDD-style benchmark. Real enterprise networks have 10-100× higher FPR from legitimate anomalous traffic (backups, batch jobs, patching) — operational thresholds must be re-tuned.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Insider Threat Detection — Case B: Behavioural Anomaly Detection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27432" y="3855110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13. Insider Threat Detection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Case B: 15 Compromised Accounts in 500,000-Log User Dataset (0.003%!)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EXTREME IMBALANCE CHALLENGE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Training data: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500 users × 1,000 logs = 500,000 entries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Compromised accounts: 15 (0.003%!)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33,333× more normal than anomalous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This is ORDERS OF MAGNITUDE more extreme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than the network intrusion case (3.6% attack)!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USER BEHAVIOUR ANALYTICS (UBA) APPROACH: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Instead of per-packet anomaly detection,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build a BEHAVIOUR PROFILE per user: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- Average login hour: μ=9.4h, σ=1.8h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- Typical file access count: 12–45/day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- Normal data transfer volume: &lt;50 MB/day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- Typical email recipients: 3–8 unique/day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Anomaly = DEVIATION FROM OWN BASELINE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User X normally logs in 9-11am, never weekends.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User X logs in 2:17am Saturday → anomaly score!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Sequence-level anomaly: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LSTM autoencoder on sequence of 50 events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Learns temporal patterns of user behaviour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High reconstruction error on compromised sequence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AUTOENCODER RESULTS — CASE 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468880"/>
          </a:xfrm>
          <a:prstGeom prst="rect">
            <a:avLst/>
          </a:prstGeom>
          <a:solidFill>
            <a:srgbClr val="FFF0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ARCHITECTURE: LSTM Autoencoder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Input: sequence of 50 user events, 18 features each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Encoder: LSTM(64) → LSTM(32) → dense(16)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Decoder: dense(32) → LSTM(64) → output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Trained on 475 non-compromised users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PER-USER ROLLING RE (7-day window):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Normal users: baseline RE = 0.031 ± 0.014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Threshold τ = 0.031 + 3×0.014 = 0.073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COMPROMISED ACCOUNT DETECTION: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13 of 15 detected within 48 hours of first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anomalous event (86.7% recall!)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2 missed: very careful attackers who exactly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mimicked victim's temporal patterns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FALSE POSITIVE RATE: 3 normal users flagged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in 30-day window (0.63% of 475 normal users)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→ Analyst review cleared all 3 within 2 hours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MEAN TIME TO DETECT (MTTD): 31.4 hours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(vs industry average 207 days for insider threats!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Using IBM Cost of a Data Breach 2023 report)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3776472"/>
            <a:ext cx="6986016" cy="64008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383133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⭐ WHAT THE 2 MISSED ACCOUNTS HAD IN COMMON: Both were senior analysts with legitimate after-hours access patterns (weekend work was in their established baseline). Attackers who accessed compromised credentials during the victim's own normal hours defeated temporal anomaly detection. MITIGATION: Add data-access-category features — even during normal hours, an analyst shouldn't access finance + HR + technical documentation in a single session.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Lateral Movement Detection — Graph-Based Anomaly Detection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27432" y="3602431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12. Lateral Movement</a:t>
            </a:r>
            <a:endParaRPr lang="en-US" sz="68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Network Graph Anomalies: Detecting C2 Traffic &amp; Lateral Movement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WHAT IS LATERAL MOVEMENT?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404872"/>
          </a:xfrm>
          <a:prstGeom prst="rect">
            <a:avLst/>
          </a:prstGeom>
          <a:solidFill>
            <a:srgbClr val="FFF8F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After initial compromise, attacker moves laterally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through the network to reach high-value targets.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SIGNATURE FEATURES: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Unusual machine-to-machine connections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(workstation A connecting to server B for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the first time ever — not in history)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SMB/RPC connections at unusual hours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Authentication events from unexpected IPs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Pass-the-Hash attack patterns (NTLM anomaly)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GRAPH REPRESENTATION: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Nodes: Machines (workstations + servers)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Edges: Network connections (with timestamp)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Edge weight: Connection frequency/volume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Graph at time t: G_t = (V, E_t)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Baseline graph: G_baseline = (V, E_hist) [90-day]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ANOMALY SIGNAL: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New edge (u,v) in G_t with no history in G_baseline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First-time connection = high-suspicion event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RATE: 1.4% of all connections are first-time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  95.8% of lateral movement uses first-time edges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First-time edge rule: 95.8% TPR on lateral movement!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712464"/>
            <a:ext cx="3632728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758184"/>
            <a:ext cx="3449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GRAPH AUTOENCODER FOR C2 DETECTION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0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COMMAND &amp; CONTROL (C2) TRAFFIC: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Malware beacons to C2 server at regular intervals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Feature: near-constant inter-arrival 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JA3 fingerprint: TLS fingerprint of C2 client library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GRAPH AUTOENCODER APPROACH: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Train GAE on 30-day normal network graph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Each node gets embedding h = GCN(A, 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 = adjacency, X = node feature matrix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Reconstruct: Ã = σ(h hᵀ)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Node RE = ||row_i(A) − row_i(Ã)||²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Compromised nodes: RE spikes when C2 edge appears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C2 DETECTION RESULTS: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25 simulated C2 channels in 10,000-node network: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Detected within 6 hours: 22/25 (88%)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Mean false positive per 10K nodes per day: 4.2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FPR: 0.042%  (very low in absolute terms)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Missed: 3 using domain generation algorithm (DGA)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with &gt; 200 randomised domains — avoids pattern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Fix: Add DNS feature (DGA entropy score) → 96% recall</a:t>
            </a:r>
            <a:endParaRPr lang="en-US" sz="85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794760"/>
            <a:ext cx="3376696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Algorithm Comparison — All Anomaly Detection Methods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14. Algorithm Comparison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Head-to-Head Summary: Statistical → ML → Deep Learning Approaches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07899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Method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3118104" y="1014984"/>
            <a:ext cx="58521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Type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3703320" y="1014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TPR (Net)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4251960" y="1014984"/>
            <a:ext cx="53035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FPR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4782312" y="1014984"/>
            <a:ext cx="53035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AUROC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5312664" y="1014984"/>
            <a:ext cx="45720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Train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5769864" y="1014984"/>
            <a:ext cx="49377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Infer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6227064" y="1014984"/>
            <a:ext cx="493776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Scalable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1014984"/>
            <a:ext cx="234086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Explainable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039112" y="1234440"/>
            <a:ext cx="6986016" cy="329184"/>
          </a:xfrm>
          <a:prstGeom prst="rect">
            <a:avLst/>
          </a:prstGeom>
          <a:solidFill>
            <a:srgbClr val="FFEFE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039112" y="1234440"/>
            <a:ext cx="107899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Z-score / IQR</a:t>
            </a:r>
            <a:endParaRPr lang="en-US" sz="760" dirty="0"/>
          </a:p>
        </p:txBody>
      </p:sp>
      <p:sp>
        <p:nvSpPr>
          <p:cNvPr id="43" name="Text 41"/>
          <p:cNvSpPr txBox="1"/>
          <p:nvPr/>
        </p:nvSpPr>
        <p:spPr>
          <a:xfrm>
            <a:off x="3118104" y="1234440"/>
            <a:ext cx="58521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Statistical</a:t>
            </a:r>
            <a:endParaRPr lang="en-US" sz="760" dirty="0"/>
          </a:p>
        </p:txBody>
      </p:sp>
      <p:sp>
        <p:nvSpPr>
          <p:cNvPr id="44" name="Text 42"/>
          <p:cNvSpPr txBox="1"/>
          <p:nvPr/>
        </p:nvSpPr>
        <p:spPr>
          <a:xfrm>
            <a:off x="3703320" y="1234440"/>
            <a:ext cx="54864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58-62%</a:t>
            </a:r>
            <a:endParaRPr lang="en-US" sz="760" dirty="0"/>
          </a:p>
        </p:txBody>
      </p:sp>
      <p:sp>
        <p:nvSpPr>
          <p:cNvPr id="45" name="Text 43"/>
          <p:cNvSpPr txBox="1"/>
          <p:nvPr/>
        </p:nvSpPr>
        <p:spPr>
          <a:xfrm>
            <a:off x="4251960" y="1234440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2.4-2.8%</a:t>
            </a:r>
            <a:endParaRPr lang="en-US" sz="760" dirty="0"/>
          </a:p>
        </p:txBody>
      </p:sp>
      <p:sp>
        <p:nvSpPr>
          <p:cNvPr id="46" name="Text 44"/>
          <p:cNvSpPr txBox="1"/>
          <p:nvPr/>
        </p:nvSpPr>
        <p:spPr>
          <a:xfrm>
            <a:off x="4782312" y="1234440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0.83</a:t>
            </a:r>
            <a:endParaRPr lang="en-US" sz="760" dirty="0"/>
          </a:p>
        </p:txBody>
      </p:sp>
      <p:sp>
        <p:nvSpPr>
          <p:cNvPr id="47" name="Text 45"/>
          <p:cNvSpPr txBox="1"/>
          <p:nvPr/>
        </p:nvSpPr>
        <p:spPr>
          <a:xfrm>
            <a:off x="5312664" y="1234440"/>
            <a:ext cx="45720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0.1s</a:t>
            </a:r>
            <a:endParaRPr lang="en-US" sz="760" dirty="0"/>
          </a:p>
        </p:txBody>
      </p:sp>
      <p:sp>
        <p:nvSpPr>
          <p:cNvPr id="48" name="Text 46"/>
          <p:cNvSpPr txBox="1"/>
          <p:nvPr/>
        </p:nvSpPr>
        <p:spPr>
          <a:xfrm>
            <a:off x="5769864" y="1234440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&lt;0.01ms</a:t>
            </a:r>
            <a:endParaRPr lang="en-US" sz="760" dirty="0"/>
          </a:p>
        </p:txBody>
      </p:sp>
      <p:sp>
        <p:nvSpPr>
          <p:cNvPr id="49" name="Text 47"/>
          <p:cNvSpPr txBox="1"/>
          <p:nvPr/>
        </p:nvSpPr>
        <p:spPr>
          <a:xfrm>
            <a:off x="6227064" y="1234440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✓</a:t>
            </a:r>
            <a:endParaRPr lang="en-US" sz="760" dirty="0"/>
          </a:p>
        </p:txBody>
      </p:sp>
      <p:sp>
        <p:nvSpPr>
          <p:cNvPr id="50" name="Text 48"/>
          <p:cNvSpPr txBox="1"/>
          <p:nvPr/>
        </p:nvSpPr>
        <p:spPr>
          <a:xfrm>
            <a:off x="6720840" y="1234440"/>
            <a:ext cx="2340864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✓ (intuitive)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2039112" y="1563624"/>
            <a:ext cx="6986016" cy="329184"/>
          </a:xfrm>
          <a:prstGeom prst="rect">
            <a:avLst/>
          </a:prstGeom>
          <a:solidFill>
            <a:srgbClr val="FFF5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2039112" y="1563624"/>
            <a:ext cx="107899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Mahalanobis Distance</a:t>
            </a:r>
            <a:endParaRPr lang="en-US" sz="760" dirty="0"/>
          </a:p>
        </p:txBody>
      </p:sp>
      <p:sp>
        <p:nvSpPr>
          <p:cNvPr id="53" name="Text 51"/>
          <p:cNvSpPr txBox="1"/>
          <p:nvPr/>
        </p:nvSpPr>
        <p:spPr>
          <a:xfrm>
            <a:off x="3118104" y="1563624"/>
            <a:ext cx="58521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Statistical</a:t>
            </a:r>
            <a:endParaRPr lang="en-US" sz="760" dirty="0"/>
          </a:p>
        </p:txBody>
      </p:sp>
      <p:sp>
        <p:nvSpPr>
          <p:cNvPr id="54" name="Text 52"/>
          <p:cNvSpPr txBox="1"/>
          <p:nvPr/>
        </p:nvSpPr>
        <p:spPr>
          <a:xfrm>
            <a:off x="3703320" y="1563624"/>
            <a:ext cx="54864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72.1%</a:t>
            </a:r>
            <a:endParaRPr lang="en-US" sz="760" dirty="0"/>
          </a:p>
        </p:txBody>
      </p:sp>
      <p:sp>
        <p:nvSpPr>
          <p:cNvPr id="55" name="Text 53"/>
          <p:cNvSpPr txBox="1"/>
          <p:nvPr/>
        </p:nvSpPr>
        <p:spPr>
          <a:xfrm>
            <a:off x="4251960" y="1563624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1.8%</a:t>
            </a:r>
            <a:endParaRPr lang="en-US" sz="760" dirty="0"/>
          </a:p>
        </p:txBody>
      </p:sp>
      <p:sp>
        <p:nvSpPr>
          <p:cNvPr id="56" name="Text 54"/>
          <p:cNvSpPr txBox="1"/>
          <p:nvPr/>
        </p:nvSpPr>
        <p:spPr>
          <a:xfrm>
            <a:off x="4782312" y="1563624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0.912</a:t>
            </a:r>
            <a:endParaRPr lang="en-US" sz="760" dirty="0"/>
          </a:p>
        </p:txBody>
      </p:sp>
      <p:sp>
        <p:nvSpPr>
          <p:cNvPr id="57" name="Text 55"/>
          <p:cNvSpPr txBox="1"/>
          <p:nvPr/>
        </p:nvSpPr>
        <p:spPr>
          <a:xfrm>
            <a:off x="5312664" y="1563624"/>
            <a:ext cx="45720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2.4s</a:t>
            </a:r>
            <a:endParaRPr lang="en-US" sz="760" dirty="0"/>
          </a:p>
        </p:txBody>
      </p:sp>
      <p:sp>
        <p:nvSpPr>
          <p:cNvPr id="58" name="Text 56"/>
          <p:cNvSpPr txBox="1"/>
          <p:nvPr/>
        </p:nvSpPr>
        <p:spPr>
          <a:xfrm>
            <a:off x="5769864" y="1563624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0.03ms</a:t>
            </a:r>
            <a:endParaRPr lang="en-US" sz="760" dirty="0"/>
          </a:p>
        </p:txBody>
      </p:sp>
      <p:sp>
        <p:nvSpPr>
          <p:cNvPr id="59" name="Text 57"/>
          <p:cNvSpPr txBox="1"/>
          <p:nvPr/>
        </p:nvSpPr>
        <p:spPr>
          <a:xfrm>
            <a:off x="6227064" y="1563624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✓*</a:t>
            </a:r>
            <a:endParaRPr lang="en-US" sz="760" dirty="0"/>
          </a:p>
        </p:txBody>
      </p:sp>
      <p:sp>
        <p:nvSpPr>
          <p:cNvPr id="60" name="Text 58"/>
          <p:cNvSpPr txBox="1"/>
          <p:nvPr/>
        </p:nvSpPr>
        <p:spPr>
          <a:xfrm>
            <a:off x="6720840" y="1563624"/>
            <a:ext cx="2340864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✓ (distance)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2039112" y="1892808"/>
            <a:ext cx="6986016" cy="329184"/>
          </a:xfrm>
          <a:prstGeom prst="rect">
            <a:avLst/>
          </a:prstGeom>
          <a:solidFill>
            <a:srgbClr val="E8F8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2039112" y="1892808"/>
            <a:ext cx="107899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Isolation Forest</a:t>
            </a:r>
            <a:endParaRPr lang="en-US" sz="760" dirty="0"/>
          </a:p>
        </p:txBody>
      </p:sp>
      <p:sp>
        <p:nvSpPr>
          <p:cNvPr id="63" name="Text 61"/>
          <p:cNvSpPr txBox="1"/>
          <p:nvPr/>
        </p:nvSpPr>
        <p:spPr>
          <a:xfrm>
            <a:off x="3118104" y="1892808"/>
            <a:ext cx="58521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Ensemble</a:t>
            </a:r>
            <a:endParaRPr lang="en-US" sz="760" dirty="0"/>
          </a:p>
        </p:txBody>
      </p:sp>
      <p:sp>
        <p:nvSpPr>
          <p:cNvPr id="64" name="Text 62"/>
          <p:cNvSpPr txBox="1"/>
          <p:nvPr/>
        </p:nvSpPr>
        <p:spPr>
          <a:xfrm>
            <a:off x="3703320" y="1892808"/>
            <a:ext cx="54864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91.4%</a:t>
            </a:r>
            <a:endParaRPr lang="en-US" sz="760" dirty="0"/>
          </a:p>
        </p:txBody>
      </p:sp>
      <p:sp>
        <p:nvSpPr>
          <p:cNvPr id="65" name="Text 63"/>
          <p:cNvSpPr txBox="1"/>
          <p:nvPr/>
        </p:nvSpPr>
        <p:spPr>
          <a:xfrm>
            <a:off x="4251960" y="1892808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1.1%</a:t>
            </a:r>
            <a:endParaRPr lang="en-US" sz="760" dirty="0"/>
          </a:p>
        </p:txBody>
      </p:sp>
      <p:sp>
        <p:nvSpPr>
          <p:cNvPr id="66" name="Text 64"/>
          <p:cNvSpPr txBox="1"/>
          <p:nvPr/>
        </p:nvSpPr>
        <p:spPr>
          <a:xfrm>
            <a:off x="4782312" y="1892808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0.976</a:t>
            </a:r>
            <a:endParaRPr lang="en-US" sz="760" dirty="0"/>
          </a:p>
        </p:txBody>
      </p:sp>
      <p:sp>
        <p:nvSpPr>
          <p:cNvPr id="67" name="Text 65"/>
          <p:cNvSpPr txBox="1"/>
          <p:nvPr/>
        </p:nvSpPr>
        <p:spPr>
          <a:xfrm>
            <a:off x="5312664" y="1892808"/>
            <a:ext cx="45720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0.4s</a:t>
            </a:r>
            <a:endParaRPr lang="en-US" sz="760" dirty="0"/>
          </a:p>
        </p:txBody>
      </p:sp>
      <p:sp>
        <p:nvSpPr>
          <p:cNvPr id="68" name="Text 66"/>
          <p:cNvSpPr txBox="1"/>
          <p:nvPr/>
        </p:nvSpPr>
        <p:spPr>
          <a:xfrm>
            <a:off x="5769864" y="1892808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0.002ms</a:t>
            </a:r>
            <a:endParaRPr lang="en-US" sz="760" dirty="0"/>
          </a:p>
        </p:txBody>
      </p:sp>
      <p:sp>
        <p:nvSpPr>
          <p:cNvPr id="69" name="Text 67"/>
          <p:cNvSpPr txBox="1"/>
          <p:nvPr/>
        </p:nvSpPr>
        <p:spPr>
          <a:xfrm>
            <a:off x="6227064" y="1892808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✓✓</a:t>
            </a:r>
            <a:endParaRPr lang="en-US" sz="760" dirty="0"/>
          </a:p>
        </p:txBody>
      </p:sp>
      <p:sp>
        <p:nvSpPr>
          <p:cNvPr id="70" name="Text 68"/>
          <p:cNvSpPr txBox="1"/>
          <p:nvPr/>
        </p:nvSpPr>
        <p:spPr>
          <a:xfrm>
            <a:off x="6720840" y="1892808"/>
            <a:ext cx="2340864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Partial (path)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2039112" y="2221992"/>
            <a:ext cx="6986016" cy="329184"/>
          </a:xfrm>
          <a:prstGeom prst="rect">
            <a:avLst/>
          </a:prstGeom>
          <a:solidFill>
            <a:srgbClr val="FFF5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2" name="Text 70"/>
          <p:cNvSpPr txBox="1"/>
          <p:nvPr/>
        </p:nvSpPr>
        <p:spPr>
          <a:xfrm>
            <a:off x="2039112" y="2221992"/>
            <a:ext cx="107899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One-Class SVM (RBF)</a:t>
            </a:r>
            <a:endParaRPr lang="en-US" sz="760" dirty="0"/>
          </a:p>
        </p:txBody>
      </p:sp>
      <p:sp>
        <p:nvSpPr>
          <p:cNvPr id="73" name="Text 71"/>
          <p:cNvSpPr txBox="1"/>
          <p:nvPr/>
        </p:nvSpPr>
        <p:spPr>
          <a:xfrm>
            <a:off x="3118104" y="2221992"/>
            <a:ext cx="58521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Kernel ML</a:t>
            </a:r>
            <a:endParaRPr lang="en-US" sz="760" dirty="0"/>
          </a:p>
        </p:txBody>
      </p:sp>
      <p:sp>
        <p:nvSpPr>
          <p:cNvPr id="74" name="Text 72"/>
          <p:cNvSpPr txBox="1"/>
          <p:nvPr/>
        </p:nvSpPr>
        <p:spPr>
          <a:xfrm>
            <a:off x="3703320" y="2221992"/>
            <a:ext cx="54864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89.7%</a:t>
            </a:r>
            <a:endParaRPr lang="en-US" sz="760" dirty="0"/>
          </a:p>
        </p:txBody>
      </p:sp>
      <p:sp>
        <p:nvSpPr>
          <p:cNvPr id="75" name="Text 73"/>
          <p:cNvSpPr txBox="1"/>
          <p:nvPr/>
        </p:nvSpPr>
        <p:spPr>
          <a:xfrm>
            <a:off x="4251960" y="2221992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0.9%</a:t>
            </a:r>
            <a:endParaRPr lang="en-US" sz="760" dirty="0"/>
          </a:p>
        </p:txBody>
      </p:sp>
      <p:sp>
        <p:nvSpPr>
          <p:cNvPr id="76" name="Text 74"/>
          <p:cNvSpPr txBox="1"/>
          <p:nvPr/>
        </p:nvSpPr>
        <p:spPr>
          <a:xfrm>
            <a:off x="4782312" y="2221992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0.971</a:t>
            </a:r>
            <a:endParaRPr lang="en-US" sz="760" dirty="0"/>
          </a:p>
        </p:txBody>
      </p:sp>
      <p:sp>
        <p:nvSpPr>
          <p:cNvPr id="77" name="Text 75"/>
          <p:cNvSpPr txBox="1"/>
          <p:nvPr/>
        </p:nvSpPr>
        <p:spPr>
          <a:xfrm>
            <a:off x="5312664" y="2221992"/>
            <a:ext cx="45720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38s*</a:t>
            </a:r>
            <a:endParaRPr lang="en-US" sz="760" dirty="0"/>
          </a:p>
        </p:txBody>
      </p:sp>
      <p:sp>
        <p:nvSpPr>
          <p:cNvPr id="78" name="Text 76"/>
          <p:cNvSpPr txBox="1"/>
          <p:nvPr/>
        </p:nvSpPr>
        <p:spPr>
          <a:xfrm>
            <a:off x="5769864" y="2221992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4.2ms</a:t>
            </a:r>
            <a:endParaRPr lang="en-US" sz="760" dirty="0"/>
          </a:p>
        </p:txBody>
      </p:sp>
      <p:sp>
        <p:nvSpPr>
          <p:cNvPr id="79" name="Text 77"/>
          <p:cNvSpPr txBox="1"/>
          <p:nvPr/>
        </p:nvSpPr>
        <p:spPr>
          <a:xfrm>
            <a:off x="6227064" y="2221992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✗*</a:t>
            </a:r>
            <a:endParaRPr lang="en-US" sz="760" dirty="0"/>
          </a:p>
        </p:txBody>
      </p:sp>
      <p:sp>
        <p:nvSpPr>
          <p:cNvPr id="80" name="Text 78"/>
          <p:cNvSpPr txBox="1"/>
          <p:nvPr/>
        </p:nvSpPr>
        <p:spPr>
          <a:xfrm>
            <a:off x="6720840" y="2221992"/>
            <a:ext cx="2340864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Limited (SV)</a:t>
            </a:r>
            <a:endParaRPr lang="en-US" sz="760" dirty="0"/>
          </a:p>
        </p:txBody>
      </p:sp>
      <p:sp>
        <p:nvSpPr>
          <p:cNvPr id="81" name="Shape 79"/>
          <p:cNvSpPr/>
          <p:nvPr/>
        </p:nvSpPr>
        <p:spPr>
          <a:xfrm>
            <a:off x="2039112" y="2551176"/>
            <a:ext cx="6986016" cy="329184"/>
          </a:xfrm>
          <a:prstGeom prst="rect">
            <a:avLst/>
          </a:prstGeom>
          <a:solidFill>
            <a:srgbClr val="E0F4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2" name="Text 80"/>
          <p:cNvSpPr txBox="1"/>
          <p:nvPr/>
        </p:nvSpPr>
        <p:spPr>
          <a:xfrm>
            <a:off x="2039112" y="2551176"/>
            <a:ext cx="107899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Autoencoder (Dense)</a:t>
            </a:r>
            <a:endParaRPr lang="en-US" sz="760" dirty="0"/>
          </a:p>
        </p:txBody>
      </p:sp>
      <p:sp>
        <p:nvSpPr>
          <p:cNvPr id="83" name="Text 81"/>
          <p:cNvSpPr txBox="1"/>
          <p:nvPr/>
        </p:nvSpPr>
        <p:spPr>
          <a:xfrm>
            <a:off x="3118104" y="2551176"/>
            <a:ext cx="58521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Deep Learn.</a:t>
            </a:r>
            <a:endParaRPr lang="en-US" sz="760" dirty="0"/>
          </a:p>
        </p:txBody>
      </p:sp>
      <p:sp>
        <p:nvSpPr>
          <p:cNvPr id="84" name="Text 82"/>
          <p:cNvSpPr txBox="1"/>
          <p:nvPr/>
        </p:nvSpPr>
        <p:spPr>
          <a:xfrm>
            <a:off x="3703320" y="2551176"/>
            <a:ext cx="54864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95.8%</a:t>
            </a:r>
            <a:endParaRPr lang="en-US" sz="760" dirty="0"/>
          </a:p>
        </p:txBody>
      </p:sp>
      <p:sp>
        <p:nvSpPr>
          <p:cNvPr id="85" name="Text 83"/>
          <p:cNvSpPr txBox="1"/>
          <p:nvPr/>
        </p:nvSpPr>
        <p:spPr>
          <a:xfrm>
            <a:off x="4251960" y="2551176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0.6%</a:t>
            </a:r>
            <a:endParaRPr lang="en-US" sz="760" dirty="0"/>
          </a:p>
        </p:txBody>
      </p:sp>
      <p:sp>
        <p:nvSpPr>
          <p:cNvPr id="86" name="Text 84"/>
          <p:cNvSpPr txBox="1"/>
          <p:nvPr/>
        </p:nvSpPr>
        <p:spPr>
          <a:xfrm>
            <a:off x="4782312" y="2551176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0.988</a:t>
            </a:r>
            <a:endParaRPr lang="en-US" sz="760" dirty="0"/>
          </a:p>
        </p:txBody>
      </p:sp>
      <p:sp>
        <p:nvSpPr>
          <p:cNvPr id="87" name="Text 85"/>
          <p:cNvSpPr txBox="1"/>
          <p:nvPr/>
        </p:nvSpPr>
        <p:spPr>
          <a:xfrm>
            <a:off x="5312664" y="2551176"/>
            <a:ext cx="45720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12.8s</a:t>
            </a:r>
            <a:endParaRPr lang="en-US" sz="760" dirty="0"/>
          </a:p>
        </p:txBody>
      </p:sp>
      <p:sp>
        <p:nvSpPr>
          <p:cNvPr id="88" name="Text 86"/>
          <p:cNvSpPr txBox="1"/>
          <p:nvPr/>
        </p:nvSpPr>
        <p:spPr>
          <a:xfrm>
            <a:off x="5769864" y="2551176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0.04ms</a:t>
            </a:r>
            <a:endParaRPr lang="en-US" sz="760" dirty="0"/>
          </a:p>
        </p:txBody>
      </p:sp>
      <p:sp>
        <p:nvSpPr>
          <p:cNvPr id="89" name="Text 87"/>
          <p:cNvSpPr txBox="1"/>
          <p:nvPr/>
        </p:nvSpPr>
        <p:spPr>
          <a:xfrm>
            <a:off x="6227064" y="2551176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✓</a:t>
            </a:r>
            <a:endParaRPr lang="en-US" sz="760" dirty="0"/>
          </a:p>
        </p:txBody>
      </p:sp>
      <p:sp>
        <p:nvSpPr>
          <p:cNvPr id="90" name="Text 88"/>
          <p:cNvSpPr txBox="1"/>
          <p:nvPr/>
        </p:nvSpPr>
        <p:spPr>
          <a:xfrm>
            <a:off x="6720840" y="2551176"/>
            <a:ext cx="2340864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Limited (RE)</a:t>
            </a:r>
            <a:endParaRPr lang="en-US" sz="760" dirty="0"/>
          </a:p>
        </p:txBody>
      </p:sp>
      <p:sp>
        <p:nvSpPr>
          <p:cNvPr id="91" name="Shape 89"/>
          <p:cNvSpPr/>
          <p:nvPr/>
        </p:nvSpPr>
        <p:spPr>
          <a:xfrm>
            <a:off x="2039112" y="2880360"/>
            <a:ext cx="6986016" cy="329184"/>
          </a:xfrm>
          <a:prstGeom prst="rect">
            <a:avLst/>
          </a:prstGeom>
          <a:solidFill>
            <a:srgbClr val="E0F4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Text 90"/>
          <p:cNvSpPr txBox="1"/>
          <p:nvPr/>
        </p:nvSpPr>
        <p:spPr>
          <a:xfrm>
            <a:off x="2039112" y="2880360"/>
            <a:ext cx="107899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LSTM Autoencoder</a:t>
            </a:r>
            <a:endParaRPr lang="en-US" sz="760" dirty="0"/>
          </a:p>
        </p:txBody>
      </p:sp>
      <p:sp>
        <p:nvSpPr>
          <p:cNvPr id="93" name="Text 91"/>
          <p:cNvSpPr txBox="1"/>
          <p:nvPr/>
        </p:nvSpPr>
        <p:spPr>
          <a:xfrm>
            <a:off x="3118104" y="2880360"/>
            <a:ext cx="58521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Deep Learn.</a:t>
            </a:r>
            <a:endParaRPr lang="en-US" sz="760" dirty="0"/>
          </a:p>
        </p:txBody>
      </p:sp>
      <p:sp>
        <p:nvSpPr>
          <p:cNvPr id="94" name="Text 92"/>
          <p:cNvSpPr txBox="1"/>
          <p:nvPr/>
        </p:nvSpPr>
        <p:spPr>
          <a:xfrm>
            <a:off x="3703320" y="2880360"/>
            <a:ext cx="54864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86.7%†</a:t>
            </a:r>
            <a:endParaRPr lang="en-US" sz="760" dirty="0"/>
          </a:p>
        </p:txBody>
      </p:sp>
      <p:sp>
        <p:nvSpPr>
          <p:cNvPr id="95" name="Text 93"/>
          <p:cNvSpPr txBox="1"/>
          <p:nvPr/>
        </p:nvSpPr>
        <p:spPr>
          <a:xfrm>
            <a:off x="4251960" y="2880360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0.6%</a:t>
            </a:r>
            <a:endParaRPr lang="en-US" sz="760" dirty="0"/>
          </a:p>
        </p:txBody>
      </p:sp>
      <p:sp>
        <p:nvSpPr>
          <p:cNvPr id="96" name="Text 94"/>
          <p:cNvSpPr txBox="1"/>
          <p:nvPr/>
        </p:nvSpPr>
        <p:spPr>
          <a:xfrm>
            <a:off x="4782312" y="2880360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0.967†</a:t>
            </a:r>
            <a:endParaRPr lang="en-US" sz="760" dirty="0"/>
          </a:p>
        </p:txBody>
      </p:sp>
      <p:sp>
        <p:nvSpPr>
          <p:cNvPr id="97" name="Text 95"/>
          <p:cNvSpPr txBox="1"/>
          <p:nvPr/>
        </p:nvSpPr>
        <p:spPr>
          <a:xfrm>
            <a:off x="5312664" y="2880360"/>
            <a:ext cx="45720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48s</a:t>
            </a:r>
            <a:endParaRPr lang="en-US" sz="760" dirty="0"/>
          </a:p>
        </p:txBody>
      </p:sp>
      <p:sp>
        <p:nvSpPr>
          <p:cNvPr id="98" name="Text 96"/>
          <p:cNvSpPr txBox="1"/>
          <p:nvPr/>
        </p:nvSpPr>
        <p:spPr>
          <a:xfrm>
            <a:off x="5769864" y="2880360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0.8ms</a:t>
            </a:r>
            <a:endParaRPr lang="en-US" sz="760" dirty="0"/>
          </a:p>
        </p:txBody>
      </p:sp>
      <p:sp>
        <p:nvSpPr>
          <p:cNvPr id="99" name="Text 97"/>
          <p:cNvSpPr txBox="1"/>
          <p:nvPr/>
        </p:nvSpPr>
        <p:spPr>
          <a:xfrm>
            <a:off x="6227064" y="2880360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✓</a:t>
            </a:r>
            <a:endParaRPr lang="en-US" sz="760" dirty="0"/>
          </a:p>
        </p:txBody>
      </p:sp>
      <p:sp>
        <p:nvSpPr>
          <p:cNvPr id="100" name="Text 98"/>
          <p:cNvSpPr txBox="1"/>
          <p:nvPr/>
        </p:nvSpPr>
        <p:spPr>
          <a:xfrm>
            <a:off x="6720840" y="2880360"/>
            <a:ext cx="2340864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Limited (RE)</a:t>
            </a:r>
            <a:endParaRPr lang="en-US" sz="760" dirty="0"/>
          </a:p>
        </p:txBody>
      </p:sp>
      <p:sp>
        <p:nvSpPr>
          <p:cNvPr id="101" name="Shape 99"/>
          <p:cNvSpPr/>
          <p:nvPr/>
        </p:nvSpPr>
        <p:spPr>
          <a:xfrm>
            <a:off x="2039112" y="3209544"/>
            <a:ext cx="6986016" cy="329184"/>
          </a:xfrm>
          <a:prstGeom prst="rect">
            <a:avLst/>
          </a:prstGeom>
          <a:solidFill>
            <a:srgbClr val="F5F5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2" name="Text 100"/>
          <p:cNvSpPr txBox="1"/>
          <p:nvPr/>
        </p:nvSpPr>
        <p:spPr>
          <a:xfrm>
            <a:off x="2039112" y="3209544"/>
            <a:ext cx="107899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Graph AE (GAE)</a:t>
            </a:r>
            <a:endParaRPr lang="en-US" sz="760" dirty="0"/>
          </a:p>
        </p:txBody>
      </p:sp>
      <p:sp>
        <p:nvSpPr>
          <p:cNvPr id="103" name="Text 101"/>
          <p:cNvSpPr txBox="1"/>
          <p:nvPr/>
        </p:nvSpPr>
        <p:spPr>
          <a:xfrm>
            <a:off x="3118104" y="3209544"/>
            <a:ext cx="58521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Graph ML</a:t>
            </a:r>
            <a:endParaRPr lang="en-US" sz="760" dirty="0"/>
          </a:p>
        </p:txBody>
      </p:sp>
      <p:sp>
        <p:nvSpPr>
          <p:cNvPr id="104" name="Text 102"/>
          <p:cNvSpPr txBox="1"/>
          <p:nvPr/>
        </p:nvSpPr>
        <p:spPr>
          <a:xfrm>
            <a:off x="3703320" y="3209544"/>
            <a:ext cx="54864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88%†</a:t>
            </a:r>
            <a:endParaRPr lang="en-US" sz="760" dirty="0"/>
          </a:p>
        </p:txBody>
      </p:sp>
      <p:sp>
        <p:nvSpPr>
          <p:cNvPr id="105" name="Text 103"/>
          <p:cNvSpPr txBox="1"/>
          <p:nvPr/>
        </p:nvSpPr>
        <p:spPr>
          <a:xfrm>
            <a:off x="4251960" y="3209544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0.04%</a:t>
            </a:r>
            <a:endParaRPr lang="en-US" sz="760" dirty="0"/>
          </a:p>
        </p:txBody>
      </p:sp>
      <p:sp>
        <p:nvSpPr>
          <p:cNvPr id="106" name="Text 104"/>
          <p:cNvSpPr txBox="1"/>
          <p:nvPr/>
        </p:nvSpPr>
        <p:spPr>
          <a:xfrm>
            <a:off x="4782312" y="3209544"/>
            <a:ext cx="530352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0.981†</a:t>
            </a:r>
            <a:endParaRPr lang="en-US" sz="760" dirty="0"/>
          </a:p>
        </p:txBody>
      </p:sp>
      <p:sp>
        <p:nvSpPr>
          <p:cNvPr id="107" name="Text 105"/>
          <p:cNvSpPr txBox="1"/>
          <p:nvPr/>
        </p:nvSpPr>
        <p:spPr>
          <a:xfrm>
            <a:off x="5312664" y="3209544"/>
            <a:ext cx="457200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variab.</a:t>
            </a:r>
            <a:endParaRPr lang="en-US" sz="760" dirty="0"/>
          </a:p>
        </p:txBody>
      </p:sp>
      <p:sp>
        <p:nvSpPr>
          <p:cNvPr id="108" name="Text 106"/>
          <p:cNvSpPr txBox="1"/>
          <p:nvPr/>
        </p:nvSpPr>
        <p:spPr>
          <a:xfrm>
            <a:off x="5769864" y="3209544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variab.</a:t>
            </a:r>
            <a:endParaRPr lang="en-US" sz="760" dirty="0"/>
          </a:p>
        </p:txBody>
      </p:sp>
      <p:sp>
        <p:nvSpPr>
          <p:cNvPr id="109" name="Text 107"/>
          <p:cNvSpPr txBox="1"/>
          <p:nvPr/>
        </p:nvSpPr>
        <p:spPr>
          <a:xfrm>
            <a:off x="6227064" y="3209544"/>
            <a:ext cx="493776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✓</a:t>
            </a:r>
            <a:endParaRPr lang="en-US" sz="760" dirty="0"/>
          </a:p>
        </p:txBody>
      </p:sp>
      <p:sp>
        <p:nvSpPr>
          <p:cNvPr id="110" name="Text 108"/>
          <p:cNvSpPr txBox="1"/>
          <p:nvPr/>
        </p:nvSpPr>
        <p:spPr>
          <a:xfrm>
            <a:off x="6720840" y="3209544"/>
            <a:ext cx="2340864" cy="32918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52744"/>
                </a:solidFill>
              </a:rPr>
              <a:t>Partial</a:t>
            </a:r>
            <a:endParaRPr lang="en-US" sz="760" dirty="0"/>
          </a:p>
        </p:txBody>
      </p:sp>
      <p:sp>
        <p:nvSpPr>
          <p:cNvPr id="111" name="Text 109"/>
          <p:cNvSpPr txBox="1"/>
          <p:nvPr/>
        </p:nvSpPr>
        <p:spPr>
          <a:xfrm>
            <a:off x="2039112" y="3630168"/>
            <a:ext cx="6986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A7A8A"/>
                </a:solidFill>
              </a:rPr>
              <a:t>* requires sub-sampling for N&gt;50K  † Case B insider/C2 metrics  ✓✓ = highly scalable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2039112" y="3867912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3" name="Text 111"/>
          <p:cNvSpPr txBox="1"/>
          <p:nvPr/>
        </p:nvSpPr>
        <p:spPr>
          <a:xfrm>
            <a:off x="2103120" y="392277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🏆 CLEAR WINNER: Autoencoder (TPR=95.8%, FPR=0.6%, AUROC=0.988). ⚡ SPEED WINNER: Isolation Forest (0.002ms/packet — enables 1M packet/sec screening). 🎖 RECOMMENDED: 3-TIER DEPLOYMENT: IF tier-1 (real-time) → AE tier-2 (deep scan) → Analyst tier-3 (confirmation + knowledge update).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039112" y="4407408"/>
            <a:ext cx="6986016" cy="402336"/>
          </a:xfrm>
          <a:prstGeom prst="rect">
            <a:avLst/>
          </a:prstGeom>
          <a:solidFill>
            <a:srgbClr val="FFF0F0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5" name="Text 113"/>
          <p:cNvSpPr txBox="1"/>
          <p:nvPr/>
        </p:nvSpPr>
        <p:spPr>
          <a:xfrm>
            <a:off x="2103120" y="446227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⚠ EXPLAINABILITY GAP: Autoencoders provide reconstruction error but not "WHY is this anomalous?". For defence ROE compliance, supplement with SHAP values on the reconstruction error vector — which features drove the high RE? This provides analyst-readable justification.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5 Summary — Anomaly Detection for Defence Cybersecurity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15. Summary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Key Takeaways: 5 Anomaly Detection Methods + Cybersecurity Applications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455164" cy="25603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Z-score &amp;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Mahalanobis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39112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</a:rPr>
              <a:t/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567428" y="1014984"/>
            <a:ext cx="2455164" cy="256032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622292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Isolation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Forest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67428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631436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Path-length anomaly score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O(1) inference: 0.002ms!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Zero-day detection (no labels)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⚡ Real-time tier-1 screening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039112" y="2258568"/>
            <a:ext cx="2455164" cy="256032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93976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One-Class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SVM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Tight hyperplane around normal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ν controls FPR target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RBF kernel: non-linear boundary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Medium datasets with label-free training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567428" y="2258568"/>
            <a:ext cx="2455164" cy="256032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4622292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Autoencoder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(Dense/LSTM)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567428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4631436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Reconstruction error = anomaly score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🏆 Best: TPR=95.8%, FPR=0.6%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LSTM for sequential behaviour (UBA)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Gold standard for accuracy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2039112" y="3502152"/>
            <a:ext cx="2455164" cy="256032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93976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Graph AE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(C2 / Lateral)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First-time edge → 95.8% LM recall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C2 pattern detection via node RE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DGA entropy: close DGA blind spot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Network graph intelligence products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567428" y="3502152"/>
            <a:ext cx="2455164" cy="256032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4622292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3-Tier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Deployment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567428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4631436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IF screen → AE deep-scan → Analyst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Balances speed + precision + insight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Insider threat: MTTD 31h vs 207 days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Operational architecture best practice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7095744" y="1014984"/>
            <a:ext cx="1892808" cy="371246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7159752" y="1069848"/>
            <a:ext cx="17647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🚀 NEXT: Lecture 6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RL Part 1 — Q-Learning &amp; MDPs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(Deep Dive)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MDP formalism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Bellman equations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Q-Learning convergence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ε-greedy exploration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DQN architecture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Experience replay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Target networks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Case Study: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Wargame tactical agent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Grid battle simulation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100K training episodes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91% win vs novice human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Assignment 5 released.</a:t>
            </a:r>
            <a:endParaRPr lang="en-US" sz="880" dirty="0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1362456"/>
            <a:ext cx="2253996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6 Preview — Reinforcement Learning Part 1: Q-Learning &amp; MDPs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Anomaly vs Clustering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Z-score &amp; IQR Methods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Mahalanobis Distance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Robust PCA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Isolation Forest: Theory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Isolation Forest: Defence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One-Class SVM (OCSVM)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OCSVM in Practice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Autoencoders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Autoencoder Anomaly Det.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Network Intrusion Detect.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Lateral Movement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Insider Threat Detection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Algorithm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4" name="Shape 22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5" name="Shape 23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Lecture 6: From Passive Learning to Active Decision-Making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Shape 28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Text 29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LECTURE 6 TOPICS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39112" y="1243584"/>
            <a:ext cx="3438144" cy="322783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Text 31"/>
          <p:cNvSpPr txBox="1"/>
          <p:nvPr/>
        </p:nvSpPr>
        <p:spPr>
          <a:xfrm>
            <a:off x="2112264" y="1271016"/>
            <a:ext cx="32918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RL paradigm vs Supervised/Unsupervised distinction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Markov Decision Process (MDP) formal definition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S, A, P(s'|s,a), R(s,a,s'), γ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Bellman Optimality Equations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V*(s), Q*(s,a) — derivation from scratch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Q-Learning algorithm &amp; convergence proof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TD update, ε-greedy exploration,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contraction mapping theorem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Deep Q-Network (DQN)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Neural network as Q-table replacement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Experience replay buffer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Target network (fixed Q-targets)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Double DQN &amp; Dueling DQN improvements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Reward shaping for defence applications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 Sparse reward problem + shaping techniques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📌 Curriculum learning: simple → complex scenarios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5" name="Text 33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PREVIEW NUMBERS (Lecture 6)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86984" y="1243584"/>
            <a:ext cx="3438144" cy="3227832"/>
          </a:xfrm>
          <a:prstGeom prst="rect">
            <a:avLst/>
          </a:prstGeom>
          <a:solidFill>
            <a:srgbClr val="FFF5F5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7" name="Text 35"/>
          <p:cNvSpPr txBox="1"/>
          <p:nvPr/>
        </p:nvSpPr>
        <p:spPr>
          <a:xfrm>
            <a:off x="5660136" y="1271016"/>
            <a:ext cx="32918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Case Study: Wargame Tactical 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Environment: 20×20 hex grid JANUS 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State space: ~10^28 (intractable Q-table!)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Actions: {Move N/S/E/W, Attack, Defend, Resupply}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Reward: +10 objective, +5 kill, -8 unit lost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Q-Learning (tabular, simplified 10×10 grid):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States: 10^6,  Actions: 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Convergence: 50,000 episodes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Win vs random: 91% (k=50K)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DQN (full 20×20 grid):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Network: 3-layer, 512 units/layer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Replay buffer: 100,000 transitions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Target update: every 1,000 steps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Training: 100K episodes, 48 hrs GPU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Win vs novice human: 81% (emerging)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  Win vs advanced AI (minimax): 54%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Key phenomena: catastrophic forgetting,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exploration collapse, reward sparsity fix.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39112" y="4544568"/>
            <a:ext cx="6986016" cy="38404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2103120" y="45994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📝 Assignment 5 (released with this pack): Isolation Forest path-length calculation + OCSVM ν interpretation + Autoencoder reconstruction-error threshold derivation. Solutions provided.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5: Anomaly Detection &amp; Cybersecurity</dc:title>
  <dc:subject>PptxGenJS Presentation</dc:subject>
  <dc:creator>AK DHAMIJA</dc:creator>
  <cp:lastModifiedBy>AK DHAMIJA</cp:lastModifiedBy>
  <cp:revision>1</cp:revision>
  <dcterms:created xsi:type="dcterms:W3CDTF">2026-09-23T09:09:21Z</dcterms:created>
  <dcterms:modified xsi:type="dcterms:W3CDTF">2026-09-23T09:09:21Z</dcterms:modified>
</cp:coreProperties>
</file>