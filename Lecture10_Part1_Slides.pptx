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Lecture 10: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Presentations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Q&amp;A Panel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040"/>
                </a:solidFill>
              </a:rPr>
              <a:t>Applying AI &amp; ML to a Defence Problem of Your Choosing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7249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</a:rPr>
              <a:t>Structure  ·  Rubric  ·  Project Catalogue  ·  Q&amp;A Panel Guide  ·  Course Conclusion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9A227"/>
                </a:solidFill>
              </a:rPr>
              <a:t>Final Lecture  —  Lectures 1–10 Complete  —  AI &amp; ML in Warfare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10 — Session Structure &amp; Objectives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1. Lecture 10 Overview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How This Session Runs: Presentations, Panel Discussion, and Conclusion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SESSION SCHEDULE (3 Hours)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392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HOUR 1: Student Presentations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Each group: 10-minute presentation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2-minute Q&amp;A from panel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Groups: 4–5 students per project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Presentation slots drawn by lot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EXPECTED: 4–6 project groups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(10+2 mins × 5 groups = 60 min)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HOUR 2: Panel Deep-Dive Q&amp;A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Open floor — any question on any lecture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Panel: Course instructor + 1–2 external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defence AI practitioners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Focus: How your chosen algorithm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would perform in REAL operational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conditions (not simulation)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HOUR 3: Course Conclusion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Capstone project feedback summary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Industry perspectives from panel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Recommended reading &amp; next steps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Career pathways in defence AI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Certificate of completion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WHAT THE PANEL IS LOOKING FOR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392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BEYOND TECHNICAL ACCURACY: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panel wants to see you THINK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like a defence AI practitioner—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not like a textbook.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PROBLEM FRAMING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Did you identify the RIGHT problem?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Classification, clustering, RL, or MARL?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Did you justify your algorithm choice?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HONEST LIMITATIONS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What does your solution NOT handle?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Sim-to-real gap quantified?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Data pitfalls acknowledged?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OPERATIONAL APPLICABILITY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How would this actually deploy?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Level 1, 2, or 3 autonomy?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ROE compliance addressed?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CRITICAL EVALUATION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Would a skeptical senior officer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accept your 94% simulation result?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What evidence would they demand?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⑤ INTEGRATION ACROSS LECTURES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Does your solution reference MORE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than one technique from the course?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Presentation Structure — The Ten-Minute Framework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2. Presentation Structure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 Winning 10-Minute Presentation: Six Sections, One Story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56432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1. Problem Statement (90 sec)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3444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28930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State the SPECIFIC defence problem. Not "I applied ML to defence." Instead: "IADS operators at a forward air base receive 400 radar tracks per hour. Manual classification takes 45 seconds per track. We need an AI classifier that achieves ≥95% accuracy in ≤3ms." Ground the problem in an operational context. Name the threat environment. Quantify the human cost of NOT solving it.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68696" y="1014984"/>
            <a:ext cx="3456432" cy="219456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05272" y="10149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2. Dataset &amp; Data Quality (60 sec)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568696" y="123444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32704" y="128930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What data did you use? N=?, features=?, class distribution? Crucially: what DATA PITFALLS (L1) did you identify and how did you address them? Distribution shift risk? Label noise? Class imbalance? A presentation that never mentions data quality is a red flag to the panel.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39112" y="2203704"/>
            <a:ext cx="3456432" cy="219456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75688" y="22037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3. Algorithm Selection &amp; Justification (90 sec)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42316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47802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Which algorithm did you choose and WHY? Reference the Algorithm Selection Guide (L9). Compare to at least one alternative. "We chose RF over SVM because our 8,500-sample dataset with 11 features favoured RF’s ensemble variance reduction over SVM’s kernel-hyperparameter sensitivity." Numbers from lecture case studies are valid benchmarks to cite.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68696" y="2203704"/>
            <a:ext cx="3456432" cy="21945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5605272" y="22037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4. Results &amp; Validation (120 sec)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568696" y="242316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5632704" y="247802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Your headline metrics: accuracy, AUC, RMSE, win rate—whatever is appropriate. Then: per-class breakdown, confusion matrix, silhouette score, or AUROC curve. Address class imbalance explicitly. One visualisation (chart or table) showing key result vs baseline.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39112" y="3392424"/>
            <a:ext cx="3456432" cy="219456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75688" y="33924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5. Operational Deployment Plan (90 sec)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61188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66674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How would this actually deploy? What autonomy level? What latency? What is the human-AI interface? ROE compliance mechanism? What is the sim-to-real gap estimate and how would you validate before deployment? This section separates projects that are technically competent from those that are operationally mature.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568696" y="3392424"/>
            <a:ext cx="3456432" cy="21945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5605272" y="33924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52744"/>
                </a:solidFill>
              </a:rPr>
              <a:t>6. Limitations &amp; Future Work (30 sec)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5568696" y="3611880"/>
            <a:ext cx="34564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5632704" y="3666744"/>
            <a:ext cx="33284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TWO honest limitations. Not "future work would improve accuracy" — be specific: "Our classifier was trained only on L-band radar signatures. Adversary frequency-agile radars operating in X-band would require retraining with domain-specific data." Panels respect intellectual honesty over false confidence.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Assessment Rubric — How Your Project is Evaluated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4. Assessment Rubric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Project Assessment: Five Criteria, Each Marked Out of 20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3774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Criterion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3502152" y="1014984"/>
            <a:ext cx="411480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Weight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3913632" y="10149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Distinction (18–20)</a:t>
            </a:r>
            <a:endParaRPr lang="en-US" sz="720" dirty="0"/>
          </a:p>
        </p:txBody>
      </p:sp>
      <p:sp>
        <p:nvSpPr>
          <p:cNvPr id="35" name="Text 33"/>
          <p:cNvSpPr txBox="1"/>
          <p:nvPr/>
        </p:nvSpPr>
        <p:spPr>
          <a:xfrm>
            <a:off x="5257800" y="1014984"/>
            <a:ext cx="1133856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Merit (14–17)</a:t>
            </a:r>
            <a:endParaRPr lang="en-US" sz="720" dirty="0"/>
          </a:p>
        </p:txBody>
      </p:sp>
      <p:sp>
        <p:nvSpPr>
          <p:cNvPr id="36" name="Text 34"/>
          <p:cNvSpPr txBox="1"/>
          <p:nvPr/>
        </p:nvSpPr>
        <p:spPr>
          <a:xfrm>
            <a:off x="6391656" y="1014984"/>
            <a:ext cx="950976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Pass (10–13)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7342632" y="1014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Fail (&lt;10)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039112" y="1252728"/>
            <a:ext cx="6986016" cy="658368"/>
          </a:xfrm>
          <a:prstGeom prst="rect">
            <a:avLst/>
          </a:prstGeom>
          <a:solidFill>
            <a:srgbClr val="F8F5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9" name="Text 37"/>
          <p:cNvSpPr txBox="1"/>
          <p:nvPr/>
        </p:nvSpPr>
        <p:spPr>
          <a:xfrm>
            <a:off x="2039112" y="1289304"/>
            <a:ext cx="146304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Problem Definition &amp; Context (20%)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502152" y="1289304"/>
            <a:ext cx="4114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20%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3913632" y="1289304"/>
            <a:ext cx="1344168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7A45"/>
                </a:solidFill>
              </a:rPr>
              <a:t>Precisely quantified, operationally grounded, clear cost of inaction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1289304"/>
            <a:ext cx="113385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Clear problem with most contextual elements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6391656" y="1289304"/>
            <a:ext cx="95097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Problem identified but lacks operational grounding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7342632" y="1289304"/>
            <a:ext cx="17830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Vague or generic problem statement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039112" y="1911096"/>
            <a:ext cx="6986016" cy="658368"/>
          </a:xfrm>
          <a:prstGeom prst="rect">
            <a:avLst/>
          </a:prstGeom>
          <a:solidFill>
            <a:srgbClr val="FFFA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2039112" y="1947672"/>
            <a:ext cx="146304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Algorithm Justification &amp; Depth (25%)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3502152" y="1947672"/>
            <a:ext cx="4114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25%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3913632" y="1947672"/>
            <a:ext cx="1344168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7A45"/>
                </a:solidFill>
              </a:rPr>
              <a:t>Rigorous selection with comparison to 2+ alternatives; references specific course metrics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1947672"/>
            <a:ext cx="113385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Justified selection with one alternative considered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6391656" y="1947672"/>
            <a:ext cx="95097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Algorithm chosen without clear justification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7342632" y="1947672"/>
            <a:ext cx="17830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Algorithm inappropriate for problem type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039112" y="2569464"/>
            <a:ext cx="6986016" cy="658368"/>
          </a:xfrm>
          <a:prstGeom prst="rect">
            <a:avLst/>
          </a:prstGeom>
          <a:solidFill>
            <a:srgbClr val="FFFA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Text 51"/>
          <p:cNvSpPr txBox="1"/>
          <p:nvPr/>
        </p:nvSpPr>
        <p:spPr>
          <a:xfrm>
            <a:off x="2039112" y="2606040"/>
            <a:ext cx="146304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Results &amp; Validation Quality (25%)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3502152" y="2606040"/>
            <a:ext cx="4114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25%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3913632" y="2606040"/>
            <a:ext cx="1344168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7A45"/>
                </a:solidFill>
              </a:rPr>
              <a:t>Beyond accuracy: per-class metrics, CI intervals, validation methodology, baseline comparison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5257800" y="2606040"/>
            <a:ext cx="113385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Multiple metrics reported, some methodology noted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6391656" y="2606040"/>
            <a:ext cx="95097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Primary metric only; limited validation discussion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7342632" y="2606040"/>
            <a:ext cx="17830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Results reported without context or baselines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039112" y="3227832"/>
            <a:ext cx="6986016" cy="658368"/>
          </a:xfrm>
          <a:prstGeom prst="rect">
            <a:avLst/>
          </a:prstGeom>
          <a:solidFill>
            <a:srgbClr val="F8F5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2039112" y="3264408"/>
            <a:ext cx="146304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Operational Applicability (20%)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3502152" y="3264408"/>
            <a:ext cx="4114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20%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3913632" y="3264408"/>
            <a:ext cx="1344168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7A45"/>
                </a:solidFill>
              </a:rPr>
              <a:t>Autonomy level, latency, ROE compliance, sim-to-real gap quantified, deployment plan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5257800" y="3264408"/>
            <a:ext cx="113385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Most deployment factors addressed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6391656" y="3264408"/>
            <a:ext cx="95097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Some operational context but gaps remain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7342632" y="3264408"/>
            <a:ext cx="17830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Purely academic with no deployment consideration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039112" y="3886200"/>
            <a:ext cx="6986016" cy="658368"/>
          </a:xfrm>
          <a:prstGeom prst="rect">
            <a:avLst/>
          </a:prstGeom>
          <a:solidFill>
            <a:srgbClr val="FFF5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7" name="Text 65"/>
          <p:cNvSpPr txBox="1"/>
          <p:nvPr/>
        </p:nvSpPr>
        <p:spPr>
          <a:xfrm>
            <a:off x="2039112" y="3922776"/>
            <a:ext cx="146304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Critical Evaluation &amp; Ethics (10%)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3502152" y="3922776"/>
            <a:ext cx="4114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10%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3913632" y="3922776"/>
            <a:ext cx="1344168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E7A45"/>
                </a:solidFill>
              </a:rPr>
              <a:t>Honest limitations, IHL addressed, adversarial robustness discussed, failure mode analysis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5257800" y="3922776"/>
            <a:ext cx="113385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Two substantive limitations acknowledged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6391656" y="3922776"/>
            <a:ext cx="950976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52744"/>
                </a:solidFill>
              </a:rPr>
              <a:t>One limitation mentioned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7342632" y="3922776"/>
            <a:ext cx="1783080" cy="58521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No limitations or ethics addressed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039112" y="4572000"/>
            <a:ext cx="6986016" cy="365760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4" name="Text 72"/>
          <p:cNvSpPr txBox="1"/>
          <p:nvPr/>
        </p:nvSpPr>
        <p:spPr>
          <a:xfrm>
            <a:off x="2103120" y="4626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PEER EVALUATION contributes 20% of final project grade. Each student evaluates presentations from OTHER groups on a standardised 5-point scale for: Clarity, Technical Depth, Operational Relevance, and Question Handling. Peer scores are moderated by instructor.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Project Topic Catalogue — Eight Suggested Themes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Shape 11"/>
          <p:cNvSpPr/>
          <p:nvPr/>
        </p:nvSpPr>
        <p:spPr>
          <a:xfrm>
            <a:off x="27432" y="1833677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5. Project Topic Catalogue</a:t>
            </a:r>
            <a:endParaRPr lang="en-US" sz="68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Choose One Topic from Any Lecture Area — or Propose Your Own (with Approval)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705356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T1 — Threat Classification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(L2)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Multi-class IADS classifier for a new sensor modality (EO/IR, SAR, SIGINT). Compare RF, XGBoost, and SVM. Address class imbalance. Deploy for a specific platform (airborne radar, GCS, ship CIC). Benchmark: L2 RF 97.5%.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99332" y="1014984"/>
            <a:ext cx="1705356" cy="256032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835908" y="1014984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T2 — Mission Planning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Regression (L3)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799332" y="1271016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863340" y="1325880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Predict one of: fuel consumption, mission duration, munitions expenditure, or rescue timeline. Feature engineering from JANUS scenario data. Compare OLS vs Ridge vs XGBoost. Sensor fusion with at least 2 inputs. Benchmark: L3 XGBoost R²=0.912.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59552" y="1014984"/>
            <a:ext cx="1705356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596128" y="1014984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T3 — OPFOR Pattern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Intelligence (L4)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559552" y="1271016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23560" y="1325880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Apply clustering to a movement/comms/logistics dataset to discover adversary operational patterns. Use k-Means + DBSCAN + PCA visualisation. Identify at least one unexpected cluster (like INFILTRATION in L4). Benchmark: L4 Silhouette=0.712.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9772" y="1014984"/>
            <a:ext cx="1705356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7356348" y="1014984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T4 — Cyber Defence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Anomaly (L5)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7319772" y="1271016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7383780" y="1325880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Build a tiered anomaly detection system for a military network. IF tier-1 + AE tier-2. Test against at least one novel attack type not in training. Calculate daily compute load. Benchmark: L5 AE 95.8% TPR.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039112" y="2825496"/>
            <a:ext cx="1705356" cy="256032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75688" y="2825496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T5 — Wargame Decision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Support (L6)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039112" y="3081528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136392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Train a DQN advisory agent on a wargame scenario (any scale). Implement reward shaping and curriculum. Report win rate vs random and vs human. Q-value advisory output. Benchmark: L6 Dueling DQN 93% vs random.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99332" y="2825496"/>
            <a:ext cx="1705356" cy="256032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3835908" y="2825496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T6 — Autonomous Platform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Control (L7)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799332" y="3081528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3863340" y="3136392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Train a continuous-control RL agent (PPO or SAC) for a physical system: drone waypoint, missile intercept, ship autopilot, or submarine evasion. Domain randomisation for robustness. Benchmark: L7 SAC 96.2%.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559552" y="2825496"/>
            <a:ext cx="1705356" cy="256032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5596128" y="2825496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T7 — Multi-Agent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Operations (L8)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559552" y="3081528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5623560" y="3136392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Design a MARL system for 3+ agents in a cooperative military task. Implement CTDE using QMIX or MAPPO. Identify at least one emergent behaviour. Benchmark: L8 CommsMAPPO 88.1%.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19772" y="2825496"/>
            <a:ext cx="1705356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7356348" y="2825496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52744"/>
                </a:solidFill>
              </a:rPr>
              <a:t>T8 — Original Proposal</a:t>
            </a:r>
            <a:endParaRPr lang="en-US" sz="7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52744"/>
                </a:solidFill>
              </a:rPr>
              <a:t>(Any Lecture)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319772" y="3081528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7383780" y="3136392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Student-designed project combining 2+ lectures. Must be pre-approved by instructor by Session 8. Must include: novel dataset or scenario, clear operational context, and at least one baseline comparison from this course.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Q&amp;A Panel — What to Expect and How to Prepare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8" name="Shape 16"/>
          <p:cNvSpPr/>
          <p:nvPr/>
        </p:nvSpPr>
        <p:spPr>
          <a:xfrm>
            <a:off x="27432" y="3097073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10. Q&amp;A Panel: What to Expect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Panel Tests Operational Judgment, Not Algorithm Recall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THE PANEL’S QUESTION PHILOSOPHY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246120"/>
          </a:xfrm>
          <a:prstGeom prst="rect">
            <a:avLst/>
          </a:prstGeom>
          <a:solidFill>
            <a:srgbClr val="FFFA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Panel questions are designed to probe ONE of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three things: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DEPTH: "You reported 94% accuracy.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What is the AUROC? What does the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confusion matrix look like for the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rarest class?" → Did you go beyond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the headline number?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JUDGMENT: "Your DQN achieved 87%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win rate in simulation. Your chain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of command is considering autonomous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deployment at Level 3. What is your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recommendation and why?"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→ Can you reason about real-world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implications of your result?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INTELLECTUAL HONESTY: "What would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make your approach FAIL? Give 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a specific scenario where your model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would produce a dangerous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recommendation."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→ Do you understand your own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system’s failure modes?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WRONG APPROACH: Reciting the algorithm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formula when asked about operations.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RIGHT APPROACH: Answer the operational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question, THEN add technical nuance.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ANTICIPATED PANEL QUESTIONS BY TOPIC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99856" y="1243584"/>
            <a:ext cx="322527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73008" y="1271016"/>
            <a:ext cx="307896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ON DATA &amp; BIAS (L1):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"How did you validate there is 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survivorship bias in your training data?"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"What happens if the enemy modifies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their behaviour to fool your classifier?"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ON PERFORMANCE (L2–3):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"Your 94% accuracy sounds good. What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is the false positive cost operationally?"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"How did you handle class imbalance?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Show me the per-class recall."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ON CLUSTERING/ANOMALY (L4–5):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"How do you know your clusters are real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and not artefacts? Show me the ARI."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"Your anomaly detector has 2% FPR.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On 1 million packets per day, that’s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20,000 false alerts. How does 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analyst handle that volume?"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ON RL/MARL (L6–8):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"Your DQN achieved 91% vs random OPFOR.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What if OPFOR adapts and counters your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agent’s patterns after 3 exercises?"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"Who is legally responsible if your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MAPPO system recommends an engagement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that causes civilian casualties?"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ON DEPLOYMENT (ALL):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"What is your sim-to-real gap estimate?"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"How long does your system take 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make a decision? Is that fast enough?"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Handling Tough Questions — The STARE Framework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19" name="Shape 17"/>
          <p:cNvSpPr/>
          <p:nvPr/>
        </p:nvSpPr>
        <p:spPr>
          <a:xfrm>
            <a:off x="27432" y="3349752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11. Handling Tough Questions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When You Don’t Know: A Framework for Honest, Professional Responses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THE STARE FRAMEWORK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017520"/>
          </a:xfrm>
          <a:prstGeom prst="rect">
            <a:avLst/>
          </a:prstGeom>
          <a:solidFill>
            <a:srgbClr val="FFFA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When faced with a question you cannot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fully answer, use STARE: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 — STATE what you DO know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"Our model was validated on [x] samples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using [y] metrics, achieving [z] result."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Never start with what you don’t know.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 — TIE it to the project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Connect your answer to specific results,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tables, or visualisations from your slides.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"In our ablation experiment on slide 4..."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 — ACKNOWLEDGE the gap honestly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"We did not explicitly test for adversarial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robustness in this project — that would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 a critical next step."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DO NOT bluff. Panels respect honesty.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 — REASON about what you WOULD expect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"Based on L5’s discussion of isolation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forest path lengths, we would expect...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though we’d need to validate this."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Show you can REASON with the theory.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 — END with what you’d do to find out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"To answer this definitively, we would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run a red-team exercise against 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adaptive OPFOR in the simulation."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Demonstrates research maturity.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FIVE PHRASES THAT IMPRESS PANELS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① "We benchmarked against the course’s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case study result of [X%] from Lecture [N]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and achieved [Y%], a difference of [Z pp]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attributable to [specific reason]."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[Shows you understand your result in context]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② "The key decision was choosing [A] 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[B] because our dataset had [specific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property] that favours [A’s advantage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over B in this specific condition]."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[Shows algorithm selection mastery]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③ "We estimated the sim-to-real gap at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approximately [X%] based on [analogous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results from L7: PPO 94%→78%] and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designed domain randomisation to close it."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[Shows operational maturity]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④ "The failure mode we are most concerned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about is [specific scenario] because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[mechanistic explanation] would cause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[consequence]. Mitigation: [approach]."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[Shows intellectual depth]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⑤ "This is a Level 2 advisory system.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human decision-maker sees [X] and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has [Y] seconds to confirm or override.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Meaningful human control is maintained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because [specific mechanism]."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[Shows IHL and ethics literacy]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Common Project Pitfalls — Avoid These in Your Presentation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12. Common Pitfalls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Eight Most Frequent Mistakes Seen in Defence AI Student Projects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1705356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7568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Accuracy-Only Reporting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039112" y="1234440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289304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Reporting 94% accuracy as THE result without confusion matrix, per-class recall, or AUC. For any imbalanced dataset this is misleading. Always show class-specific metrics.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799332" y="1014984"/>
            <a:ext cx="1705356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383590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No Baseline Comparison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799332" y="1234440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3863340" y="1289304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Presenting results without comparing to: (a) a simple baseline (majority class), (b) the course case study benchmark, or (c) an alternative algorithm. 87% means nothing without context.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559552" y="1014984"/>
            <a:ext cx="1705356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59612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Ignoring Data Quality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5559552" y="1234440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5623560" y="1289304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Jumping straight to algorithm without discussing L1 pitfalls. Every real dataset has biases, distribution shifts, or label noise. Not addressing them is a red flag to the panel.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7319772" y="1014984"/>
            <a:ext cx="1705356" cy="219456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7356348" y="1014984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Claiming Operational Readiness from Simulation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7319772" y="1234440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7383780" y="1289304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Saying "our system is ready for deployment" based on simulation results alone. Always acknowledge and estimate the sim-to-real gap. It is never zero.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039112" y="2825496"/>
            <a:ext cx="1705356" cy="219456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75688" y="2825496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Missing Ethical Analysis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039112" y="3044952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099816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Presenting an autonomous recommendation system without addressing: autonomy level, ROE compliance, IHL considerations, accountability chain, or failure mode consequences. This is now a standard expectation.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799332" y="2825496"/>
            <a:ext cx="1705356" cy="219456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3835908" y="2825496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Inappropriate Algorithm Choice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799332" y="3044952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3863340" y="3099816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Choosing a complex algorithm without justification when a simpler one would work (bias toward Deep Learning). Or using supervised learning when you have no labels. The Algorithm Selection Guide (L9) is the standard.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559552" y="2825496"/>
            <a:ext cx="1705356" cy="219456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5596128" y="2825496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Overclaiming Novelty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559552" y="3044952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8" name="Text 56"/>
          <p:cNvSpPr txBox="1"/>
          <p:nvPr/>
        </p:nvSpPr>
        <p:spPr>
          <a:xfrm>
            <a:off x="5623560" y="3099816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"Our approach is unprecedented" without checking the published literature. Applied ML in defence has decades of literature. Acknowledge related work and situate your contribution honestly.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7319772" y="2825496"/>
            <a:ext cx="1705356" cy="219456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0" name="Text 58"/>
          <p:cNvSpPr txBox="1"/>
          <p:nvPr/>
        </p:nvSpPr>
        <p:spPr>
          <a:xfrm>
            <a:off x="7356348" y="2825496"/>
            <a:ext cx="16322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FFFFFF"/>
                </a:solidFill>
              </a:rPr>
              <a:t>No Deployment Architecture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319772" y="3044952"/>
            <a:ext cx="1705356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Text 60"/>
          <p:cNvSpPr txBox="1"/>
          <p:nvPr/>
        </p:nvSpPr>
        <p:spPr>
          <a:xfrm>
            <a:off x="7383780" y="3099816"/>
            <a:ext cx="15773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Describing a system without specifying how it would be integrated into an existing military C2 architecture. Who uses it? What format is the output? Where does it run? What is the latency?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Course Conclusion — What You Now Know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2" name="Shape 20"/>
          <p:cNvSpPr/>
          <p:nvPr/>
        </p:nvSpPr>
        <p:spPr>
          <a:xfrm>
            <a:off x="27432" y="4107790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14. Course Conclusion</a:t>
            </a:r>
            <a:endParaRPr lang="en-US" sz="68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Reading &amp; Next Steps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Ten Lectures. Eight Algorithms. One Framework. Innumerable Applications.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112264" y="1014984"/>
            <a:ext cx="6839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52744"/>
                </a:solidFill>
              </a:rPr>
              <a:t>You began this course as defence professionals. You leave as defence professionals who can DIRECT, EVALUATE, and CRITICALLY QUESTION AI/ML systems.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39112" y="1563624"/>
            <a:ext cx="3447288" cy="219456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075688" y="1563624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YOU CAN NOW…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39112" y="1783080"/>
            <a:ext cx="344728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03120" y="1837944"/>
            <a:ext cx="33192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1. Select the right ML paradigm for any defence AI problem in under 2 minutes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 Identify data quality pitfalls before they corrupt a deployed system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 Read a published defence AI result critically and ask the right questions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 Design a 3-tier deployment architecture for a real CERT or decision support system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5. Formulate an MDP for any sequential defence decision problem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6. Evaluate MARL architectures for multi-platform coordination tasks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7. Apply IHL ethical framework to any autonomous system proposal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8. Ask an AI vendor the 5 questions that separate genuine capability from hype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577840" y="1563624"/>
            <a:ext cx="3447288" cy="219456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14416" y="1563624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COMES NEXT…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1783080"/>
            <a:ext cx="3447288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41848" y="1837944"/>
            <a:ext cx="331927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1. Unit 5: Simulation Validation &amp; Verification (V&amp;V for AI-enabled simulations)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2. Unit 6: Human-Machine Teaming in Operations (cognitive factors, trust calibration)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3. DRDO Research Programme: Apply to conduct original MARL research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4. Industry partnerships: CAIR, BEL, HAL AI divisions (contact your placement cell)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5. IITB/IISc MTech (Defence Technology): AI specialisation track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6. International: NPS Monterey (ORO programme), JSPS Defence AI fellowship (Japan)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52744"/>
                </a:solidFill>
              </a:rPr>
              <a:t>7. Publication: peer-reviewed defence-technology journals (student paper submissions open)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4297680"/>
            <a:ext cx="6986016" cy="402336"/>
          </a:xfrm>
          <a:prstGeom prst="rect">
            <a:avLst/>
          </a:prstGeom>
          <a:solidFill>
            <a:srgbClr val="FFFAE8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35254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2744"/>
                </a:solidFill>
              </a:rPr>
              <a:t>“AI will not replace military commanders — but commanders who understand AI will replace those who do not.”  — AK DHAMIJA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Recommended Reading &amp; Further Study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10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Lecture 10 Overview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Presentation Structure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Timing &amp; Format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Assessment Rubric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Project Topic Catalogue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Supervised Learning Topics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Unsupervised Learning Topics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RL &amp; MARL Topics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Data Sources &amp; Resources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Q&amp;A Panel: What to Expect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Handling Tough Questions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Common Pitfalls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Peer Evaluation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Course Conclusion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52744"/>
                </a:solidFill>
              </a:rPr>
              <a:t>15. Reading &amp; Next Steps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Resources to Deepen Your Understanding Beyond This Course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CORE TEXTBOOKS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3246120"/>
          </a:xfrm>
          <a:prstGeom prst="rect">
            <a:avLst/>
          </a:prstGeom>
          <a:solidFill>
            <a:srgbClr val="FFFAE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MACHINE LEARNING FOUNDATIONS: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Bishop, C.M. (2006) Pattern Recognition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and Machine Learning. Springer.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[The ML bible — L2–5 mathematical depth]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Hastie, T., Tibshirani, R., Friedman, J.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(2009) The Elements of Statistical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Learning. Springer. [Free online]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REINFORCEMENT LEARNING: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Sutton &amp; Barto (2018) Reinforcement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Learning: An Introduction. MIT Press.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[Free at incompleteideas.net]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[L6–8 gold standard reference]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Marl-book.github.io — Multi-Agent RL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(Albrecht, Christianos, Schafer 2024)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[Free online, L8 extension]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DEEP LEARNING: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Goodfellow et al. (2016) Deep Learning.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MIT Press. [Free at deeplearningbook.org]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DEFENCE AI SPECIFICALLY: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DARPA AI Next Campaign reports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RAND: Implications of AI for Nuclear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Stability (2018)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• JAIC Joint AI Center publications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  (now CDAO: cdao.defense.gov)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2744"/>
                </a:solidFill>
              </a:rPr>
              <a:t>KEY PAPERS TO READ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FOUNDATIONAL: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Mnih et al. (2015) Human-level control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through deep reinforcement learning.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Nature 518(7540). [DQN paper]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Watkins &amp; Dayan (1992) Q-Learning.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Machine Learning 8(3). [Convergence proof]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POLICY GRADIENT: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Schulman et al. (2017) Proximal Policy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Optimization. arXiv:1707.06347. [PPO]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Haarnoja et al. (2018) Soft Actor-Critic.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ICML 2018. [SAC]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MARL: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Rashid et al. (2018) QMIX: Monotonic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Value Function Factorisation. ICML.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Yu et al. (2022) The Surprising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Effectiveness of PPO in Cooperative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Multi-Agent Games. NeurIPS. [MAPPO]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ANOMALY DETECTION: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Liu et al. (2008) Isolation Forest.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ICDM 2008.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ETHICS: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ICRC (2019) Autonomy, Artificial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Intelligence and Robotics: Technical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Aspects of Recent Developments.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UK MoD (2022) Ambitious, Safe,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2744"/>
                </a:solidFill>
              </a:rPr>
              <a:t>  Responsible — AI Strategy for Defence.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4553712"/>
            <a:ext cx="6986016" cy="356616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03120" y="4608576"/>
            <a:ext cx="6858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★ STAY CONNECTED: join an AI &amp; ML working group or community of practice in your organisation.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137160" y="109728"/>
            <a:ext cx="8869680" cy="4924044"/>
          </a:xfrm>
          <a:prstGeom prst="rect">
            <a:avLst/>
          </a:prstGeom>
          <a:solidFill>
            <a:srgbClr val="000000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28600" y="201168"/>
            <a:ext cx="8686800" cy="4741164"/>
          </a:xfrm>
          <a:prstGeom prst="rect">
            <a:avLst/>
          </a:prstGeom>
          <a:solidFill>
            <a:srgbClr val="000000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Text 3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040"/>
                </a:solidFill>
              </a:rPr>
              <a:t/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7315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| Unit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51560"/>
            <a:ext cx="6400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" name="Text 6"/>
          <p:cNvSpPr txBox="1"/>
          <p:nvPr/>
        </p:nvSpPr>
        <p:spPr>
          <a:xfrm>
            <a:off x="365760" y="11430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&amp; Machine Learning in Warfare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64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040"/>
                </a:solidFill>
              </a:rPr>
              <a:t>A Complete 10-Lecture Postgraduate Course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1993392"/>
            <a:ext cx="6400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1371600" y="2103120"/>
            <a:ext cx="1243584" cy="274320"/>
          </a:xfrm>
          <a:prstGeom prst="rect">
            <a:avLst/>
          </a:prstGeom>
          <a:solidFill>
            <a:srgbClr val="E05218"/>
          </a:solidFill>
          <a:ln w="12700">
            <a:solidFill>
              <a:srgbClr val="E05218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1399032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L1: Foundations &amp; Data Pitfalls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651760" y="2103120"/>
            <a:ext cx="1243584" cy="274320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4" name="Text 12"/>
          <p:cNvSpPr txBox="1"/>
          <p:nvPr/>
        </p:nvSpPr>
        <p:spPr>
          <a:xfrm>
            <a:off x="2679192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L2: Supervised — Classification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31920" y="2432304"/>
            <a:ext cx="1243584" cy="274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3959352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L3: Supervised — Regression &amp; Fusion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212080" y="2432304"/>
            <a:ext cx="1243584" cy="274320"/>
          </a:xfrm>
          <a:prstGeom prst="rect">
            <a:avLst/>
          </a:prstGeom>
          <a:solidFill>
            <a:srgbClr val="0D5C6F"/>
          </a:solidFill>
          <a:ln w="12700">
            <a:solidFill>
              <a:srgbClr val="0D5C6F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239512" y="2432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L4: Unsupervised — Clustering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92240" y="2761488"/>
            <a:ext cx="1243584" cy="2743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0" name="Text 18"/>
          <p:cNvSpPr txBox="1"/>
          <p:nvPr/>
        </p:nvSpPr>
        <p:spPr>
          <a:xfrm>
            <a:off x="6519672" y="2761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L5: Unsupervised — Anomaly Detection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371600" y="2761488"/>
            <a:ext cx="1243584" cy="274320"/>
          </a:xfrm>
          <a:prstGeom prst="rect">
            <a:avLst/>
          </a:prstGeom>
          <a:solidFill>
            <a:srgbClr val="2C3E80"/>
          </a:solidFill>
          <a:ln w="12700">
            <a:solidFill>
              <a:srgbClr val="2C3E8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1399032" y="2761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L6: RL — Q-Learning &amp; DQN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651760" y="3090672"/>
            <a:ext cx="1243584" cy="27432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2679192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L7: RL — Policy Gradient Methods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931920" y="3090672"/>
            <a:ext cx="1243584" cy="274320"/>
          </a:xfrm>
          <a:prstGeom prst="rect">
            <a:avLst/>
          </a:prstGeom>
          <a:solidFill>
            <a:srgbClr val="9B5E1A"/>
          </a:solidFill>
          <a:ln w="12700">
            <a:solidFill>
              <a:srgbClr val="9B5E1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Text 24"/>
          <p:cNvSpPr txBox="1"/>
          <p:nvPr/>
        </p:nvSpPr>
        <p:spPr>
          <a:xfrm>
            <a:off x="3959352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L8: RL — Multi-Agent Systems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212080" y="3419856"/>
            <a:ext cx="1243584" cy="274320"/>
          </a:xfrm>
          <a:prstGeom prst="rect">
            <a:avLst/>
          </a:prstGeom>
          <a:solidFill>
            <a:srgbClr val="5E1F6A"/>
          </a:solidFill>
          <a:ln w="12700">
            <a:solidFill>
              <a:srgbClr val="5E1F6A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8" name="Text 26"/>
          <p:cNvSpPr txBox="1"/>
          <p:nvPr/>
        </p:nvSpPr>
        <p:spPr>
          <a:xfrm>
            <a:off x="5239512" y="3419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L9: Culmination &amp; Revision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92240" y="3419856"/>
            <a:ext cx="1243584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Text 28"/>
          <p:cNvSpPr txBox="1"/>
          <p:nvPr/>
        </p:nvSpPr>
        <p:spPr>
          <a:xfrm>
            <a:off x="6519672" y="3419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L10: Project Presentations &amp; Q&amp;A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3127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AK DHAMIJA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349300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7EE"/>
                </a:solidFill>
              </a:rPr>
              <a:t>AK DHAMIJA   |   Researcher &amp; Instructor, AI &amp; Machine Learning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3785616"/>
            <a:ext cx="6400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365760" y="38770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040"/>
                </a:solidFill>
              </a:rPr>
              <a:t>Thank You | Best wishes for your continuing service | भारत माता की जय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10: Project Presentations &amp; Q&amp;A Panel</dc:title>
  <dc:subject>PptxGenJS Presentation</dc:subject>
  <dc:creator>AK DHAMIJA</dc:creator>
  <cp:lastModifiedBy>AK DHAMIJA</cp:lastModifiedBy>
  <cp:revision>1</cp:revision>
  <dcterms:created xsi:type="dcterms:W3CDTF">2026-09-24T08:09:26Z</dcterms:created>
  <dcterms:modified xsi:type="dcterms:W3CDTF">2026-09-24T08:09:26Z</dcterms:modified>
</cp:coreProperties>
</file>