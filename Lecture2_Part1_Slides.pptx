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11263F"/>
          </a:solidFill>
          <a:ln w="12700">
            <a:solidFill>
              <a:srgbClr val="11263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</a:rPr>
              <a:t>Supervised Learning</a:t>
            </a:r>
            <a:endParaRPr lang="en-US" sz="2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</a:rPr>
              <a:t>Part 1: Classification</a:t>
            </a:r>
            <a:endParaRPr lang="en-US" sz="2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</a:rPr>
              <a:t>Algorithms for Defence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96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Lecture 2:  Logistic Regression · kNN · Decision Trees · Random Forest · SVM · Naive Bayes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A8850"/>
                </a:solidFill>
              </a:rPr>
              <a:t>Case Study: 5-Class IADS Threat Classification  •  N=8,500 Samples  •  11 Radar+EW Features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2 — Objectives &amp; Dataset Overview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What We Cover Today — 6 Classifiers, 1 Unified Dataset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 OBJECTIVES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39112" y="1243584"/>
            <a:ext cx="36327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112264" y="1271016"/>
            <a:ext cx="348642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①  Derive decision boundaries for key classifiers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②  Implement Logistic Regression mathematically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③  Understand bias-variance for kNN (k effects)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④  Build &amp; prune a Decision Tree from first principles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⑤  Explain Random Forest bagging &amp; feature importance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⑥  Derive SVM hard &amp; soft margins; kernel trick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⑦  Apply Naive Bayes to a classification problem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⑧  Select the right classifier for a given defence scenario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⑨  Compute Precision, Recall, F1, ROC-AUC from scratch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⑩  Identify class imbalance &amp; apply appropriate fixes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39112" y="3410712"/>
            <a:ext cx="3632728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2130552" y="3456432"/>
            <a:ext cx="344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Unified Case Study: 5-Class IADS Threat Classification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N = 8,500  |  Features: 11  |  Split: 68/17/15  (train/val/test)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39112" y="3950208"/>
            <a:ext cx="3632728" cy="475488"/>
          </a:xfrm>
          <a:prstGeom prst="rect">
            <a:avLst/>
          </a:prstGeom>
          <a:solidFill>
            <a:srgbClr val="E0F0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2103120" y="4005072"/>
            <a:ext cx="350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Each algorithm trained on SAME dataset &amp; compared: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• Accuracy, F1-Macro, Precision/Recall per class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• Training time &amp; inference latency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• Decision boundary geometry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DATASET: 5-CLASS IADS THREAT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Classes: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FF — Friendly Fighter    (1,700)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AB — Adversary Bomber  (1,700)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CM — Cruise Missile      (1,700)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UV — UAV / Drone         (1,700)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CI — Civilian Aircraft    (1,700)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Features (11 total):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x1: Peak Frequency (GHz)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x2: Pulse Width (µs)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x3: PRF (Hz)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x4: Signal Amplitude (dBm)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x5: Scan Rate (deg/s)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x6: Polarisation (categorical)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x7: Doppler Shift (MHz)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x8: Sidelobe Level (dBc)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x9: EW Jamming Activity (boolean)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x10: Course (deg)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x11: Speed (km/h)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Quick Recap — Supervised Learning &amp; Classification Framework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Recap: ML Paradigms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Supervised Classification: The General Framework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GENERAL PIPELINE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24028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Input: Training set D = {(x_i, y_i)}_{i=1}^{N}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x_i ∈ ℝ^d   (d=11 features)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y_i ∈ {FF, AB, CM, UV, CI}   (5 classes)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Step 1: Feature Engineering / Normalisation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Z-score: x̃ = (x - μ)/σ   (critical for SVM, kNN!)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Step 2: Model Training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Minimise: L(θ) = Σ loss(f(x_i;θ), y_i) + λR(θ)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Step 3: Hyperparameter Tuning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k-fold cross-validation (k=5 or k=10)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Step 4: Evaluation on held-out test 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NEVER peek at test set during training!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Step 5: Deploy + Monitor for distribution shift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3547872"/>
            <a:ext cx="3632728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593592"/>
            <a:ext cx="344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39112" y="4087368"/>
            <a:ext cx="3632728" cy="530352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103120" y="4142232"/>
            <a:ext cx="350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⚠ DATA PITFALL CHECK: Before training, always verify: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① Class balance  ② Feature scaling applied  ③ No data leakage (future info in training)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④ Categorical features encoded  ⑤ Missing values handled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014984"/>
            <a:ext cx="3225272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36432" y="1014984"/>
            <a:ext cx="903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Classifier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739508" y="1014984"/>
            <a:ext cx="8063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Type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7545826" y="1014984"/>
            <a:ext cx="7740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Parametric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319892" y="1014984"/>
            <a:ext cx="72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Needs Scaling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99856" y="1234440"/>
            <a:ext cx="3225272" cy="26060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Text 43"/>
          <p:cNvSpPr txBox="1"/>
          <p:nvPr/>
        </p:nvSpPr>
        <p:spPr>
          <a:xfrm>
            <a:off x="5836432" y="1234440"/>
            <a:ext cx="9030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Logistic Reg.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739508" y="1234440"/>
            <a:ext cx="80631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Linear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7545826" y="1234440"/>
            <a:ext cx="77406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Yes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8319892" y="1234440"/>
            <a:ext cx="722461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7A45"/>
                </a:solidFill>
              </a:rPr>
              <a:t>No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799856" y="1495044"/>
            <a:ext cx="3225272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5836432" y="1495044"/>
            <a:ext cx="9030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kNN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739508" y="1495044"/>
            <a:ext cx="80631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Instance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545826" y="1495044"/>
            <a:ext cx="77406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7A45"/>
                </a:solidFill>
              </a:rPr>
              <a:t>No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8319892" y="1495044"/>
            <a:ext cx="722461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YES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99856" y="1755648"/>
            <a:ext cx="3225272" cy="26060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5" name="Text 53"/>
          <p:cNvSpPr txBox="1"/>
          <p:nvPr/>
        </p:nvSpPr>
        <p:spPr>
          <a:xfrm>
            <a:off x="5836432" y="1755648"/>
            <a:ext cx="9030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Decision Tree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6739508" y="1755648"/>
            <a:ext cx="80631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Non-linear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7545826" y="1755648"/>
            <a:ext cx="77406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7A45"/>
                </a:solidFill>
              </a:rPr>
              <a:t>No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8319892" y="1755648"/>
            <a:ext cx="722461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7A45"/>
                </a:solidFill>
              </a:rPr>
              <a:t>No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799856" y="2016252"/>
            <a:ext cx="3225272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5836432" y="2016252"/>
            <a:ext cx="9030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Random Forest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739508" y="2016252"/>
            <a:ext cx="80631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Ensemble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7545826" y="2016252"/>
            <a:ext cx="77406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7A45"/>
                </a:solidFill>
              </a:rPr>
              <a:t>No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8319892" y="2016252"/>
            <a:ext cx="722461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7A45"/>
                </a:solidFill>
              </a:rPr>
              <a:t>No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799856" y="2276856"/>
            <a:ext cx="3225272" cy="26060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5" name="Text 63"/>
          <p:cNvSpPr txBox="1"/>
          <p:nvPr/>
        </p:nvSpPr>
        <p:spPr>
          <a:xfrm>
            <a:off x="5836432" y="2276856"/>
            <a:ext cx="9030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SVM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6739508" y="2276856"/>
            <a:ext cx="80631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Margin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7545826" y="2276856"/>
            <a:ext cx="77406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Yes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8319892" y="2276856"/>
            <a:ext cx="722461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YES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799856" y="2537460"/>
            <a:ext cx="3225272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0" name="Text 68"/>
          <p:cNvSpPr txBox="1"/>
          <p:nvPr/>
        </p:nvSpPr>
        <p:spPr>
          <a:xfrm>
            <a:off x="5836432" y="2537460"/>
            <a:ext cx="9030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Naive Bayes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6739508" y="2537460"/>
            <a:ext cx="80631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Probabilistic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7545826" y="2537460"/>
            <a:ext cx="77406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Yes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8319892" y="2537460"/>
            <a:ext cx="722461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7A45"/>
                </a:solidFill>
              </a:rPr>
              <a:t>No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5799856" y="2880360"/>
            <a:ext cx="3225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A7A8A"/>
                </a:solidFill>
              </a:rPr>
              <a:t>RED = Mandatory feature scaling  |  GREEN = Scaling not required</a:t>
            </a:r>
            <a:endParaRPr lang="en-US" sz="800" dirty="0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630168"/>
            <a:ext cx="3376696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Decision Boundaries — The Geometry of Classification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27432" y="1075639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2. Decision Boundaries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Understanding Decision Boundaries: Each Classifier Carves Space Differently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677924" cy="27432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677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Logistic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Regression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39112" y="1325880"/>
            <a:ext cx="16779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80744"/>
            <a:ext cx="1549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Linear hyperplane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w·x + b =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Straight boundary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2276856"/>
            <a:ext cx="1677924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03120" y="2331720"/>
            <a:ext cx="1549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Works when classes 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linearly separable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71900" y="1014984"/>
            <a:ext cx="1677924" cy="27432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771900" y="1014984"/>
            <a:ext cx="1677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k-Nearest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Neighbours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71900" y="1325880"/>
            <a:ext cx="16779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3835908" y="1380744"/>
            <a:ext cx="1549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Voronoi regions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Local neighbourhoods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Irregular boundary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771900" y="2276856"/>
            <a:ext cx="1677924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3835908" y="2331720"/>
            <a:ext cx="1549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Works for any shape;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noisy near boundaries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04688" y="1014984"/>
            <a:ext cx="1677924" cy="2743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504688" y="1014984"/>
            <a:ext cx="1677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Decision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Tree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04688" y="1325880"/>
            <a:ext cx="16779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568696" y="1380744"/>
            <a:ext cx="1549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Axis-aligned splits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Rectangular regions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Staircase boundary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504688" y="2276856"/>
            <a:ext cx="1677924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5568696" y="2331720"/>
            <a:ext cx="1549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Interpretable; but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straight-edged only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37476" y="1014984"/>
            <a:ext cx="1677924" cy="274320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7237476" y="1014984"/>
            <a:ext cx="1677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SVM / RBF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Kernel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37476" y="1325880"/>
            <a:ext cx="16779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7301484" y="1380744"/>
            <a:ext cx="1549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Maximum margin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hyperplane (or curve)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Smoothly non-linear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7237476" y="2276856"/>
            <a:ext cx="1677924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7301484" y="2331720"/>
            <a:ext cx="1549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Optimal generalisation;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handled with kernels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039112" y="2816352"/>
            <a:ext cx="6986016" cy="512064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2103120" y="28712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🎯 IADS CONTEXT: In 11-dimensional feature space (our dataset), "decision boundary" is a hyperplane or hypersurface that separates 5 class regions. Linear boundary = 10 hyperplanes for 5-class one-vs-rest. Non-linear boundary = SVM with RBF kernel finds curved separating surface in feature space.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039112" y="3410712"/>
            <a:ext cx="3438144" cy="22860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2093976" y="341071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BIAS-VARIANCE TRADEOFF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039112" y="3639312"/>
            <a:ext cx="3438144" cy="1033272"/>
          </a:xfrm>
          <a:prstGeom prst="rect">
            <a:avLst/>
          </a:prstGeom>
          <a:solidFill>
            <a:srgbClr val="FFF8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2112264" y="3666744"/>
            <a:ext cx="3291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HIGH BIAS (underfit): Model too simple for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Wrong even on training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Straight line for curved boundary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Example: LR on non-linearly separable data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HIGH VARIANCE (overfit): Model too complex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Perfect on train, fails on test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Wiggly boundary memorising noise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Example: Deep decision tree, k=1 kNN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GOLDILOCKS ZONE: Low bias + low variance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Cross-validation finds this balance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5586984" y="3410712"/>
            <a:ext cx="343814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5641848" y="341071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EVALUATION PROTOCOL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586984" y="3639312"/>
            <a:ext cx="3438144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4" name="Text 62"/>
          <p:cNvSpPr txBox="1"/>
          <p:nvPr/>
        </p:nvSpPr>
        <p:spPr>
          <a:xfrm>
            <a:off x="5660136" y="3666744"/>
            <a:ext cx="3291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Train → Hyperparameter Tune → Test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Never use test data for tuning!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5-fold Cross-validation: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Fold 1: [Val] [Trn] [Trn] [Trn] [Trn]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Fold 2: [Trn] [Val] [Trn] [Trn] [Trn]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... etc. Average across all 5 folds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Result: Robust estimate of generalisation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performance before final test evaluation.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Logistic Regression — Mathematical Foundation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432" y="1328318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3. Logistic Regression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Logistic Regression: From Linear Score to Probability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MODEL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258568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Binary case (extend to multi-class via OvR/Softmax):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Linear score:   z = w^T x + b = Σ_j w_j x_j + 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Sigmoid function: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σ(z) = 1 / (1 + e^{-z})    ∈ (0, 1)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Predicted probability: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P(y=1|x; w,b) = σ(w^T x + b)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Decision boundary: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σ(z) ≥ 0.5  ⟺  z ≥ 0  ⟺  w^T x + b ≥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→ A HYPERPLANE in feature space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Multi-class Softmax: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P(y=c|x) = exp(w_c^T x) / Σ_{k} exp(w_k^T 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5-class IADS: 5 weight vectors (one per class)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3566160"/>
            <a:ext cx="3632728" cy="548640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611880"/>
            <a:ext cx="344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39112" y="4178808"/>
            <a:ext cx="3632728" cy="475488"/>
          </a:xfrm>
          <a:prstGeom prst="rect">
            <a:avLst/>
          </a:prstGeom>
          <a:solidFill>
            <a:srgbClr val="E0F0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103120" y="4233672"/>
            <a:ext cx="350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/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/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/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IADS APPLICATION RESULTS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5-class IADS dataset (N=8,500, one-vs-rest)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Class          Precision  Recall   F1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FF (Friendly)   0.881     0.903   0.892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AB (Adv.Bomb)  0.896     0.874   0.885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CM (Missile)   0.921     0.908   0.914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UV (UAV)       0.887     0.861   0.874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CI (Civilian)  0.912     0.931   0.921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Macro F1: 0.897   Overall Acc: 89.7%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Training time:   0.8 sec  (N=5,780)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Inference:       0.09 ms/sample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⚠ AB Recall = 87.4%: 12.6% bombers missed!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Is this acceptable for IADS?</a:t>
            </a:r>
            <a:endParaRPr lang="en-US" sz="850" dirty="0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648456"/>
            <a:ext cx="3376696" cy="402336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96" y="4270248"/>
            <a:ext cx="3431560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Logistic Regression — Weights, Interpretation &amp; Limitations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432" y="1328318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3. Logistic Regression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LR Weight Interpretation &amp; Why Linearity Fails for Some Threats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WEIGHT INTERPRETATION (AB class, OvR)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Feature            Weight w_j  Interpretation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──────────────────────────────────────────────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x1: Peak Freq       +2.41   High freq → more likely AB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x2: Pulse Width     +1.87   Wide pulse → AB signature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x3: PRF             +3.12   High PRF → AB fire-control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x4: Amplitude       −0.64   Lower amplitude in this model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x5: Scan Rate       −1.23   Fast scan → less likely AB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x7: Doppler Shift   +2.88   High Doppler → fast approach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x8: Sidelobe Level  +1.45   High sidelobe = mil radar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x9: EW Jamming      +4.07   Jamming strongly → AB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x10: Course         −0.89   Departing → less threat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x11: Speed          +2.31   High speed → AB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⭐ Jamming activity (x9) is strongest predictor!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Weight 4.07 → e^4.07 = 58.5× odds ratio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438144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Odds Ratio for feature j: exp(w_j)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Odds Ratio(EW Jamming=1 vs 0) = exp(4.07) = 58.5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WHERE LR FAILS (AND WHAT TO USE INSTEAD)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86984" y="1243584"/>
            <a:ext cx="3438144" cy="3182112"/>
          </a:xfrm>
          <a:prstGeom prst="rect">
            <a:avLst/>
          </a:prstGeom>
          <a:solidFill>
            <a:srgbClr val="FFF8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PROBLEM 1: XOR Decision Boundary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UV drones use low-altitude, low-speed profiles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SAME as civilian helicopters at low altitude.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LR cannot separate them with a single hyperplane.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Need non-linear boundary (RBF-SVM, RF)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PROBLEM 2: Feature Interaction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AB danger ≠ just high speed OR high PRF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AB danger = high speed AND high PRF together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LR models w_1x_1 + w_2x_2 — no interaction term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Need x_1×x_2 feature engineering, or tree/SVM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PROBLEM 3: Non-monotonic 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Civilian aircraft can have VERY high speed (e.g.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supersonic business jets) at certain frequencies.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LR assigns linear weight → can misclassify.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Random Forest handles non-monotonic naturally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ACC on non-linear classes: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LR:  89.7%   RF:  96.8%   SVM: 95.4%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k-Nearest Neighbours (kNN) — Non-parametric Classification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Shape 10"/>
          <p:cNvSpPr/>
          <p:nvPr/>
        </p:nvSpPr>
        <p:spPr>
          <a:xfrm>
            <a:off x="27432" y="1580998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4. k-Nearest Neighbours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kNN: "You Are Judged by the Company You Keep"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ALGORITHM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60604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Given new query point x_q: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1. Compute distance to ALL training points: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Euclidean: d(x_q, x_i) = √(Σ_j (x_q_j - x_i_j)²)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Normalise features first! Distance is scale-sensitive.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2. Find k nearest training points: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N_k(x_q) = {k points with smallest d(x_q, x_i)}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3. Vote by majority class: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ŷ = argmax_c Σ_{x_i ∈ N_k} 𝟙[y_i = c]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4. (Optional) Distance-weighted vote: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w_i = 1/d(x_q, x_i)   (closer = more weight)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SPECIAL CASES: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k=1:  Assign class of single nearest neighbour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Training accuracy = 100% (but overfits!)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k=N:  Assign majority class of entire training set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High bias (ignores local structure)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k=√N: Common heuristic starting point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(k=√5780 ≈ 76 for our dataset)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493008" cy="493776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0136" y="1014984"/>
            <a:ext cx="336499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15000" y="1014984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CHOOSING k — CROSS-VALIDATION ON IADS 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0136" y="1243584"/>
            <a:ext cx="3364992" cy="160020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33288" y="1271016"/>
            <a:ext cx="32186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k     Train Acc  Val Acc  Inference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1     100%       78.3%    11.2 ms  ← overfit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3      98.2%     83.7%    11.4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5      97.4%     86.2%    11.6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7      96.1%     87.9%    11.8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11      95.0%     89.1%    12.1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15      93.7%     89.8%    12.2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21      91.8%     90.2%    12.5 ms  ← optimal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31      88.4%     88.9%    13.1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51      83.1%     85.4%    14.0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101      76.2%     79.3%    16.2 ms  ← underfit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Optimal k = 21 (Val Acc 90.2%)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Test Accuracy (k=21): 89.8%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660136" y="2907792"/>
            <a:ext cx="3364992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715000" y="2907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kNN DEFENCE CONSIDERATIONS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0136" y="3136392"/>
            <a:ext cx="3364992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733288" y="3163824"/>
            <a:ext cx="32186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✅ No training phase — model updates instantly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when new threat signatures are observed.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✅ Naturally handles multi-class — no extension needed.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✅ Good for rare threat types with few examples.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⚠ INFERENCE COST: O(N·d) per query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N=5,780, d=11 → 5,780×11 = 63,580 ops/query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At 12.2 ms: borderline for IADS real-time req.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Solution: k-d trees / Ball trees → O(log N) avg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⚠ CURSE OF DIMENSIONALITY: In high dimensions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(d &gt; ~20), all points become equidistant.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Distances lose meaning → kNN degrades.</a:t>
            </a:r>
            <a:endParaRPr lang="en-US" sz="850" dirty="0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236976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Decision Trees — CART Algorithm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5. Decision Trees (CART)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Decision Trees: Recursive Feature-Space Partitioning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CART: CLASSIFICATION &amp; REGRESSION TREES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60604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Algorithm: Greedy, top-down, recursive splitting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At each node, find split (feature j, threshold 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Minimise Impurity after split: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Gini Impurity: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G(node) = 1 - Σ_c p_c²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p_c = fraction of samples with class c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Information Gain (Entropy):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H(node) = -Σ_c p_c log₂(p_c)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IG = H(parent) - [w_L·H(left) + w_R·H(right)]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Search all d=11 features × all N-1 thresholds per feature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→ Pick (j*, t*) maximising impurity reduction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STOPPING CRITERIA: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Max depth reached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Node has &lt; min_samples (e.g. 5)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Impurity already = 0 (pure node)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No feature improves impurity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PRUNING (Post-pruning):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Cost-Complexity: α · num_leaves penalty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Choose α via cross-validation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493008" cy="493776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0136" y="1014984"/>
            <a:ext cx="336499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15000" y="1014984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WORKED TREE SPLIT — ROOT NODE (IADS)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0136" y="1243584"/>
            <a:ext cx="336499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33288" y="1271016"/>
            <a:ext cx="321868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Root node: All 5,780 training samples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5 equal classes → p_c = 0.2 each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Gini(root) = 1-(5×0.04) = 0.80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Best split found: x9 (EW Jamming) ≤ 0.5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Left branch (Jamming=0): 3,120 samples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  p_FF=0.32 p_AB=0.04 p_CM=0.28 p_UV=0.24 p_CI=0.12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  Gini_L = 1-(0.10+0.0016+0.078+0.058+0.014) = 0.748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Right branch (Jamming=1): 2,660 samples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  p_FF=0.06 p_AB=0.48 p_CM=0.18 p_UV=0.14 p_CI=0.14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  Gini_R = 1-(0.0036+0.23+0.032+0.020+0.020) = 0.694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Weighted Gini = (3120/5780)×0.748 + (2660/5780)×0.694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            = 0.4036 + 0.3194 = 0.7230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Gini Reduction: 0.800 - 0.723 = 0.077 ← best split!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Conclusion: EW Jamming is most informative root feature</a:t>
            </a:r>
            <a:endParaRPr lang="en-US" sz="82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236976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Decision Trees — IADS Results, Depth Analysis &amp; Interpretability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5. Decision Trees (CART)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Decision Tree: Depth vs Accuracy and the Interpretability Advantage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DEPTH ANALYSIS (IADS 5-class)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Max Depth  Train Acc  Test Acc  Nodes  Time(ms)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─────────────────────────────────────────────────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1         42.3%      41.7%       3    0.01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3         68.4%      67.1%      15    0.04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5         84.2%      83.0%      63    0.08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7         91.8%      89.4%     127    0.11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10         95.7%      91.8%     317    0.15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15         98.4%      90.2%     891    0.21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20         99.8%      88.7%   2,103    0.28 ← overfit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Unlimited   99.9%      87.4%   5,231    0.35 ← overfit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Optimal depth = 10  (Test Acc 91.8%, Val chosen)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Post-pruning (α=0.002):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Pruned nodes: 317 → 89 (72% reduction)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Test Accuracy: 91.8% → 92.4% (+0.6%)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Smaller tree + better generalisation!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2039112" y="3401568"/>
            <a:ext cx="343814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093976" y="340156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TOP DECISION RULES (depth 3 extract)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39112" y="3630168"/>
            <a:ext cx="3438144" cy="1005840"/>
          </a:xfrm>
          <a:prstGeom prst="rect">
            <a:avLst/>
          </a:prstGeom>
          <a:solidFill>
            <a:srgbClr val="EFF4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112264" y="3657600"/>
            <a:ext cx="3291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IF x9 (EW_Jamming) = 1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AND x3 (PRF) &gt; 2,400 Hz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AND x11 (Speed) &gt; 650 km/h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→ CLASSIFY: Adversary Bomber (Conf: 91.4%)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IF x9 (EW_Jamming) = 0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AND x2 (Pulse Width) &lt; 0.8 µs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AND x5 (Scan Rate) &lt; 2 deg/s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→ CLASSIFY: Cruise Missile (Conf: 88.2%)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IF x9 (EW_Jamming) = 0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AND x11 (Speed) &lt; 250 km/h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→ CLASSIFY: Civilian Aircraft (Conf: 93.7%)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⭐ INTERPRETABILITY: Every decision auditable!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Commandercan UNDERSTAND and CHALLENGE AI decision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 IMPORTANCE (Gini Reduction)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86984" y="1243584"/>
            <a:ext cx="3438144" cy="2075688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660136" y="1271016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Feature                Importance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──────────────────────────────────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x9: EW Jamming            0.241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x3: PRF                   0.187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x11: Speed                0.142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x7: Doppler Shift         0.118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x2: Pulse Width           0.098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x1: Peak Frequency        0.082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x8: Sidelobe Level        0.054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x5: Scan Rate             0.036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x10: Course               0.022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x4: Amplitude             0.013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x6: Polarisation          0.007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  Total:                  1.000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⭐ EW Jamming is the single most discriminative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feature — consistent with Expert Systems finding!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586984" y="3401568"/>
            <a:ext cx="3438144" cy="123444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650992" y="3456432"/>
            <a:ext cx="3310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🎖 DEFENCE ADVANTAGE: Decision trees provide FULLY AUDITABLE AI — a commander can ask "WHY did the system classify this as an Adversary Bomber?" and receive a sequence of IF-THEN conditions. Critical for Rules-of-Engagement compliance.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Random Forest — Ensemble Learning via Bagging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Random Forest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Random Forest: Strength in Diversity — Many Weak Learners → One Strong Classifier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BAGGING ALGORITHM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42316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Bootstrap Aggregating (Bagging):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Step 1: Draw B bootstrap samples D_1,...,D_B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D_b = N samples drawn WITH replacement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from original D_train (N=5,780)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≈ 63.2% of D_train unique per sample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(out-of-bag = OOB samples, useful for free validation!)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Step 2: Train B deep decision trees on D_1,...,D_B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!! KEY: At each node, consider ONLY m features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where m = √d = √11 ≈ 3 features (random subspace!)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This decorrelates the trees — makes them diverse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Step 3: Prediction by majority vote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ŷ = argmax_c Σ_{b=1}^{B} 𝟙[ŷ_b(x) = c]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HYPERPARAMETERS: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B: number of trees (100 to 2,000)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m: features per split (√d or d/3)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Max depth: usually unlimited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 samples per leaf: 1 to 10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730752"/>
            <a:ext cx="3632728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76472"/>
            <a:ext cx="344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OOB Error ≈ validation error (free!)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RF Prediction: ŷ = majority_vote{T_1(x),...,T_B(x)}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39112" y="4270248"/>
            <a:ext cx="3632728" cy="438912"/>
          </a:xfrm>
          <a:prstGeom prst="rect">
            <a:avLst/>
          </a:prstGeom>
          <a:solidFill>
            <a:srgbClr val="E8F4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103120" y="4325112"/>
            <a:ext cx="350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WHY DIVERSITY HELPS: E[error of ensemble] &lt; E[error of single tree]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Bias stays same; VARIANCE reduces by 1/B for uncorrelated trees.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Random subspace ensures tree correlation ρ → Var_ensemble = ρσ² + (1-ρ)σ²/B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RF RESULTS ON IADS DATA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Hyperparameter tuning (5-fold CV):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B=500 trees, m=3, Max depth=∞, Min leaf=2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Class       Precision  Recall   F1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FF          0.968     0.981   0.974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AB          0.974     0.961   0.967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CM          0.978     0.972   0.975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UV          0.969     0.975   0.972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CI          0.985     0.989   0.987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Macro F1:   0.975   Overall: 97.5%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OOB Error:  2.7%   (matches test error!)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Training:  12.4 sec (B=500 trees in parallel)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Inference:  2.8 ms (ensemble of 500 trees)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Feature Importance (permutation-based):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EW Jamming: 0.228  PRF: 0.194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Speed: 0.147  (consistent with single tree)</a:t>
            </a:r>
            <a:endParaRPr lang="en-US" sz="8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Gradient Boosting — Sequential Error Correction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Gradient Boosting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Gradient Boosting &amp; XGBoost: Learning from Residuals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BOOSTING VS BAGGING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60604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BAGGING (Random Forest):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Trees built in PARALLEL, independently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Reduces VARIANCE, bias stays same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tree sees ~63% of data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BOOSTING: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Trees built SEQUENTIALLY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tree corrects errors of previous ensemble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Reduces BIAS (primarily), also variance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GRADIENT BOOSTING (Friedman 2001):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F_0(x) = initial prediction (mean/majority class)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 m = 1 to 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Compute residuals: r_im = y_i - F_{m-1}(x_i)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Fit tree T_m to residuals r_i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Update: F_m(x) = F_{m-1}(x) + η·T_m(x)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Final: F(x) = F_0 + η Σ_{m=1}^{M} T_m(x)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η = learning rate (0.01–0.3), M = num trees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XGBOOST IMPROVEMENTS: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 Second-order Taylor expansion of loss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 L1/L2 regularisation on tree structure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 Column (feature) subsampling per split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 Parallel split finding (histogram method)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493008" cy="493776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F_m(x) = F_{m-1}(x) + η · T_m(x)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where T_m minimises Σ L(y_i, F_{m-1}(x_i) + T_m(x_i))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0136" y="1014984"/>
            <a:ext cx="336499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15000" y="1014984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XGBOOST RESULTS &amp; COMPARISON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0136" y="1243584"/>
            <a:ext cx="336499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33288" y="1271016"/>
            <a:ext cx="321868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XGBoost hyperparameters (tuned):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n_estimators=400, η=0.05, max_depth=5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subsample=0.8, colsample_bytree=0.8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reg_alpha=0.1, reg_lambda=1.0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IADS Test Results: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Overall Accuracy:  96.4%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Macro F1:          0.963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AB Recall:         96.8% (↑ vs LR's 87.4%!)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Training time:     18.6 sec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Inference:         0.7 ms  ← very fast!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VS RANDOM FOREST: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XGBoost Acc: 96.4%  vs RF: 97.5% (RF slightly better)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XGBoost: faster inference (0.7ms vs 2.8ms)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XGBoost: smaller model size (better for embedded)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XGBoost: more hyperparameters to tune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RULE OF THUMB: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Tabular data: XGBoost or RF usually best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Image/Signal raw: CNN usually best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Sequence: LSTM/Transformer</a:t>
            </a:r>
            <a:endParaRPr lang="en-US" sz="8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Support Vector Machine — Hard Margin Formulation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Shape 14"/>
          <p:cNvSpPr/>
          <p:nvPr/>
        </p:nvSpPr>
        <p:spPr>
          <a:xfrm>
            <a:off x="27432" y="2591714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8. SVM: Hard Margin</a:t>
            </a:r>
            <a:endParaRPr lang="en-US" sz="68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SVM: Maximum Margin Classifier — The Geometry of Optimal Separation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HARD MARGIN SVM (LINEARLY SEPARABLE)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172968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Binary problem: y_i ∈ {-1, +1}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Decision boundary: w^T x + b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Classification:    ŷ = sign(w^T x + b)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MARGIN = perpendicular distance between: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Positive hyperplane: w^T x + b = +1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Negative hyperplane: w^T x + b = 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Width of margin = 2 / ||w||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HARD MARGIN PRIMAL PROBLEM: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Maximise:  2/||w|| ≡ Minimise: ½||w||²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Subject to: y_i(w^T x_i + b) ≥ 1 ∀ i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DUAL PROBLEM (Lagrangian, αᵢ ≥ 0):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Maximise: Σ αᵢ - ½ Σᵢ Σⱼ αᵢαⱼ yᵢyⱼ xᵢ^T xⱼ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Subject to: Σ αᵢ yᵢ = 0,  αᵢ ≥ 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SOLUTION: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w* = Σᵢ αᵢ* yᵢ xᵢ  (only support vectors: αᵢ&gt;0)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ŷ = sign(Σᵢ αᵢ yᵢ xᵢ^T x + b)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SUPPORT VECTORS: Points ON the margin boundaries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Only these determine the hyperplane — sparse!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4480560"/>
            <a:ext cx="3632728" cy="228600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526280"/>
            <a:ext cx="3449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Optimal: min ½||w||²  s.t.  y_i(w^Tx_i+b) ≥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Margin width = 2/||w*||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GEOMETRIC INTUITION FOR IADS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Why MAXIMUM MARGIN matters in defence: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Imagine AB and FF signals forming two clusters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in feature space. Multiple hyperplanes can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separate them. SVM finds the ONE with maximum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gap from both clusters.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Maximum margin = maximum robustness to: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Sensor noise on new signals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Slight adversary variation in signature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Measurement error in PRF/frequency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"The hyperplane that is farthest from training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points is most likely to generalise correctly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to unseen, slightly perturbed signals"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KEY PROPERTIES: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✔ Only support vectors matter (sparse solution)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✔ Unique optimal solution (convex QP)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✔ Depends only on pairwise dot products x_i^T x_j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→ enables the KERNEL TRICK (next slide!)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✗ Fails when data is not linearly separable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→ need SOFT MARGIN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SVM — Soft Margin &amp; the C Hyperparameter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27432" y="2844394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 SVM: Soft Margin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Soft Margin SVM: Tolerating Violations for Real-World Data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SOFT MARGIN FORMULATION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182112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Real data is NOT perfectly separable!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Solution: Allow margin VIOLATIONS with penalty.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Slack variables ξᵢ ≥ 0: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y_i(w^T xᵢ + b) ≥ 1 - ξᵢ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ξᵢ = 0: correctly classified, outside margin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0 &lt; ξᵢ &lt; 1: inside margin but correct side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ξᵢ &gt; 1: MISCLASSIFIED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SOFT MARGIN PRIMAL: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Minimise: ½||w||² + C · Σᵢ ξᵢ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Subject to: y_i(w^T xᵢ + b) ≥ 1 - ξᵢ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  ξᵢ ≥ 0  ∀ i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 HYPERPARAMETER (regularisation):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Small C: Allow more violations → wide margin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→ More regularisation, may underfit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Large C: Penalise violations heavily → narrow margin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→ Less regularisation, may overfit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 = ∞: Hard margin (no violations allowed)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TUNING C (IADS 5-class, RBF kernel):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C=0.01: Val Acc 74.2%  (too regularised)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C=0.1:  Val Acc 84.6%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C=1.0:  Val Acc 91.3%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C=10:   Val Acc 94.8%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C=100:  Val Acc 95.4%  ← optimal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C=1000: Val Acc 95.1%  (slight overfit)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C=10000:Val Acc 93.8%  (overfit)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IADS SOFT MARGIN RESULTS (C=100)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99856" y="1243584"/>
            <a:ext cx="3225272" cy="201168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73008" y="1271016"/>
            <a:ext cx="307896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Using RBF kernel (see next slide), C=100: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Class       Precision  Recall    F1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────────────────────────────────────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FF           0.961     0.973    0.967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AB           0.967     0.952    0.959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CM           0.971     0.965    0.968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UV           0.958     0.961    0.960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CI           0.978     0.984    0.981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────────────────────────────────────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Macro F1:   0.967   Overall: 96.7%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Number of Support Vectors: 1,247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(21.6% of training data — fairly sparse!)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Training time: 38.4 sec (QP solver)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Inference:     4.1 ms (kernel eval × SVs)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Note: SVM inference scales with #SVs — 1,247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multiplication operations per test sample.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5799856" y="3319272"/>
            <a:ext cx="3225272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91296" y="3364992"/>
            <a:ext cx="3042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99856" y="3858768"/>
            <a:ext cx="3225272" cy="56692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863864" y="3913632"/>
            <a:ext cx="3097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DEFENCE IMPLICATION: In asymmetric-cost scenarios (missing an AB is worse than false-alarming), adjust C for the critical class — or use class-weighted C: C_AB = 5×C_others. Penalty is not equal across all violations.</a:t>
            </a:r>
            <a:endParaRPr lang="en-US" sz="880" dirty="0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872" y="3401568"/>
            <a:ext cx="296924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SVM — The Kernel Trick: Non-linear Classification via Implicit Feature Maps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Shape 16"/>
          <p:cNvSpPr/>
          <p:nvPr/>
        </p:nvSpPr>
        <p:spPr>
          <a:xfrm>
            <a:off x="27432" y="3097073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10. SVM: Kernel Trick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Kernel Trick: Classify Non-linearly Without Explicit Feature Mapping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FUNDAMENTAL INSIGHT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60604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Recall SVM dual: depends only on dot products xᵢ^T xⱼ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KERNEL FUNCTION: K(xᵢ, xⱼ) = φ(xᵢ)^T φ(xⱼ)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Implicitly computes dot product in higher-dim space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WITHOUT ever computing φ(x) explicitly!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LINEAR KERNEL (no mapping):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K(x, x') = x^T x'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POLYNOMIAL KERNEL (degree d):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K(x, x') = (x^T x' + c)^d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d=2: maps R^11 → R^78  (all pairs of features!)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RBF (RADIAL BASIS FUNCTION) / GAUSSIAN KERNEL: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K(x, x') = exp(-γ||x - x'||²)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γ: controls "width" of influence of each point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γ small: smooth boundary, less flexible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γ large: sharp boundary, more flexible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IADS tuned γ: 0.08 (via cross-validation)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Large γ=1.0: Val Acc 74.1% (too local, overfit)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Opt γ=0.08:  Val Acc 95.4% ← best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Small γ=0.01: Val Acc 89.2% (too smooth)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493008" cy="493776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0136" y="1014984"/>
            <a:ext cx="336499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15000" y="1014984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MERCER'S THEOREM &amp; DEFENCE KERNELS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0136" y="1243584"/>
            <a:ext cx="336499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33288" y="1271016"/>
            <a:ext cx="321868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Valid kernel iff K is symmetric positive semi-definite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(Mercer's theorem — guarantees implicit inner product)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DEFENCE-SPECIFIC KERNELS: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Spectral Similarity Kernel (radar signals):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K(x,y) = exp(-||FFT(x)-FFT(y)||²/2σ²)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Measures distance in frequency domain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DTW Kernel (trajectory matching):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K(x,y) = exp(-DTW(x,y)/σ)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DTW = Dynamic Time Warping distance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Invariant to speed variations in tracks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String Kernel (SIGINT intercept matching):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K(s₁,s₂) = |{common k-grams}| / |total k-grams|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Matches communication patterns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RBF GRID SEARCH RESULTS (γ × C):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   C=1    C=10   C=100  C=1000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γ=0.001 81.2%  83.7%  85.2%  85.3%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γ=0.01  88.4%  91.2%  93.8%  93.9%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γ=0.08  91.3%  94.8%  95.4%  95.1%  ← row max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γ=0.5   88.7%  90.1%  92.3%  91.8%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γ=2.0   74.2%  75.8%  76.4%  76.1%</a:t>
            </a:r>
            <a:endParaRPr lang="en-US" sz="83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236976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Naïve Bayes — Probabilistic Classification via Bayes' Theorem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19" name="Shape 17"/>
          <p:cNvSpPr/>
          <p:nvPr/>
        </p:nvSpPr>
        <p:spPr>
          <a:xfrm>
            <a:off x="27432" y="3349752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11. Naive Bayes</a:t>
            </a:r>
            <a:endParaRPr lang="en-US" sz="68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Naïve Bayes: Prior × Likelihood = Posterior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MATHEMATICAL FOUNDATION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Bayes' Theorem applied to classification: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P(y=c | x) ∝ P(y=c) · P(x | y=c)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Posterior  ∝  Prior × Likelihood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NAIVE INDEPENDENCE ASSUMPTION: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P(x | y=c) = Π_{j=1}^{d} P(x_j | y=c)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"Each feature is CONDITIONALLY INDEPENDENT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given the class"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(Almost never true — but often works well!)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For continuous features (Gaussian NB):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P(x_j | y=c) = N(x_j; μ_{cj}, σ²_{cj})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μ_{cj} = mean of feature j in class 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σ²_{cj} = variance of feature j in class c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PREDICTION: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ŷ = argmax_c [log P(y=c) + Σⱼ log P(xⱼ|y=c)]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(log-space for numerical stability)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TRAINING: Just compute class means &amp; variances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Extremely fast! O(N·d) total training time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≈ 0.03 sec for our IADS dataset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632728" cy="493776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44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GAUSSIAN NB WORKED EXAMPLE (AB vs FF)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176479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Training data class statistics: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Feature x3 (PRF, Hz):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FF class: μ=1,040, σ=185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AB class: μ=2,280, σ=310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New signal: PRF = 1,950 Hz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P(PRF=1950 | FF) = N(1950; 1040, 185²)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= (1/185√2π) exp(−(1950−1040)²/(2×185²))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= N(z) where z=(1950−1040)/185 = 4.92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≈ 4.7×10⁻⁷  ← very unlikely to be FF!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P(PRF=1950 | AB) = N(1950; 2280, 310²)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z = (1950−2280)/310 = −1.065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≈ 0.0023  ← much more plausible!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Classifier strongly favours AB → correct!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99856" y="3072384"/>
            <a:ext cx="3225272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854720" y="30723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IADS RESULTS &amp; WHEN TO USE NB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99856" y="3300984"/>
            <a:ext cx="3225272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873008" y="3328416"/>
            <a:ext cx="30789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Gaussian NB IADS Test Results: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Overall Acc:  83.1%   Macro F1: 0.826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AB Recall:    79.3%  ← lowest of all classifiers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WHEN NB WORKS WELL: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✔ High-dimensional text classification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✔ Very fast baseline needed quickly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✔ Small dataset (few parameters to estimate)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✔ Streaming/online classification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WHEN NB FAILS: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✗ Strong feature correlations (PRF + Speed 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correlated for AB — violates independence!)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✗ Class-conditional distributions are non-Gaussian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✗ Important feature interactions exist</a:t>
            </a:r>
            <a:endParaRPr lang="en-US" sz="850" dirty="0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376696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Multi-class Classification Strategies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432" y="3602431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12. Multi-class Strategies</a:t>
            </a:r>
            <a:endParaRPr lang="en-US" sz="68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Extending Binary Classifiers to 5 Classes (IADS)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255520" cy="27432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 vs REST (OvR)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39112" y="1325880"/>
            <a:ext cx="2255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80744"/>
            <a:ext cx="21275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Train C binary classifiers: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f_FF vs 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f_AB vs 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f_CM vs 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f_UV vs 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f_CI vs 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Prediction: argmax_c f_c(x)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Pros: Simple, parallelisable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Cons: Class imbalance in each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sub-problem (1 vs 4 others)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367784" y="1014984"/>
            <a:ext cx="2255520" cy="27432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367784" y="1014984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 vs ONE (OvO)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67784" y="1325880"/>
            <a:ext cx="2255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431792" y="1380744"/>
            <a:ext cx="21275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Train C(C-1)/2 classifiers: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5 classes → 10 classifiers!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FF-vs-AB, FF-vs-CM, ...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(all pairwise combinations)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Vote: class winning most battles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Pros: Balanced sub-problems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Cons: Many classifiers; 10 for 5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classes, 45 for 10 classes!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696456" y="1014984"/>
            <a:ext cx="2255520" cy="2743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6696456" y="1014984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 MULTI-CLASS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96456" y="1325880"/>
            <a:ext cx="2255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6760464" y="1380744"/>
            <a:ext cx="21275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Native multi-class support: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Softmax (LR/NN): direct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Decision Tree: direct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Random Forest: direct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Naive Bayes: direct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SVM: typically OvO internally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Logistic Reg: Softmax extension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P(y=c|x) = Softmax(W_c x)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Best practice: use native when available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039112" y="2697480"/>
            <a:ext cx="6986016" cy="438912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103120" y="27523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IADS 5-CLASS STRATEGY COMPARISON: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OvR+LR: Acc 89.7% | OvO+LR: 90.1% | Softmax+LR: 89.9%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For SVM: OvO achieves 96.7% (sklearn default for SVM)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For RF/Tree: native multi-class always recommended — no strategy needed.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39112" y="3209544"/>
            <a:ext cx="343814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2093976" y="320954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CALIBRATED PROBABILITIES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039112" y="3438144"/>
            <a:ext cx="3438144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112264" y="3465576"/>
            <a:ext cx="3291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Raw classifier scores ≠ probabilities.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Calibration transforms scores to P(y|x).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Platt Scaling (SVM): fit sigmoid to raw scores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Isotonic Regression: monotone non-parametric fit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WHY CARE IN IADS?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Commander needs: "80% confident this is AB"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Not just a label — the UNCERTAINTY matters!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Calibrated prob → fuse with human judgement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6984" y="320954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5641848" y="320954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REJECTION OPTION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86984" y="3438144"/>
            <a:ext cx="3438144" cy="121615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5660136" y="3465576"/>
            <a:ext cx="3291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Add a "REJECT" class: predict label only when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max class probability exceeds threshold θ.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IF max P(y=c|x) &lt; θ → REFER TO HUMAN ANALYST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IADS Example (θ=0.6):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Sent to human: 4.2% of all signals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Human accuracy: 98.7% on these uncertain cases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System+Human combined accuracy: 99.1%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→ Human-in-the-loop is always safer for defence!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Class Imbalance — When Your Dataset Lies to You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Class Imbalance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Class Imbalance: The Silent Killer of Defence AI Models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IMBALANCE PROBLEM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258568"/>
          </a:xfrm>
          <a:prstGeom prst="rect">
            <a:avLst/>
          </a:prstGeom>
          <a:solidFill>
            <a:srgbClr val="FF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Our IADS training set: 5 equal classes (1,700 each)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→ perfectly balanced — ARTIFICIAL!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REAL IADS scenario (actual signal distribution):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CI (Civilian): 78.4% of all signals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FF (Friendly): 14.2%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UV (UAV):        4.8%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CM (Missile):    1.8%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AB (Bomber):     0.8%  ← rarest, most critical!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TRAIN ON REAL DISTRIBUTION → DANGER: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Model predicts "Civilian" for 92% of all signals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78.4% + 14.2% = 92.6% accuracy!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AB Recall = 12.3% (misses 87.7% of bombers!)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Model is clinically useless for threat detection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WHY THIS HAPPENS: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Loss function minimised by predicting majority class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Gradient descent "learns" the imbalance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AB: 0.8% of data = tiny gradient signal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566160"/>
            <a:ext cx="3438144" cy="56692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03120" y="362102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DATA PITFALL: High ACCURACY on imbalanced data is MEANINGLESS. Always report Precision, Recall, and F1 per class. A "98% accurate" model may have 0% recall on the most important class.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FIXES FOR CLASS IMBALANCE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86984" y="1243584"/>
            <a:ext cx="3438144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① OVERSAMPLING MINORITY CLASS: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SMOTE: Synthetic Minority Oversampling Technique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Generate synthetic AB samples by interpolating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between real AB samples in feature space.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Creates k synthetic points per real sample.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AB: 43 → 1,700 synthetic samples added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Result: AB Recall improves 12% → 89%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② UNDERSAMPLING MAJORITY CLASS: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Randomly remove CI samples until balanced.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Fast but LOSES information from majority class.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Risk: discard useful CI boundary information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③ CLASS-WEIGHTED LOSS: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Assign higher loss to minority class errors.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weight_AB = N_total / (N_classes × N_AB)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= 5780 / (5 × 43) = 26.9×  (vs 1.0×)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Most natural and recommended approach for RF/LR!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④ THRESHOLD ADJUSTMENT: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Move decision threshold for AB from 0.5 → 0.15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If P(AB|x) &gt; 0.15 → classify as AB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Trades more FP (alerts) for higher Recall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Appropriate when FN cost &gt;&gt; FP cost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Algorithm Comparison — All 6 Classifiers on IADS Dataset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Algorithm Comparison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Head-to-Head: 6 Classifiers on 5-Class IADS Threat Classification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3774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335024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Algorithm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1014984"/>
            <a:ext cx="713232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 Acc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4087368" y="1014984"/>
            <a:ext cx="713232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Test Acc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1014984"/>
            <a:ext cx="713232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F1-Macro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513832" y="1014984"/>
            <a:ext cx="713232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AB Recall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227064" y="1014984"/>
            <a:ext cx="713232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 (s)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6940296" y="1014984"/>
            <a:ext cx="713232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Infer (ms)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653528" y="1014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SVs?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039112" y="1252728"/>
            <a:ext cx="6986016" cy="37490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2039112" y="1252728"/>
            <a:ext cx="1335024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Logistic Regression</a:t>
            </a:r>
            <a:endParaRPr lang="en-US" sz="820" dirty="0"/>
          </a:p>
        </p:txBody>
      </p:sp>
      <p:sp>
        <p:nvSpPr>
          <p:cNvPr id="42" name="Text 40"/>
          <p:cNvSpPr txBox="1"/>
          <p:nvPr/>
        </p:nvSpPr>
        <p:spPr>
          <a:xfrm>
            <a:off x="3374136" y="125272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95.4%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125272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89.7%</a:t>
            </a:r>
            <a:endParaRPr lang="en-US" sz="820" dirty="0"/>
          </a:p>
        </p:txBody>
      </p:sp>
      <p:sp>
        <p:nvSpPr>
          <p:cNvPr id="44" name="Text 42"/>
          <p:cNvSpPr txBox="1"/>
          <p:nvPr/>
        </p:nvSpPr>
        <p:spPr>
          <a:xfrm>
            <a:off x="4800600" y="125272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0.897</a:t>
            </a:r>
            <a:endParaRPr lang="en-US" sz="820" dirty="0"/>
          </a:p>
        </p:txBody>
      </p:sp>
      <p:sp>
        <p:nvSpPr>
          <p:cNvPr id="45" name="Text 43"/>
          <p:cNvSpPr txBox="1"/>
          <p:nvPr/>
        </p:nvSpPr>
        <p:spPr>
          <a:xfrm>
            <a:off x="5513832" y="125272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87.4%</a:t>
            </a:r>
            <a:endParaRPr lang="en-US" sz="820" dirty="0"/>
          </a:p>
        </p:txBody>
      </p:sp>
      <p:sp>
        <p:nvSpPr>
          <p:cNvPr id="46" name="Text 44"/>
          <p:cNvSpPr txBox="1"/>
          <p:nvPr/>
        </p:nvSpPr>
        <p:spPr>
          <a:xfrm>
            <a:off x="6227064" y="125272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0.8</a:t>
            </a:r>
            <a:endParaRPr lang="en-US" sz="820" dirty="0"/>
          </a:p>
        </p:txBody>
      </p:sp>
      <p:sp>
        <p:nvSpPr>
          <p:cNvPr id="47" name="Text 45"/>
          <p:cNvSpPr txBox="1"/>
          <p:nvPr/>
        </p:nvSpPr>
        <p:spPr>
          <a:xfrm>
            <a:off x="6940296" y="125272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0.09</a:t>
            </a:r>
            <a:endParaRPr lang="en-US" sz="820" dirty="0"/>
          </a:p>
        </p:txBody>
      </p:sp>
      <p:sp>
        <p:nvSpPr>
          <p:cNvPr id="48" name="Text 46"/>
          <p:cNvSpPr txBox="1"/>
          <p:nvPr/>
        </p:nvSpPr>
        <p:spPr>
          <a:xfrm>
            <a:off x="7653528" y="1252728"/>
            <a:ext cx="457200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No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1627632"/>
            <a:ext cx="698601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039112" y="1627632"/>
            <a:ext cx="1335024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k-NN (k=21)</a:t>
            </a:r>
            <a:endParaRPr lang="en-US" sz="820" dirty="0"/>
          </a:p>
        </p:txBody>
      </p:sp>
      <p:sp>
        <p:nvSpPr>
          <p:cNvPr id="51" name="Text 49"/>
          <p:cNvSpPr txBox="1"/>
          <p:nvPr/>
        </p:nvSpPr>
        <p:spPr>
          <a:xfrm>
            <a:off x="3374136" y="162763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91.8%</a:t>
            </a:r>
            <a:endParaRPr lang="en-US" sz="82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162763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89.8%</a:t>
            </a:r>
            <a:endParaRPr lang="en-US" sz="820" dirty="0"/>
          </a:p>
        </p:txBody>
      </p:sp>
      <p:sp>
        <p:nvSpPr>
          <p:cNvPr id="53" name="Text 51"/>
          <p:cNvSpPr txBox="1"/>
          <p:nvPr/>
        </p:nvSpPr>
        <p:spPr>
          <a:xfrm>
            <a:off x="4800600" y="162763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0.894</a:t>
            </a:r>
            <a:endParaRPr lang="en-US" sz="820" dirty="0"/>
          </a:p>
        </p:txBody>
      </p:sp>
      <p:sp>
        <p:nvSpPr>
          <p:cNvPr id="54" name="Text 52"/>
          <p:cNvSpPr txBox="1"/>
          <p:nvPr/>
        </p:nvSpPr>
        <p:spPr>
          <a:xfrm>
            <a:off x="5513832" y="162763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88.2%</a:t>
            </a:r>
            <a:endParaRPr lang="en-US" sz="820" dirty="0"/>
          </a:p>
        </p:txBody>
      </p:sp>
      <p:sp>
        <p:nvSpPr>
          <p:cNvPr id="55" name="Text 53"/>
          <p:cNvSpPr txBox="1"/>
          <p:nvPr/>
        </p:nvSpPr>
        <p:spPr>
          <a:xfrm>
            <a:off x="6227064" y="162763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—</a:t>
            </a:r>
            <a:endParaRPr lang="en-US" sz="820" dirty="0"/>
          </a:p>
        </p:txBody>
      </p:sp>
      <p:sp>
        <p:nvSpPr>
          <p:cNvPr id="56" name="Text 54"/>
          <p:cNvSpPr txBox="1"/>
          <p:nvPr/>
        </p:nvSpPr>
        <p:spPr>
          <a:xfrm>
            <a:off x="6940296" y="162763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12.2</a:t>
            </a:r>
            <a:endParaRPr lang="en-US" sz="820" dirty="0"/>
          </a:p>
        </p:txBody>
      </p:sp>
      <p:sp>
        <p:nvSpPr>
          <p:cNvPr id="57" name="Text 55"/>
          <p:cNvSpPr txBox="1"/>
          <p:nvPr/>
        </p:nvSpPr>
        <p:spPr>
          <a:xfrm>
            <a:off x="7653528" y="1627632"/>
            <a:ext cx="457200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No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2039112" y="2002536"/>
            <a:ext cx="6986016" cy="37490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Text 57"/>
          <p:cNvSpPr txBox="1"/>
          <p:nvPr/>
        </p:nvSpPr>
        <p:spPr>
          <a:xfrm>
            <a:off x="2039112" y="2002536"/>
            <a:ext cx="1335024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Decision Tree (d=10)</a:t>
            </a:r>
            <a:endParaRPr lang="en-US" sz="820" dirty="0"/>
          </a:p>
        </p:txBody>
      </p:sp>
      <p:sp>
        <p:nvSpPr>
          <p:cNvPr id="60" name="Text 58"/>
          <p:cNvSpPr txBox="1"/>
          <p:nvPr/>
        </p:nvSpPr>
        <p:spPr>
          <a:xfrm>
            <a:off x="3374136" y="2002536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95.7%</a:t>
            </a:r>
            <a:endParaRPr lang="en-US" sz="820" dirty="0"/>
          </a:p>
        </p:txBody>
      </p:sp>
      <p:sp>
        <p:nvSpPr>
          <p:cNvPr id="61" name="Text 59"/>
          <p:cNvSpPr txBox="1"/>
          <p:nvPr/>
        </p:nvSpPr>
        <p:spPr>
          <a:xfrm>
            <a:off x="4087368" y="2002536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91.8%</a:t>
            </a:r>
            <a:endParaRPr lang="en-US" sz="82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2002536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0.915</a:t>
            </a:r>
            <a:endParaRPr lang="en-US" sz="820" dirty="0"/>
          </a:p>
        </p:txBody>
      </p:sp>
      <p:sp>
        <p:nvSpPr>
          <p:cNvPr id="63" name="Text 61"/>
          <p:cNvSpPr txBox="1"/>
          <p:nvPr/>
        </p:nvSpPr>
        <p:spPr>
          <a:xfrm>
            <a:off x="5513832" y="2002536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90.4%</a:t>
            </a:r>
            <a:endParaRPr lang="en-US" sz="820" dirty="0"/>
          </a:p>
        </p:txBody>
      </p:sp>
      <p:sp>
        <p:nvSpPr>
          <p:cNvPr id="64" name="Text 62"/>
          <p:cNvSpPr txBox="1"/>
          <p:nvPr/>
        </p:nvSpPr>
        <p:spPr>
          <a:xfrm>
            <a:off x="6227064" y="2002536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0.5</a:t>
            </a:r>
            <a:endParaRPr lang="en-US" sz="820" dirty="0"/>
          </a:p>
        </p:txBody>
      </p:sp>
      <p:sp>
        <p:nvSpPr>
          <p:cNvPr id="65" name="Text 63"/>
          <p:cNvSpPr txBox="1"/>
          <p:nvPr/>
        </p:nvSpPr>
        <p:spPr>
          <a:xfrm>
            <a:off x="6940296" y="2002536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0.15</a:t>
            </a:r>
            <a:endParaRPr lang="en-US" sz="820" dirty="0"/>
          </a:p>
        </p:txBody>
      </p:sp>
      <p:sp>
        <p:nvSpPr>
          <p:cNvPr id="66" name="Text 64"/>
          <p:cNvSpPr txBox="1"/>
          <p:nvPr/>
        </p:nvSpPr>
        <p:spPr>
          <a:xfrm>
            <a:off x="7653528" y="2002536"/>
            <a:ext cx="457200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No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2039112" y="2377440"/>
            <a:ext cx="6986016" cy="374904"/>
          </a:xfrm>
          <a:prstGeom prst="rect">
            <a:avLst/>
          </a:prstGeom>
          <a:solidFill>
            <a:srgbClr val="E0F4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Text 66"/>
          <p:cNvSpPr txBox="1"/>
          <p:nvPr/>
        </p:nvSpPr>
        <p:spPr>
          <a:xfrm>
            <a:off x="2039112" y="2377440"/>
            <a:ext cx="1335024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Random Forest (B=500)</a:t>
            </a:r>
            <a:endParaRPr lang="en-US" sz="820" dirty="0"/>
          </a:p>
        </p:txBody>
      </p:sp>
      <p:sp>
        <p:nvSpPr>
          <p:cNvPr id="69" name="Text 67"/>
          <p:cNvSpPr txBox="1"/>
          <p:nvPr/>
        </p:nvSpPr>
        <p:spPr>
          <a:xfrm>
            <a:off x="3374136" y="2377440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99.2%</a:t>
            </a:r>
            <a:endParaRPr lang="en-US" sz="820" dirty="0"/>
          </a:p>
        </p:txBody>
      </p:sp>
      <p:sp>
        <p:nvSpPr>
          <p:cNvPr id="70" name="Text 68"/>
          <p:cNvSpPr txBox="1"/>
          <p:nvPr/>
        </p:nvSpPr>
        <p:spPr>
          <a:xfrm>
            <a:off x="4087368" y="2377440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97.5%</a:t>
            </a:r>
            <a:endParaRPr lang="en-US" sz="820" dirty="0"/>
          </a:p>
        </p:txBody>
      </p:sp>
      <p:sp>
        <p:nvSpPr>
          <p:cNvPr id="71" name="Text 69"/>
          <p:cNvSpPr txBox="1"/>
          <p:nvPr/>
        </p:nvSpPr>
        <p:spPr>
          <a:xfrm>
            <a:off x="4800600" y="2377440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0.975</a:t>
            </a:r>
            <a:endParaRPr lang="en-US" sz="820" dirty="0"/>
          </a:p>
        </p:txBody>
      </p:sp>
      <p:sp>
        <p:nvSpPr>
          <p:cNvPr id="72" name="Text 70"/>
          <p:cNvSpPr txBox="1"/>
          <p:nvPr/>
        </p:nvSpPr>
        <p:spPr>
          <a:xfrm>
            <a:off x="5513832" y="2377440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96.1%</a:t>
            </a:r>
            <a:endParaRPr lang="en-US" sz="820" dirty="0"/>
          </a:p>
        </p:txBody>
      </p:sp>
      <p:sp>
        <p:nvSpPr>
          <p:cNvPr id="73" name="Text 71"/>
          <p:cNvSpPr txBox="1"/>
          <p:nvPr/>
        </p:nvSpPr>
        <p:spPr>
          <a:xfrm>
            <a:off x="6227064" y="2377440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12.4</a:t>
            </a:r>
            <a:endParaRPr lang="en-US" sz="820" dirty="0"/>
          </a:p>
        </p:txBody>
      </p:sp>
      <p:sp>
        <p:nvSpPr>
          <p:cNvPr id="74" name="Text 72"/>
          <p:cNvSpPr txBox="1"/>
          <p:nvPr/>
        </p:nvSpPr>
        <p:spPr>
          <a:xfrm>
            <a:off x="6940296" y="2377440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2.8</a:t>
            </a:r>
            <a:endParaRPr lang="en-US" sz="820" dirty="0"/>
          </a:p>
        </p:txBody>
      </p:sp>
      <p:sp>
        <p:nvSpPr>
          <p:cNvPr id="75" name="Text 73"/>
          <p:cNvSpPr txBox="1"/>
          <p:nvPr/>
        </p:nvSpPr>
        <p:spPr>
          <a:xfrm>
            <a:off x="7653528" y="2377440"/>
            <a:ext cx="457200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No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2039112" y="2752344"/>
            <a:ext cx="6986016" cy="37490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7" name="Text 75"/>
          <p:cNvSpPr txBox="1"/>
          <p:nvPr/>
        </p:nvSpPr>
        <p:spPr>
          <a:xfrm>
            <a:off x="2039112" y="2752344"/>
            <a:ext cx="1335024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XGBoost (M=400)</a:t>
            </a:r>
            <a:endParaRPr lang="en-US" sz="820" dirty="0"/>
          </a:p>
        </p:txBody>
      </p:sp>
      <p:sp>
        <p:nvSpPr>
          <p:cNvPr id="78" name="Text 76"/>
          <p:cNvSpPr txBox="1"/>
          <p:nvPr/>
        </p:nvSpPr>
        <p:spPr>
          <a:xfrm>
            <a:off x="3374136" y="2752344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98.7%</a:t>
            </a:r>
            <a:endParaRPr lang="en-US" sz="820" dirty="0"/>
          </a:p>
        </p:txBody>
      </p:sp>
      <p:sp>
        <p:nvSpPr>
          <p:cNvPr id="79" name="Text 77"/>
          <p:cNvSpPr txBox="1"/>
          <p:nvPr/>
        </p:nvSpPr>
        <p:spPr>
          <a:xfrm>
            <a:off x="4087368" y="2752344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96.4%</a:t>
            </a:r>
            <a:endParaRPr lang="en-US" sz="820" dirty="0"/>
          </a:p>
        </p:txBody>
      </p:sp>
      <p:sp>
        <p:nvSpPr>
          <p:cNvPr id="80" name="Text 78"/>
          <p:cNvSpPr txBox="1"/>
          <p:nvPr/>
        </p:nvSpPr>
        <p:spPr>
          <a:xfrm>
            <a:off x="4800600" y="2752344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0.963</a:t>
            </a:r>
            <a:endParaRPr lang="en-US" sz="820" dirty="0"/>
          </a:p>
        </p:txBody>
      </p:sp>
      <p:sp>
        <p:nvSpPr>
          <p:cNvPr id="81" name="Text 79"/>
          <p:cNvSpPr txBox="1"/>
          <p:nvPr/>
        </p:nvSpPr>
        <p:spPr>
          <a:xfrm>
            <a:off x="5513832" y="2752344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96.8%</a:t>
            </a:r>
            <a:endParaRPr lang="en-US" sz="820" dirty="0"/>
          </a:p>
        </p:txBody>
      </p:sp>
      <p:sp>
        <p:nvSpPr>
          <p:cNvPr id="82" name="Text 80"/>
          <p:cNvSpPr txBox="1"/>
          <p:nvPr/>
        </p:nvSpPr>
        <p:spPr>
          <a:xfrm>
            <a:off x="6227064" y="2752344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18.6</a:t>
            </a:r>
            <a:endParaRPr lang="en-US" sz="820" dirty="0"/>
          </a:p>
        </p:txBody>
      </p:sp>
      <p:sp>
        <p:nvSpPr>
          <p:cNvPr id="83" name="Text 81"/>
          <p:cNvSpPr txBox="1"/>
          <p:nvPr/>
        </p:nvSpPr>
        <p:spPr>
          <a:xfrm>
            <a:off x="6940296" y="2752344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0.7</a:t>
            </a:r>
            <a:endParaRPr lang="en-US" sz="820" dirty="0"/>
          </a:p>
        </p:txBody>
      </p:sp>
      <p:sp>
        <p:nvSpPr>
          <p:cNvPr id="84" name="Text 82"/>
          <p:cNvSpPr txBox="1"/>
          <p:nvPr/>
        </p:nvSpPr>
        <p:spPr>
          <a:xfrm>
            <a:off x="7653528" y="2752344"/>
            <a:ext cx="457200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No</a:t>
            </a:r>
            <a:endParaRPr lang="en-US" sz="820" dirty="0"/>
          </a:p>
        </p:txBody>
      </p:sp>
      <p:sp>
        <p:nvSpPr>
          <p:cNvPr id="85" name="Shape 83"/>
          <p:cNvSpPr/>
          <p:nvPr/>
        </p:nvSpPr>
        <p:spPr>
          <a:xfrm>
            <a:off x="2039112" y="3127248"/>
            <a:ext cx="698601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6" name="Text 84"/>
          <p:cNvSpPr txBox="1"/>
          <p:nvPr/>
        </p:nvSpPr>
        <p:spPr>
          <a:xfrm>
            <a:off x="2039112" y="3127248"/>
            <a:ext cx="1335024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SVM (RBF, C=100)</a:t>
            </a:r>
            <a:endParaRPr lang="en-US" sz="820" dirty="0"/>
          </a:p>
        </p:txBody>
      </p:sp>
      <p:sp>
        <p:nvSpPr>
          <p:cNvPr id="87" name="Text 85"/>
          <p:cNvSpPr txBox="1"/>
          <p:nvPr/>
        </p:nvSpPr>
        <p:spPr>
          <a:xfrm>
            <a:off x="3374136" y="312724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97.8%</a:t>
            </a:r>
            <a:endParaRPr lang="en-US" sz="820" dirty="0"/>
          </a:p>
        </p:txBody>
      </p:sp>
      <p:sp>
        <p:nvSpPr>
          <p:cNvPr id="88" name="Text 86"/>
          <p:cNvSpPr txBox="1"/>
          <p:nvPr/>
        </p:nvSpPr>
        <p:spPr>
          <a:xfrm>
            <a:off x="4087368" y="312724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96.7%</a:t>
            </a:r>
            <a:endParaRPr lang="en-US" sz="820" dirty="0"/>
          </a:p>
        </p:txBody>
      </p:sp>
      <p:sp>
        <p:nvSpPr>
          <p:cNvPr id="89" name="Text 87"/>
          <p:cNvSpPr txBox="1"/>
          <p:nvPr/>
        </p:nvSpPr>
        <p:spPr>
          <a:xfrm>
            <a:off x="4800600" y="312724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0.967</a:t>
            </a:r>
            <a:endParaRPr lang="en-US" sz="820" dirty="0"/>
          </a:p>
        </p:txBody>
      </p:sp>
      <p:sp>
        <p:nvSpPr>
          <p:cNvPr id="90" name="Text 88"/>
          <p:cNvSpPr txBox="1"/>
          <p:nvPr/>
        </p:nvSpPr>
        <p:spPr>
          <a:xfrm>
            <a:off x="5513832" y="312724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95.2%</a:t>
            </a:r>
            <a:endParaRPr lang="en-US" sz="820" dirty="0"/>
          </a:p>
        </p:txBody>
      </p:sp>
      <p:sp>
        <p:nvSpPr>
          <p:cNvPr id="91" name="Text 89"/>
          <p:cNvSpPr txBox="1"/>
          <p:nvPr/>
        </p:nvSpPr>
        <p:spPr>
          <a:xfrm>
            <a:off x="6227064" y="312724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38.4</a:t>
            </a:r>
            <a:endParaRPr lang="en-US" sz="820" dirty="0"/>
          </a:p>
        </p:txBody>
      </p:sp>
      <p:sp>
        <p:nvSpPr>
          <p:cNvPr id="92" name="Text 90"/>
          <p:cNvSpPr txBox="1"/>
          <p:nvPr/>
        </p:nvSpPr>
        <p:spPr>
          <a:xfrm>
            <a:off x="6940296" y="3127248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4.1</a:t>
            </a:r>
            <a:endParaRPr lang="en-US" sz="820" dirty="0"/>
          </a:p>
        </p:txBody>
      </p:sp>
      <p:sp>
        <p:nvSpPr>
          <p:cNvPr id="93" name="Text 91"/>
          <p:cNvSpPr txBox="1"/>
          <p:nvPr/>
        </p:nvSpPr>
        <p:spPr>
          <a:xfrm>
            <a:off x="7653528" y="3127248"/>
            <a:ext cx="457200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1,247</a:t>
            </a:r>
            <a:endParaRPr lang="en-US" sz="820" dirty="0"/>
          </a:p>
        </p:txBody>
      </p:sp>
      <p:sp>
        <p:nvSpPr>
          <p:cNvPr id="94" name="Shape 92"/>
          <p:cNvSpPr/>
          <p:nvPr/>
        </p:nvSpPr>
        <p:spPr>
          <a:xfrm>
            <a:off x="2039112" y="3502152"/>
            <a:ext cx="6986016" cy="374904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Text 93"/>
          <p:cNvSpPr txBox="1"/>
          <p:nvPr/>
        </p:nvSpPr>
        <p:spPr>
          <a:xfrm>
            <a:off x="2039112" y="3502152"/>
            <a:ext cx="1335024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Naive Bayes</a:t>
            </a:r>
            <a:endParaRPr lang="en-US" sz="820" dirty="0"/>
          </a:p>
        </p:txBody>
      </p:sp>
      <p:sp>
        <p:nvSpPr>
          <p:cNvPr id="96" name="Text 94"/>
          <p:cNvSpPr txBox="1"/>
          <p:nvPr/>
        </p:nvSpPr>
        <p:spPr>
          <a:xfrm>
            <a:off x="3374136" y="350215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89.1%</a:t>
            </a:r>
            <a:endParaRPr lang="en-US" sz="820" dirty="0"/>
          </a:p>
        </p:txBody>
      </p:sp>
      <p:sp>
        <p:nvSpPr>
          <p:cNvPr id="97" name="Text 95"/>
          <p:cNvSpPr txBox="1"/>
          <p:nvPr/>
        </p:nvSpPr>
        <p:spPr>
          <a:xfrm>
            <a:off x="4087368" y="350215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0392B"/>
                </a:solidFill>
              </a:rPr>
              <a:t>83.1%</a:t>
            </a:r>
            <a:endParaRPr lang="en-US" sz="820" dirty="0"/>
          </a:p>
        </p:txBody>
      </p:sp>
      <p:sp>
        <p:nvSpPr>
          <p:cNvPr id="98" name="Text 96"/>
          <p:cNvSpPr txBox="1"/>
          <p:nvPr/>
        </p:nvSpPr>
        <p:spPr>
          <a:xfrm>
            <a:off x="4800600" y="350215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0392B"/>
                </a:solidFill>
              </a:rPr>
              <a:t>0.826</a:t>
            </a:r>
            <a:endParaRPr lang="en-US" sz="820" dirty="0"/>
          </a:p>
        </p:txBody>
      </p:sp>
      <p:sp>
        <p:nvSpPr>
          <p:cNvPr id="99" name="Text 97"/>
          <p:cNvSpPr txBox="1"/>
          <p:nvPr/>
        </p:nvSpPr>
        <p:spPr>
          <a:xfrm>
            <a:off x="5513832" y="350215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0392B"/>
                </a:solidFill>
              </a:rPr>
              <a:t>79.3%</a:t>
            </a:r>
            <a:endParaRPr lang="en-US" sz="820" dirty="0"/>
          </a:p>
        </p:txBody>
      </p:sp>
      <p:sp>
        <p:nvSpPr>
          <p:cNvPr id="100" name="Text 98"/>
          <p:cNvSpPr txBox="1"/>
          <p:nvPr/>
        </p:nvSpPr>
        <p:spPr>
          <a:xfrm>
            <a:off x="6227064" y="350215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0392B"/>
                </a:solidFill>
              </a:rPr>
              <a:t>0.03</a:t>
            </a:r>
            <a:endParaRPr lang="en-US" sz="820" dirty="0"/>
          </a:p>
        </p:txBody>
      </p:sp>
      <p:sp>
        <p:nvSpPr>
          <p:cNvPr id="101" name="Text 99"/>
          <p:cNvSpPr txBox="1"/>
          <p:nvPr/>
        </p:nvSpPr>
        <p:spPr>
          <a:xfrm>
            <a:off x="6940296" y="3502152"/>
            <a:ext cx="713232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0392B"/>
                </a:solidFill>
              </a:rPr>
              <a:t>0.02</a:t>
            </a:r>
            <a:endParaRPr lang="en-US" sz="820" dirty="0"/>
          </a:p>
        </p:txBody>
      </p:sp>
      <p:sp>
        <p:nvSpPr>
          <p:cNvPr id="102" name="Text 100"/>
          <p:cNvSpPr txBox="1"/>
          <p:nvPr/>
        </p:nvSpPr>
        <p:spPr>
          <a:xfrm>
            <a:off x="7653528" y="3502152"/>
            <a:ext cx="457200" cy="37490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0392B"/>
                </a:solidFill>
              </a:rPr>
              <a:t>No</a:t>
            </a:r>
            <a:endParaRPr lang="en-US" sz="820" dirty="0"/>
          </a:p>
        </p:txBody>
      </p:sp>
      <p:sp>
        <p:nvSpPr>
          <p:cNvPr id="103" name="Shape 101"/>
          <p:cNvSpPr/>
          <p:nvPr/>
        </p:nvSpPr>
        <p:spPr>
          <a:xfrm>
            <a:off x="2039112" y="3977640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4" name="Text 102"/>
          <p:cNvSpPr txBox="1"/>
          <p:nvPr/>
        </p:nvSpPr>
        <p:spPr>
          <a:xfrm>
            <a:off x="2103120" y="403250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🏆 WINNER: Random Forest (Test 97.5%, AB Recall 96.1%) for accuracy | XGBoost for fastest inference (0.7ms) | Decision Tree for interpretability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NEVER USE: Naive Bayes for this task — AB Recall 79.3% means 20.7% of adversary bombers are MISSED!</a:t>
            </a:r>
            <a:endParaRPr lang="en-US" sz="900" dirty="0"/>
          </a:p>
        </p:txBody>
      </p:sp>
      <p:sp>
        <p:nvSpPr>
          <p:cNvPr id="105" name="Text 103"/>
          <p:cNvSpPr txBox="1"/>
          <p:nvPr/>
        </p:nvSpPr>
        <p:spPr>
          <a:xfrm>
            <a:off x="2039112" y="451713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A7A8A"/>
                </a:solidFill>
              </a:rPr>
              <a:t>GREEN = best performer  |  RED = weakest performer  |  Results on balanced test set (N=1,275 = 15% of 8,500)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Evaluation Metrics Deep Dive — ROC, AUC &amp; Precision-Recall Curves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Algorithm Comparison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Beyond Accuracy: ROC-AUC and Precision-Recall Curves for Defence AI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ROC CURVE &amp; AUC (Binary/OvR)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ROC = Receiver Operating Characteristic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At each classification threshold θ ∈ [0,1]: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TPR (Recall) = TP/(TP+FN)  [Y-axis]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FPR (False Alarm Rate) = FP/(FP+TN)  [X-axis]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ROC CURVE: TPR vs FPR as θ varies 0 → 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Ideal classifier: point (0, 1) = top-left corner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Random classifier: diagonal line AUC = 0.50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AUC = Area Under ROC Curve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AUC = 1.00: perfect classifier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AUC = 0.50: random (useless)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AUC = 0.50 but below diagonal: inverted!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IADS AUC per Class (AB binary OvR):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LR:  AUC = 0.963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DT:  AUC = 0.940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RF:  AUC = 0.998  ← near perfect!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SVM: AUC = 0.996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NB:  AUC = 0.912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At FPR = 0.05 (5% false alarm rate):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RF TPR = 97.8%  SVM TPR = 96.4%  LR TPR = 88.3%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PRECISION-RECALL CURVE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01752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More informative than ROC for IMBALANCED data!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P-R Curve: Precision vs Recall as θ varies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Area Under P-R Curve = Average Precision (AP)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AP = Σ_{k} (R_k - R_{k-1}) × P_k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For AB class on real imbalanced data (0.8% AB):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RF: AP = 0.887 (high → good on minority class)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LR: AP = 0.642 (struggles with rare AB)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NB: AP = 0.441 (poor on rare class)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RECALL-AT-K (operational metric):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"At what recall can I maintain &gt;95% precision?"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RF: Precision &gt; 95% until Recall = 91.4%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LR: Precision &gt; 95% until Recall = 72.3%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RF sustains high precision at much higher recall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F_BETA SCORE (generalised F1):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F_β = (1+β²) × P×R / (β²×P + 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β &gt; 1: weight Recall more (miss cost &gt; FP cost)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β = 2 recommended for IADS AB class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F2(RF, AB) = 0.974  vs  F2(LR, AB) = 0.894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325112"/>
            <a:ext cx="6986016" cy="38404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3799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🎯 OPERATIONAL CHOICE: Use ROC-AUC when classes are balanced (lab conditions). Use P-R Curve / AP when deploying on real imbalanced data. For IADS, F2 score on AB class is the primary evaluation metric — Recall matters twice as much as Precision.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2 Summary — Six Classifiers, One Mission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Summary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What We Mastered — 6 Classifiers, Their Strengths &amp; When to Use Each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455164" cy="25603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Logistic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Regression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Fast, interpretable (weights)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Linear boundaries only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Baseline for all tasks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Use for interpretable baseline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or well-separated classes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567428" y="1014984"/>
            <a:ext cx="2455164" cy="256032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622292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kNN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(k=21)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67428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631436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No training; local structure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Expensive inference O(N)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Bias-variance tied to k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Low-latency training; rare events;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updatable in real-time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039112" y="2258568"/>
            <a:ext cx="2455164" cy="25603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93976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Decision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Tree (d=10)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Fully interpretable IF-THEN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Axis-aligned boundaries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Pruning prevents overfit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Rules-of-engagement compliance;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commander explainability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567428" y="2258568"/>
            <a:ext cx="2455164" cy="256032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622292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Random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Forest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67428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4631436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97.5% accuracy, F1=0.975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Robust, low overfit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Feature importance free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🏆 BEST overall for tabular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defence classification tasks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039112" y="3502152"/>
            <a:ext cx="2455164" cy="256032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93976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XGBoost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96.4%, fastest inference 0.7ms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Sequential error correction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Many hyperparameters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Real-time embedded systems;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when inference speed critical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567428" y="3502152"/>
            <a:ext cx="2455164" cy="256032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622292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SVM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(RBF)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567428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631436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96.7%, principled margin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Sparse SVs (21.6%)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Slow training O(N²-N³)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Small-to-medium datasets;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when margin guarantee needed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7095744" y="1014984"/>
            <a:ext cx="1892808" cy="371246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7159752" y="1069848"/>
            <a:ext cx="17647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🚀 NEXT: Lecture 3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Supervised Learning Part 2: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Regression Algorithms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Linear / Ridge / Lasso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SVR, Gradient Boosting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Sensor Fusion Techniques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Kalman Filter + ML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Multi-sensor integration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Late vs Early fusion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Practical Lab Exercise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Plus: Prediction uncertainty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&amp; Bayesian regression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Assignment 2 released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with this lecture pack.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3 Preview — Supervised Learning Part 2: Regression &amp; Sensor Fusion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ML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Decision Boundaries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Logistic Regression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k-Nearest Neighbours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Decision Trees (CART)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Random Forest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SVM: Hard Margin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SVM: Soft Margin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SVM: Kernel Trick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Naive Bayes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Multi-class Strategies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Class Imbalance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Lecture 3: From Classification to Regression &amp; Multi-Sensor Integration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LECTURE 3 TOPICS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39112" y="1243584"/>
            <a:ext cx="3438144" cy="32278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112264" y="1271016"/>
            <a:ext cx="32918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Linear Regression: OLS derivation (closed form)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Regularised Regression: Ridge (L2), Lasso (L1)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Ridge: coefficients shrink toward zero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Lasso: enforces sparsity (feature selection)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Elastic Net: combines both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Support Vector Regression (SVR)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ε-insensitive loss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Kernel SVR for non-linear fits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Gradient Boosting for Regression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XGBRegressor on defence logistics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PRACTICAL: Casualty estimation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Force effectiveness regression on battle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Sensor Fusion: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Kalman Filter fundamentals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ML-enhanced fusion models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– Radar + IR + ELINT fusion (3-sensor, 5 targets)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PREVIEW NUMBERS (Lecture 3)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86984" y="1243584"/>
            <a:ext cx="3438144" cy="322783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5660136" y="1271016"/>
            <a:ext cx="32918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Regression Case Study: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Target: Predict time-to-mission-completion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Dataset: N=6,200 historical exercise records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Features: 18 (terrain, weather, force size, ROE)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Model Comparison: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Linear Regression:  R² = 0.71, RMSE = 4.2 hrs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Ridge (λ=0.8):     R² = 0.74, RMSE = 3.9 hrs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Lasso (λ=0.3):     R² = 0.73, RMSE = 4.0 hrs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XGBRegressor:      R² = 0.91, RMSE = 2.1 hrs ← best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Gradient Boost:    R² = 0.89, RMSE = 2.3 hrs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Sensor Fusion Case Study: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3-sensor (Radar+IR+ELINT) track correlation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Single sensor: 78.4% target assignment accuracy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Kalman fusion: 89.7% accuracy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ML-enhanced fusion: 96.2% accuracy (+6.5%!)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39112" y="4544568"/>
            <a:ext cx="6986016" cy="38404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103120" y="45994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📝 Assignment 2 (Part 3 of this lecture): Regression problems + sensor fusion derivations. Bring completed work to Lecture 3.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2: Supervised Learning Classification</dc:title>
  <dc:subject>PptxGenJS Presentation</dc:subject>
  <dc:creator>AK DHAMIJA</dc:creator>
  <cp:lastModifiedBy>AK DHAMIJA</cp:lastModifiedBy>
  <cp:revision>1</cp:revision>
  <dcterms:created xsi:type="dcterms:W3CDTF">2026-09-23T07:31:06Z</dcterms:created>
  <dcterms:modified xsi:type="dcterms:W3CDTF">2026-09-23T07:31:06Z</dcterms:modified>
</cp:coreProperties>
</file>