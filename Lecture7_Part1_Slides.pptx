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852928"/>
            <a:ext cx="9144000" cy="2290572"/>
          </a:xfrm>
          <a:prstGeom prst="rect">
            <a:avLst/>
          </a:prstGeom>
          <a:solidFill>
            <a:srgbClr val="041810"/>
          </a:solidFill>
          <a:ln w="12700">
            <a:solidFill>
              <a:srgbClr val="04181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0" y="2834640"/>
            <a:ext cx="9144000" cy="54864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" name="Shape 3"/>
          <p:cNvSpPr/>
          <p:nvPr/>
        </p:nvSpPr>
        <p:spPr>
          <a:xfrm>
            <a:off x="0" y="0"/>
            <a:ext cx="164592" cy="283464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" name="Shape 4"/>
          <p:cNvSpPr/>
          <p:nvPr/>
        </p:nvSpPr>
        <p:spPr>
          <a:xfrm>
            <a:off x="0" y="0"/>
            <a:ext cx="45720" cy="2834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274320" y="201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D8"/>
                </a:solidFill>
              </a:rPr>
              <a:t/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</a:rPr>
              <a:t>Simulation Strategies in Warfare  |  Unit 4: AI &amp; ML in Warfare (10 Hrs)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804672"/>
            <a:ext cx="841248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Reinforcement Learning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Part 2: Policy Gradient</a:t>
            </a:r>
            <a:endParaRPr lang="en-US" sz="2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Methods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5968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DD7EE"/>
                </a:solidFill>
              </a:rPr>
              <a:t>Lecture 7:  REINFORCE · Baselines · Actor-Critic · A2C/A3C · PPO · Continuous Control · SAC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14553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AK DHAMIJA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51129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</a:rPr>
              <a:t>AK DHAMIJA   |   Researcher &amp; Instructor, AI &amp; Machine Learning   |   dhamija.ak@gmail.com   |   9811453163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6360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B7A5E"/>
                </a:solidFill>
              </a:rPr>
              <a:t>Case Study: 4-Drone Autonomous Swarm — Continuous Waypoint Control — 6-DoF Flight Dynamics — PPO vs SAC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Policy Gradient vs Value-Based Methods — When DQN Is Not Enough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Shape 7"/>
          <p:cNvSpPr/>
          <p:nvPr/>
        </p:nvSpPr>
        <p:spPr>
          <a:xfrm>
            <a:off x="27432" y="822960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0" name="Text 8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1. Policy Gradient vs Value</a:t>
            </a:r>
            <a:endParaRPr lang="en-US" sz="68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REINFORCE Algorithm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Variance &amp; Baselines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Actor-Critic Architecture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PPO: Theory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Continuous Action Spaces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SAC: Entropy-Regularized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Results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Core Limitation of Q-Learning: It Requires a Discrete Action Space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VALUE-BASED (DQN) LIMITATIONS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DQN APPROACH: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Learn Q(s,a;θ) for all actions 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Policy: π(s) = argmax_a Q(s,a;θ)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WORKS WHEN: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Action space is DISCRETE and SMALL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|A| = 7 (wargame) → 7 Q-values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argmax over 7 values is trivial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BREAKS DOWN WHEN: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Action space is CONTINUOUS: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Drone thrust vector ∈ [-100N, +100N]³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Infinite possible actions!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argmax over continuous space = 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gradient optimisation INSIDE the policy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step (expensive, impractical at inference)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Action space is HIGH-DIMENSIONAL DISCRETE: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NLP token selection |A| = 50,000 vocab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50K Q-values per forward pass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STOCHASTIC POLICY preferred: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Exploration in DQN is bolted on (ε-greedy)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Policy gradient learns a DISTRIBUTION over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actions — natural exploration!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POLICY GRADIENT APPROACH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880360"/>
          </a:xfrm>
          <a:prstGeom prst="rect">
            <a:avLst/>
          </a:prstGeom>
          <a:solidFill>
            <a:srgbClr val="EDFAF4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DIRECT POLICY PARAMETERISATION: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π_θ(a|s) = probability of action a in state 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θ: neural network parameters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Directly optimise the POLICY rather than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learning value functions as intermediary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IDEA: Policy Gradient Theorem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∇_θ J(θ) = E_{τ~π_θ} [Σ_t ∇_θ log π_θ(aₜ|sₜ) · G_t]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J(θ) = E[cumulative reward] (objective)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G_t = Σ_{k≥t} γᵏ r_{t+k} (return from 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∇_θ log π_θ(aₜ|sₜ): "gradient of the log-prob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of the chosen action w.r.t. parameters"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INTUITION: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"Make actions that led to high return MORE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probable by adjusting θ in the direction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that increases their log-probability"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CONTINUOUS ACTIONS — TRIVIAL: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π_θ(a|s) = N(μ_θ(s), σ_θ(s)²)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Output mean μ and std σ from network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Sample action: a ~ N(μ,σ²)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argmax is replaced by sampling!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4197096"/>
            <a:ext cx="6986016" cy="475488"/>
          </a:xfrm>
          <a:prstGeom prst="rect">
            <a:avLst/>
          </a:prstGeom>
          <a:solidFill>
            <a:srgbClr val="EDFAF4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4242816"/>
            <a:ext cx="6803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279392"/>
            <a:ext cx="67299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REINFORCE — Monte Carlo Policy Gradient Algorithm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Policy Gradient vs Value</a:t>
            </a:r>
            <a:endParaRPr lang="en-US" sz="590" dirty="0"/>
          </a:p>
        </p:txBody>
      </p:sp>
      <p:sp>
        <p:nvSpPr>
          <p:cNvPr id="10" name="Shape 8"/>
          <p:cNvSpPr/>
          <p:nvPr/>
        </p:nvSpPr>
        <p:spPr>
          <a:xfrm>
            <a:off x="27432" y="1075639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1" name="Text 9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2. REINFORCE Algorithm</a:t>
            </a:r>
            <a:endParaRPr lang="en-US" sz="68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Variance &amp; Baselines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Actor-Critic Architecture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PPO: Theory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Continuous Action Spaces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SAC: Entropy-Regularized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Results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REINFORCE: The Simplest Policy Gradient — Complete Episodes Then Update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REINFORCE ALGORITHM (Williams 1992)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EDFAF4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INPUT: Differentiable policy π_θ(a|s)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INITIALISE θ randomly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FOR each episode: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1. Generate trajectory τ = (s₀,a₀,r₁,...,s_T)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by running π_θ in the environment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2. For t=0,1,...,T−1: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Compute return:  G_t = Σ_{k=t}^{T-1} γ^{k-t} r_{k+1}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3. UPDATE parameters: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For t=0,1,...,T-1: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θ ← θ + α · G_t · ∇_θ log π_θ(aₜ|sₜ)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Alternatively (batch gradient estimate):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∇J ≈ (1/T) Σ_t G_t · ∇_θ log π_θ(aₜ|sₜ)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PROPERTIES: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✓ Unbiased gradient estimate (Monte Carlo)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✓ Works for discrete AND continuous actions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✓ Simple to implement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✗ HIGH VARIANCE: G_t averaged over whole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trajectory — noisy estimate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✗ Requires complete episodes before update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✗ Sample inefficient: each episode used once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✗ Can forget early-episode experiences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3913632"/>
            <a:ext cx="3632728" cy="493776"/>
          </a:xfrm>
          <a:prstGeom prst="rect">
            <a:avLst/>
          </a:prstGeom>
          <a:solidFill>
            <a:srgbClr val="EDFAF4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3959352"/>
            <a:ext cx="344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θ ← θ + α · G_t · ∇_θ log π_θ(aₜ|sₜ)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52744"/>
                </a:solidFill>
              </a:rPr>
              <a:t>G_t = Σ_{k≥t} γ^{k-t} r_{k+1}  [return: sum of discounted future rewards from t]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DRONE CASE STUDY — REINFORCE RESULTS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ENVIRONMENT: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4 autonomous drones, 6-DoF dynamics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Task: navigate 5 waypoints in sequence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avoiding 3 no-fly zones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STATE (60-dim per drone, 4 drones → shared):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drone: [x,y,z pos (3) + vel (3) + fuel (1)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+ obstacle clearance (8) + waypoint rel. pos (3)]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= 18 per drone × 4 drones (shared policy) = 72 features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+ swarm centroid (3) + formation metrics (5) = 80 total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ACTION: continuous thrust [Fx, Fy, Fz] per drone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= 3 per drone × 4 drones = 12-dim continuous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REINFORCE (no baseline):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Network: 80 → 256 → 256 → μ(12) + log σ(12)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Training: 10,000 episodes, batch=1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RESULTS: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Waypoint success rate: 61.4%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Avg return per episode: 142.8 ± 84.6  ← HIGH VARIANCE!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 episodes to 50% success: 6,200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Collision rate: 8.4%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⚠ High variance (±84.6) → unstable learning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Many episodes achieve near-zero return before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occasional breakthrough → slow progress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Variance Reduction — Baselines and the Advantage Function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Policy Gradient vs Value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REINFORCE Algorithm</a:t>
            </a:r>
            <a:endParaRPr lang="en-US" sz="590" dirty="0"/>
          </a:p>
        </p:txBody>
      </p:sp>
      <p:sp>
        <p:nvSpPr>
          <p:cNvPr id="11" name="Shape 9"/>
          <p:cNvSpPr/>
          <p:nvPr/>
        </p:nvSpPr>
        <p:spPr>
          <a:xfrm>
            <a:off x="27432" y="1328318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2" name="Text 10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3. Variance &amp; Baselines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Actor-Critic Architecture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PPO: Theory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Continuous Action Spaces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SAC: Entropy-Regularized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Results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The Variance Problem: Not All High Returns Mean the Action Was Good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WHY VARIANCE IS CATASTROPHIC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22199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REINFORCE UPDATE: θ ← θ + α · G_t · ∇ log π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G_t can be large positive even for BAD actions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if the episode happened to go well for OTHER reasons.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EXAMPLE — Drone Episode: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Drone A makes a slightly suboptimal turn at t=3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(minor error — perhaps 5° off optimal heading).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BUT: the overall episode goes well (G_t=180).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Update: INCREASE probability of that 5°-off turn!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Agent learns SUBOPTIMAL behaviour!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Next episode: same drone makes a good turn.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Episode has bad fuel luck (G_t=40).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Update: DECREASE probability of the good turn!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Agent unlearns GOOD behaviour!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ROOT CAUSE: G_t mixes the quality of the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specific action aₜ with all the luck/skill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of the entire episode. We want to credit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only the RELATIVE value of aₜ vs alternatives.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BASELINES: THE FIX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86984" y="1243584"/>
            <a:ext cx="3438144" cy="2221992"/>
          </a:xfrm>
          <a:prstGeom prst="rect">
            <a:avLst/>
          </a:prstGeom>
          <a:solidFill>
            <a:srgbClr val="EDFAF4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60136" y="1271016"/>
            <a:ext cx="329184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SUBTRACT A BASELINE b(s) from G_t: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θ ← θ + α · (G_t − b(sₜ)) · ∇ log π_θ(aₜ|sₜ)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THEOREM: Subtracting b(s) does NOT bias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the gradient IF b(s) doesn't depend on a!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E[∇ log π · b(s)] = b(s) E[∇ log π] = b(s) · 0 =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(gradient of log π always sums to zero)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BEST BASELINE: b(s) = V^π(s)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— the expected return from state s under π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This gives the ADVANTAGE FUNCTION: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A(s,a) = Q(s,a) − V(s)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= "How much BETTER is action a vs the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average action from state s?"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INTERPRETATION: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A(s,a) &gt; 0: action a was BETTER than average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increase its probability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A(s,a) &lt; 0: action a was WORSE than average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decrease its probability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A(s,a) = 0: action a was exactly average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no update needed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DRONE RESULTS WITH BASELINE (V_φ(s) network):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Waypoint success: 72.1% (+10.7% vs no baseline)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Avg return: 168.4 ± 41.2  (variance HALVED!)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 episodes to 50% success: 3,800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039112" y="3538728"/>
            <a:ext cx="6986016" cy="402336"/>
          </a:xfrm>
          <a:prstGeom prst="rect">
            <a:avLst/>
          </a:prstGeom>
          <a:solidFill>
            <a:srgbClr val="EDFAF4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130552" y="3584448"/>
            <a:ext cx="6803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039112" y="4005072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40599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BIAS-VARIANCE TRADEOFF: REINFORCE is unbiased but high-variance. Adding baseline V(s) reduces variance with NO bias. Actor-Critic (next slide) further reduces variance by bootstrapping — but introduces some bias from the value estimate. PPO carefully controls this tradeoff.</a:t>
            </a:r>
            <a:endParaRPr lang="en-US" sz="900" dirty="0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3621024"/>
            <a:ext cx="6729984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Actor-Critic Architecture — Two Networks, One Learning Loop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Policy Gradient vs Value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REINFORCE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Variance &amp; Baselines</a:t>
            </a:r>
            <a:endParaRPr lang="en-US" sz="590" dirty="0"/>
          </a:p>
        </p:txBody>
      </p:sp>
      <p:sp>
        <p:nvSpPr>
          <p:cNvPr id="12" name="Shape 10"/>
          <p:cNvSpPr/>
          <p:nvPr/>
        </p:nvSpPr>
        <p:spPr>
          <a:xfrm>
            <a:off x="27432" y="1580998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3" name="Text 11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4. Actor-Critic Architecture</a:t>
            </a:r>
            <a:endParaRPr lang="en-US" sz="68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PPO: Theory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Continuous Action Spaces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SAC: Entropy-Regularized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Results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Actor-Critic: Separate Networks for Policy (Actor) and Value (Critic)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017520"/>
          </a:xfrm>
          <a:prstGeom prst="rect">
            <a:avLst/>
          </a:prstGeom>
          <a:solidFill>
            <a:srgbClr val="EDFAF4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ACTOR (Policy Network): π_θ(a|s)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Input: state 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Output: action distribution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Discrete: softmax over actions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Continuous: μ(s), log σ(s) → Gaussian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Parameters: θ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Loss: POLICY GRADIENT LOSS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L_actor = −E[A(s,a) · log π_θ(a|s)]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(maximise expected advantage-weighted log-prob)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CRITIC (Value Network): V_φ(s)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Input: state 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Output: scalar V̂(s) ≈ V^π(s)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Parameters: φ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Loss: VALUE LOSS (supervised regression)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L_critic = E[(G_t − V_φ(s))²]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(mean squared error vs Monte Carlo returns)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TD ADVANTAGE ESTIMATE: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Instead of G_t (high variance), use: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Â(s,a) = r + γ V_φ(s') − V_φ(s)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"TD error as one-step advantage"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Lower variance than Monte Carlo G_t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Slight bias from V_φ approximation errors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COMBINED LOSS: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L(θ,φ) = L_actor + c₁ L_critic − c₂ H(π_θ)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 = entropy of π_θ: encourages exploration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325112"/>
            <a:ext cx="3632728" cy="393192"/>
          </a:xfrm>
          <a:prstGeom prst="rect">
            <a:avLst/>
          </a:prstGeom>
          <a:solidFill>
            <a:srgbClr val="EDFAF4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70832"/>
            <a:ext cx="344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A2C &amp; A3C VARIANTS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A2C (Advantage Actor-Critic):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Synchronous: N parallel environment workers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All workers collect experience simultaneously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Master network updates from ALL workers together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Benefits: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More diverse experience (N trajectories)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Better variance reduction (N samples per update)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No staleness (synchronous)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Drone case: N=4 (one per drone agent)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A3C (Asynchronous A3C — Mnih 2016):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Workers update master ASYNCHRONOUSLY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Each worker: read θ → run episodes → push gradients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Benefits: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Very efficient on CPU (no GPU needed!)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Diverse exploration across workers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Weakness: stale gradients (worker uses old θ)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Can cause instability at high parallelism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A2C DRONE RESULTS (N=4 workers):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Waypoint success: 83.2% (+11.1% vs REINFORCE+baseline)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Avg return: 194.8 ± 28.4  (variance further reduced!)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Training: 2,000 episodes to 70% success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Collision rate: 3.8% (halved vs REINFORCE!)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TRAINING SPEEDUP: 4 workers → ~3.2× wallclock speedup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(sublinear due to synchronisation overhead)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407408"/>
            <a:ext cx="3376696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Proximal Policy Optimization (PPO) — The Practical Gold Standard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Policy Gradient vs Value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REINFORCE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Variance &amp; Baselines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Actor-Critic Architecture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5" name="Shape 13"/>
          <p:cNvSpPr/>
          <p:nvPr/>
        </p:nvSpPr>
        <p:spPr>
          <a:xfrm>
            <a:off x="27432" y="2339035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6" name="Text 14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7. PPO: Theory</a:t>
            </a:r>
            <a:endParaRPr lang="en-US" sz="68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Continuous Action Spaces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SAC: Entropy-Regularized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Results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PPO: Stable Large Updates via Clipped Surrogate Objective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MOTIVATION: TRUST REGION METHODS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2606040"/>
          </a:xfrm>
          <a:prstGeom prst="rect">
            <a:avLst/>
          </a:prstGeom>
          <a:solidFill>
            <a:srgbClr val="EDFAF4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PROBLEM WITH VANILLA POLICY GRADIENT: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Large gradient steps → policy changes dramatically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Performance can COLLAPSE catastrophically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(e.g., π accidentally starts crashing all drones)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Recovery from collapse takes thousands of episodes!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TRUST REGION POLICY OPTIMISATION (TRPO 2015):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Constrained optimisation: maximise objective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subject to KL(π_old || π_new) ≤ δ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Update cannot deviate too much from old policy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Proven monotonic improvement guarantee!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PROBLEM: Requires second-order natural gradient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(computing Hessian of KL) → very expensive!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Computationally prohibitive for large networks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PPO (Schulman 2017): Approximate TRPO more cheaply!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Replace KL constraint with clipped objective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First-order gradient (SGD/Adam)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3-10× cheaper than TRPO, similar performance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Currently: gold standard in continuous RL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Used by OpenAI Five, AlphaStar, ChatGPT RLHF!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KEY INNOVATION: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CLIP the probability ratio r_t(θ) = π_θ(a|s)/π_θ_old(a|s)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so that large policy changes are penalised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PPO CLIPPED OBJECTIVE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PROBABILITY RATIO: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r_t(θ) = π_θ(aₜ|sₜ) / π_θ_old(aₜ|sₜ)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r_t = 1: policy unchanged from old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r_t &gt; 1: action more probable under new π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r_t &lt; 1: action less probable under new π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CLIPPED SURROGATE OBJECTIVE: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L_CLIP(θ) = E_t[min(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r_t(θ) Âₜ,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clip(r_t(θ), 1−ε, 1+ε) Âₜ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Typical: ε = 0.2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HOW IT WORKS: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Case 1: Âₜ &gt; 0 (action was good)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We WANT to increase r_t (make action more likely)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Clip at 1+ε = 1.2: can only go 20% more likely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Objective: min(r·A, 1.2·A) → saturates at 1.2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Case 2: Âₜ &lt; 0 (action was bad)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We WANT to decrease r_t (make action less likely)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Clip at 1−ε = 0.8: can only go 20% less likely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→ Objective: min(r·A, 0.8·A) → saturates at 0.8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NET EFFECT: Cannot increase or decrease any action's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probability by more than 20% per update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Prevents catastrophic policy collapse!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Continuous Action Spaces — Gaussian Policy &amp; 6-DoF Drone Control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Policy Gradient vs Value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REINFORCE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Variance &amp; Baselines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Actor-Critic Architecture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PPO: Theory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7" name="Shape 15"/>
          <p:cNvSpPr/>
          <p:nvPr/>
        </p:nvSpPr>
        <p:spPr>
          <a:xfrm>
            <a:off x="27432" y="2844394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18" name="Text 16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 Continuous Action Spaces</a:t>
            </a:r>
            <a:endParaRPr lang="en-US" sz="68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SAC: Entropy-Regularized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Results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Parametric Gaussian Policy for Continuous Thrust Control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632728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5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GAUSSIAN POLICY DERIVATION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632728" cy="3017520"/>
          </a:xfrm>
          <a:prstGeom prst="rect">
            <a:avLst/>
          </a:prstGeom>
          <a:solidFill>
            <a:srgbClr val="EDFAF4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48642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For continuous action a ∈ ℝ^k: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Model π_θ(a|s) = N(μ_θ(s), diag(σ_θ(s)²))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NETWORK OUTPUTS: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μ_θ(s) ∈ ℝ^k:  mean (nominal action)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log σ_θ(s) ∈ ℝ^k: log std (learned exploration)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(log σ more stable to optimise than σ directly)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SAMPLING AT EXECUTION TIME: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 ~ N(μ_θ(s), σ_θ(s)²)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Using reparameterisation trick: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 = μ_θ(s) + σ_θ(s) · ε,  ε ~ N(0,I)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(enables backprop through the sample!)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LOG-PROBABILITY (for policy gradient):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log π_θ(a|s) = −½ Σᵢ [(aᵢ−μᵢ)²/σᵢ² + log σᵢ² + log 2π]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This is the term we differentiate w.r.t. θ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ADVANTAGES FOR DRONE CONTROL: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Natural bounded exploration: σ_θ controls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how exploratory the drone is in each state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High σ: high-altitude free airspace → explore!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Low σ: near obstacle → precise, focused actions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σ is LEARNED from reward signal automatically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ACTION BOUNDS: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Drone thrust ∈ [−100N, +100N] per axis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Squash output: a_bounded = 100 · tanh(a_raw)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Adjust log-prob accordingly (Jacobian correction)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325112"/>
            <a:ext cx="3632728" cy="393192"/>
          </a:xfrm>
          <a:prstGeom prst="rect">
            <a:avLst/>
          </a:prstGeom>
          <a:solidFill>
            <a:srgbClr val="EDFAF4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70832"/>
            <a:ext cx="344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799856" y="1014984"/>
            <a:ext cx="3225272" cy="22860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854720" y="1014984"/>
            <a:ext cx="3115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6-DOF FLIGHT DYNAMICS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99856" y="1243584"/>
            <a:ext cx="3225272" cy="3182112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873008" y="1271016"/>
            <a:ext cx="3078968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DEGREES OF FREEDOM: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Translational (3): x, y, z position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Rotational (3): roll, pitch, yaw angles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STATE PER DRONE (18 features):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Position: [x, y, z]  (metres from origin)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Velocity: [vx, vy, vz]  (m/s)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Orientation: [roll, pitch, yaw]  (radians)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Angular rate: [p, q, r]  (rad/s)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Fuel remaining: [F]  (0.0 – 1.0)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Waypoint relative position: [Δx, Δy, Δz]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Total: 3+3+3+3+1+3 = 16 → + 2 safety flags = 18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ACTION PER DRONE (3 dim):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Thrust vector: [Fx, Fy, Fz]  (Newtons)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Additional: rotor speed differential → yaw control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Simplified to 3-dim for policy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DRONE DYNAMICS (simplified Euler):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v_{t+1} = v_t + (F_t/m − g·ẑ)·Δt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x_{t+1} = x_t + v_{t+1}·Δt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where m=1.2 kg, g=9.81 m/s², Δt=0.1 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SWARM COORDINATION BONUS: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Additional reward for maintaining ≤50m inter-drone spacing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Penalty for spacing &lt; 10m (collision risk)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Agents learn formation flying from reward!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407408"/>
            <a:ext cx="3376696" cy="246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Soft Actor-Critic (SAC) — Maximum Entropy Reinforcement Learning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Policy Gradient vs Value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REINFORCE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Variance &amp; Baselines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Actor-Critic Architecture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PPO: Theory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Continuous Action Spaces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0" name="Shape 18"/>
          <p:cNvSpPr/>
          <p:nvPr/>
        </p:nvSpPr>
        <p:spPr>
          <a:xfrm>
            <a:off x="27432" y="3602431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1" name="Text 19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12. SAC: Entropy-Regularized</a:t>
            </a:r>
            <a:endParaRPr lang="en-US" sz="68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Results Comparison</a:t>
            </a:r>
            <a:endParaRPr lang="en-US" sz="59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SAC: Optimise for Reward AND Entropy — Natural Exploration + Robustness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MAXIMUM ENTROPY FRAMEWORK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39112" y="1243584"/>
            <a:ext cx="3438144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12264" y="1271016"/>
            <a:ext cx="329184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STANDARD RL OBJECTIVE: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J(π) = E[Σ_t γᵗ r(sₜ,aₜ)]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Maximise expected cumulative reward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MAXIMUM ENTROPY RL OBJECTIVE: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J(π) = E[Σ_t γᵗ (r(sₜ,aₜ) + α H(π(·|sₜ)))]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H(π(·|s)) = −E[log π(a|s)]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(entropy of policy distribution)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α: temperature parameter controlling entropy weight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WHY ADD ENTROPY?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① Automatic exploration: high-entropy policies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try more actions → better coverage of state space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② Robustness: entropific policies are inherently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stochastic → harder for adversaries to predict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③ Multi-modal problems: when multiple actions are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equally good, high entropy represents them all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(vs. deterministic policy picking arbitrarily)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④ α can be learned automatically (SAC v2):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target entropy H_target = −dim(A)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α adjusted so E[H(π)] ≈ H_target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SAC ARCHITECTURE: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One policy network π_θ(a|s)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TWO Q-networks Q_{φ1}, Q_{φ2} (reduce overestimation)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Takes min: Q_target = min(Q_φ1, Q_φ2)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Two target networks (frozen copies)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2039112" y="4279392"/>
            <a:ext cx="3438144" cy="438912"/>
          </a:xfrm>
          <a:prstGeom prst="rect">
            <a:avLst/>
          </a:prstGeom>
          <a:solidFill>
            <a:srgbClr val="EDFAF4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2130552" y="432511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/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586984" y="1014984"/>
            <a:ext cx="3438144" cy="22860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5641848" y="101498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SAC DRONE RESULTS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86984" y="1243584"/>
            <a:ext cx="3438144" cy="3182112"/>
          </a:xfrm>
          <a:prstGeom prst="rect">
            <a:avLst/>
          </a:prstGeom>
          <a:solidFill>
            <a:srgbClr val="EDFAF4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5660136" y="1271016"/>
            <a:ext cx="32918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SAC (α=0.2, auto-adjusted):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Waypoint success: 96.2% ← BEST!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Avg return: 218.4 ± 18.7 (lowest variance!)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Training: 1,500 episodes to 70% success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Collision rate: 1.8% (lowest!)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SAC vs PPO KEY DIFFERENCES: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SAC: OFF-POLICY (uses replay buffer, reuses data)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Very sample-efficient for continuous control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PPO: ON-POLICY (uses only current policy's data)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   Requires more samples but very stable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FORMATION FLYING EMERGENT BEHAVIOUR: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With entropy bonus: drones spontaneously spread out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to cover airspace more efficiently, then converge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on waypoint — formation flying emerged from ONLY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the swarm coordination reward + entropy bonus!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No explicit "maintain formation" instruction.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Optimal inter-drone spacing observed: 32.4m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(between the 10m collision penalty and 50m bonus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boundary — agent found the sweet spot!)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ROBUSTNESS TEST: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PPO: Success drops from 94% to 71% with 30%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wind disturbance added to dynamics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SAC: Success drops from 96% to 88% same conditions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→ SAC's entropy regularisation = more robust policy!</a:t>
            </a:r>
            <a:endParaRPr lang="en-US" sz="880" dirty="0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4361688"/>
            <a:ext cx="3182112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Full Results — All Policy Gradient Methods on Drone Swarm Task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Policy Gradient vs Value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REINFORCE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Variance &amp; Baselines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Actor-Critic Architecture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PPO: Theory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Continuous Action Spaces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SAC: Entropy-Regularized</a:t>
            </a:r>
            <a:endParaRPr lang="en-US" sz="590" dirty="0"/>
          </a:p>
        </p:txBody>
      </p:sp>
      <p:sp>
        <p:nvSpPr>
          <p:cNvPr id="21" name="Shape 19"/>
          <p:cNvSpPr/>
          <p:nvPr/>
        </p:nvSpPr>
        <p:spPr>
          <a:xfrm>
            <a:off x="27432" y="3855110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2" name="Text 20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13. Results Comparison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15. Summary</a:t>
            </a:r>
            <a:endParaRPr lang="en-US" sz="59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4-Drone Swarm: REINFORCE → PPO → SAC — Head-to-Head Comparison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6986016" cy="219456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39112" y="1014984"/>
            <a:ext cx="117043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Algorithm</a:t>
            </a:r>
            <a:endParaRPr lang="en-US" sz="720" dirty="0"/>
          </a:p>
        </p:txBody>
      </p:sp>
      <p:sp>
        <p:nvSpPr>
          <p:cNvPr id="33" name="Text 31"/>
          <p:cNvSpPr txBox="1"/>
          <p:nvPr/>
        </p:nvSpPr>
        <p:spPr>
          <a:xfrm>
            <a:off x="3209544" y="1014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Type</a:t>
            </a:r>
            <a:endParaRPr lang="en-US" sz="720" dirty="0"/>
          </a:p>
        </p:txBody>
      </p:sp>
      <p:sp>
        <p:nvSpPr>
          <p:cNvPr id="34" name="Text 32"/>
          <p:cNvSpPr txBox="1"/>
          <p:nvPr/>
        </p:nvSpPr>
        <p:spPr>
          <a:xfrm>
            <a:off x="3849624" y="1014984"/>
            <a:ext cx="62179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Waypoint %</a:t>
            </a:r>
            <a:endParaRPr lang="en-US" sz="720" dirty="0"/>
          </a:p>
        </p:txBody>
      </p:sp>
      <p:sp>
        <p:nvSpPr>
          <p:cNvPr id="35" name="Text 33"/>
          <p:cNvSpPr txBox="1"/>
          <p:nvPr/>
        </p:nvSpPr>
        <p:spPr>
          <a:xfrm>
            <a:off x="4471416" y="1014984"/>
            <a:ext cx="621792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Collision %</a:t>
            </a:r>
            <a:endParaRPr lang="en-US" sz="720" dirty="0"/>
          </a:p>
        </p:txBody>
      </p:sp>
      <p:sp>
        <p:nvSpPr>
          <p:cNvPr id="36" name="Text 34"/>
          <p:cNvSpPr txBox="1"/>
          <p:nvPr/>
        </p:nvSpPr>
        <p:spPr>
          <a:xfrm>
            <a:off x="5093208" y="1014984"/>
            <a:ext cx="603504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Variance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5696712" y="1014984"/>
            <a:ext cx="56692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Eps to 70%</a:t>
            </a:r>
            <a:endParaRPr lang="en-US" sz="720" dirty="0"/>
          </a:p>
        </p:txBody>
      </p:sp>
      <p:sp>
        <p:nvSpPr>
          <p:cNvPr id="38" name="Text 36"/>
          <p:cNvSpPr txBox="1"/>
          <p:nvPr/>
        </p:nvSpPr>
        <p:spPr>
          <a:xfrm>
            <a:off x="6263640" y="1014984"/>
            <a:ext cx="38404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Sample Eff.</a:t>
            </a:r>
            <a:endParaRPr lang="en-US" sz="720" dirty="0"/>
          </a:p>
        </p:txBody>
      </p:sp>
      <p:sp>
        <p:nvSpPr>
          <p:cNvPr id="39" name="Text 37"/>
          <p:cNvSpPr txBox="1"/>
          <p:nvPr/>
        </p:nvSpPr>
        <p:spPr>
          <a:xfrm>
            <a:off x="6647688" y="1014984"/>
            <a:ext cx="2487168" cy="21945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Key Feature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039112" y="1234440"/>
            <a:ext cx="6986016" cy="402336"/>
          </a:xfrm>
          <a:prstGeom prst="rect">
            <a:avLst/>
          </a:prstGeom>
          <a:solidFill>
            <a:srgbClr val="FFEFE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1" name="Text 39"/>
          <p:cNvSpPr txBox="1"/>
          <p:nvPr/>
        </p:nvSpPr>
        <p:spPr>
          <a:xfrm>
            <a:off x="2039112" y="1234440"/>
            <a:ext cx="11704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REINFORCE (no baseline)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3209544" y="1234440"/>
            <a:ext cx="64008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MC PG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3849624" y="1234440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61.4%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471416" y="1234440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8.4%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093208" y="1234440"/>
            <a:ext cx="603504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±84.6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5696712" y="1234440"/>
            <a:ext cx="56692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6,200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6263640" y="1234440"/>
            <a:ext cx="38404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Very low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6647688" y="12344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Simple; unbiased gradient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039112" y="1636776"/>
            <a:ext cx="6986016" cy="402336"/>
          </a:xfrm>
          <a:prstGeom prst="rect">
            <a:avLst/>
          </a:prstGeom>
          <a:solidFill>
            <a:srgbClr val="FFF5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039112" y="1636776"/>
            <a:ext cx="11704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REINFORCE + baseline V(s)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3209544" y="1636776"/>
            <a:ext cx="64008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MC PG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3849624" y="1636776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72.1%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4471416" y="1636776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6.1%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093208" y="1636776"/>
            <a:ext cx="603504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±41.2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5696712" y="1636776"/>
            <a:ext cx="56692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3,800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6263640" y="1636776"/>
            <a:ext cx="38404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Low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6647688" y="1636776"/>
            <a:ext cx="248716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Variance halved; no bias added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039112" y="2039112"/>
            <a:ext cx="6986016" cy="402336"/>
          </a:xfrm>
          <a:prstGeom prst="rect">
            <a:avLst/>
          </a:prstGeom>
          <a:solidFill>
            <a:srgbClr val="E8F8F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9" name="Text 57"/>
          <p:cNvSpPr txBox="1"/>
          <p:nvPr/>
        </p:nvSpPr>
        <p:spPr>
          <a:xfrm>
            <a:off x="2039112" y="2039112"/>
            <a:ext cx="11704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A2C (N=4 workers)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3209544" y="2039112"/>
            <a:ext cx="64008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Actor-Critic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3849624" y="2039112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83.2%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4471416" y="2039112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3.8%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5093208" y="2039112"/>
            <a:ext cx="603504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±28.4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5696712" y="2039112"/>
            <a:ext cx="56692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2,000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6263640" y="2039112"/>
            <a:ext cx="38404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Medium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6647688" y="2039112"/>
            <a:ext cx="248716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Parallel workers reduce variance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039112" y="2441448"/>
            <a:ext cx="6986016" cy="402336"/>
          </a:xfrm>
          <a:prstGeom prst="rect">
            <a:avLst/>
          </a:prstGeom>
          <a:solidFill>
            <a:srgbClr val="D8F0E0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68" name="Text 66"/>
          <p:cNvSpPr txBox="1"/>
          <p:nvPr/>
        </p:nvSpPr>
        <p:spPr>
          <a:xfrm>
            <a:off x="2039112" y="2441448"/>
            <a:ext cx="11704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PPO (ε=0.2, epochs=10)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3209544" y="2441448"/>
            <a:ext cx="64008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On-policy AC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3849624" y="2441448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94.3%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4471416" y="2441448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2.4%</a:t>
            </a:r>
            <a:endParaRPr lang="en-US" sz="800" dirty="0"/>
          </a:p>
        </p:txBody>
      </p:sp>
      <p:sp>
        <p:nvSpPr>
          <p:cNvPr id="72" name="Text 70"/>
          <p:cNvSpPr txBox="1"/>
          <p:nvPr/>
        </p:nvSpPr>
        <p:spPr>
          <a:xfrm>
            <a:off x="5093208" y="2441448"/>
            <a:ext cx="603504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±19.8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5696712" y="2441448"/>
            <a:ext cx="56692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800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6263640" y="2441448"/>
            <a:ext cx="38404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High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6647688" y="2441448"/>
            <a:ext cx="248716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Clipped update; stable training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039112" y="2843784"/>
            <a:ext cx="6986016" cy="402336"/>
          </a:xfrm>
          <a:prstGeom prst="rect">
            <a:avLst/>
          </a:prstGeom>
          <a:solidFill>
            <a:srgbClr val="C8E8C8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7" name="Text 75"/>
          <p:cNvSpPr txBox="1"/>
          <p:nvPr/>
        </p:nvSpPr>
        <p:spPr>
          <a:xfrm>
            <a:off x="2039112" y="2843784"/>
            <a:ext cx="117043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SAC (α=0.2, auto)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3209544" y="2843784"/>
            <a:ext cx="640080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Off-policy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3849624" y="2843784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96.2%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4471416" y="2843784"/>
            <a:ext cx="621792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E7A45"/>
                </a:solidFill>
              </a:rPr>
              <a:t>1.8%</a:t>
            </a:r>
            <a:endParaRPr lang="en-US" sz="800" dirty="0"/>
          </a:p>
        </p:txBody>
      </p:sp>
      <p:sp>
        <p:nvSpPr>
          <p:cNvPr id="81" name="Text 79"/>
          <p:cNvSpPr txBox="1"/>
          <p:nvPr/>
        </p:nvSpPr>
        <p:spPr>
          <a:xfrm>
            <a:off x="5093208" y="2843784"/>
            <a:ext cx="603504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±18.7</a:t>
            </a:r>
            <a:endParaRPr lang="en-US" sz="800" dirty="0"/>
          </a:p>
        </p:txBody>
      </p:sp>
      <p:sp>
        <p:nvSpPr>
          <p:cNvPr id="82" name="Text 80"/>
          <p:cNvSpPr txBox="1"/>
          <p:nvPr/>
        </p:nvSpPr>
        <p:spPr>
          <a:xfrm>
            <a:off x="5696712" y="2843784"/>
            <a:ext cx="56692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1,500</a:t>
            </a:r>
            <a:endParaRPr lang="en-US" sz="800" dirty="0"/>
          </a:p>
        </p:txBody>
      </p:sp>
      <p:sp>
        <p:nvSpPr>
          <p:cNvPr id="83" name="Text 81"/>
          <p:cNvSpPr txBox="1"/>
          <p:nvPr/>
        </p:nvSpPr>
        <p:spPr>
          <a:xfrm>
            <a:off x="6263640" y="2843784"/>
            <a:ext cx="38404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Very High</a:t>
            </a:r>
            <a:endParaRPr lang="en-US" sz="800" dirty="0"/>
          </a:p>
        </p:txBody>
      </p:sp>
      <p:sp>
        <p:nvSpPr>
          <p:cNvPr id="84" name="Text 82"/>
          <p:cNvSpPr txBox="1"/>
          <p:nvPr/>
        </p:nvSpPr>
        <p:spPr>
          <a:xfrm>
            <a:off x="6647688" y="2843784"/>
            <a:ext cx="2487168" cy="402336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52744"/>
                </a:solidFill>
              </a:rPr>
              <a:t>Entropy bonus → robustness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2039112" y="3355848"/>
            <a:ext cx="6986016" cy="475488"/>
          </a:xfrm>
          <a:prstGeom prst="rect">
            <a:avLst/>
          </a:prstGeom>
          <a:solidFill>
            <a:srgbClr val="FFF2A0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6" name="Text 84"/>
          <p:cNvSpPr txBox="1"/>
          <p:nvPr/>
        </p:nvSpPr>
        <p:spPr>
          <a:xfrm>
            <a:off x="2103120" y="341071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52744"/>
                </a:solidFill>
              </a:rPr>
              <a:t>🏆 SAC wins on all metrics (96.2% success, 1.8% collision, best robustness). 🥈 PPO is simpler to tune and nearly as good (94.3%, stable). For deployment: PPO for simpler tasks with training compute constraints; SAC for complex continuous control requiring robustness.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2039112" y="3895344"/>
            <a:ext cx="3438144" cy="22860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88" name="Text 86"/>
          <p:cNvSpPr txBox="1"/>
          <p:nvPr/>
        </p:nvSpPr>
        <p:spPr>
          <a:xfrm>
            <a:off x="2093976" y="389534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POLICY GRADIENT vs DQN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039112" y="4123944"/>
            <a:ext cx="343814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0" name="Text 88"/>
          <p:cNvSpPr txBox="1"/>
          <p:nvPr/>
        </p:nvSpPr>
        <p:spPr>
          <a:xfrm>
            <a:off x="2112264" y="41513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USE POLICY GRADIENT (PPO/SAC) WHEN: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Continuous action space (thrust, heading, speed)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Need stochastic policy (exploration, robustness)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Large discrete action spaces (&gt;1000 actions)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Need entropy-based exploration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USE DQN (value-based) WHEN: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Small discrete action space (wargame: 7 actions)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Off-policy data reuse is critical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• Interpretable Q-values needed for advisory role</a:t>
            </a:r>
            <a:endParaRPr lang="en-US" sz="880" dirty="0"/>
          </a:p>
        </p:txBody>
      </p:sp>
      <p:sp>
        <p:nvSpPr>
          <p:cNvPr id="91" name="Shape 89"/>
          <p:cNvSpPr/>
          <p:nvPr/>
        </p:nvSpPr>
        <p:spPr>
          <a:xfrm>
            <a:off x="5586984" y="3895344"/>
            <a:ext cx="3438144" cy="228600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2" name="Text 90"/>
          <p:cNvSpPr txBox="1"/>
          <p:nvPr/>
        </p:nvSpPr>
        <p:spPr>
          <a:xfrm>
            <a:off x="5641848" y="3895344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OPERATIONAL DEPLOYMENT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5586984" y="4123944"/>
            <a:ext cx="343814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4" name="Text 92"/>
          <p:cNvSpPr txBox="1"/>
          <p:nvPr/>
        </p:nvSpPr>
        <p:spPr>
          <a:xfrm>
            <a:off x="5660136" y="41513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PPO Drone Controller deployed in simulation: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Sim→Real gap: 94% (sim) → 78% (real field test)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Wind, sensor noise, GPS drift cause 16% drop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Domain randomisation (DR) during training: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Add random wind ±5m/s, sensor noise ±2m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  Result: 94% → 88% real-world (DR closes gap!)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152744"/>
                </a:solidFill>
              </a:rPr>
              <a:t>  SAC with DR: 96% → 91% (5% sim-to-real gap)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" name="Text 1"/>
          <p:cNvSpPr txBox="1"/>
          <p:nvPr/>
        </p:nvSpPr>
        <p:spPr>
          <a:xfrm>
            <a:off x="118872" y="182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8ABCD8"/>
                </a:solidFill>
              </a:rPr>
              <a:t>Simulation Strategies in Warfare – Unit 4: AI &amp; ML in Warfare</a:t>
            </a:r>
            <a:endParaRPr lang="en-US" sz="680" dirty="0"/>
          </a:p>
        </p:txBody>
      </p:sp>
      <p:sp>
        <p:nvSpPr>
          <p:cNvPr id="4" name="Text 2"/>
          <p:cNvSpPr txBox="1"/>
          <p:nvPr/>
        </p:nvSpPr>
        <p:spPr>
          <a:xfrm>
            <a:off x="118872" y="201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Lecture 7 Summary — Policy Gradient Methods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1828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78A8CC"/>
                </a:solidFill>
              </a:rPr>
              <a:t>Lecture 7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548640"/>
            <a:ext cx="1920240" cy="4073652"/>
          </a:xfrm>
          <a:prstGeom prst="rect">
            <a:avLst/>
          </a:prstGeom>
          <a:solidFill>
            <a:srgbClr val="D4E8F6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7" name="Text 5"/>
          <p:cNvSpPr txBox="1"/>
          <p:nvPr/>
        </p:nvSpPr>
        <p:spPr>
          <a:xfrm>
            <a:off x="45720" y="594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5E"/>
                </a:solidFill>
              </a:rPr>
              <a:t>TOPICS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4864" y="804672"/>
            <a:ext cx="1810512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9" name="Text 7"/>
          <p:cNvSpPr txBox="1"/>
          <p:nvPr/>
        </p:nvSpPr>
        <p:spPr>
          <a:xfrm>
            <a:off x="54864" y="83210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1. Policy Gradient vs Value</a:t>
            </a:r>
            <a:endParaRPr lang="en-US" sz="590" dirty="0"/>
          </a:p>
        </p:txBody>
      </p:sp>
      <p:sp>
        <p:nvSpPr>
          <p:cNvPr id="10" name="Text 8"/>
          <p:cNvSpPr txBox="1"/>
          <p:nvPr/>
        </p:nvSpPr>
        <p:spPr>
          <a:xfrm>
            <a:off x="54864" y="108478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2. REINFORCE Algorithm</a:t>
            </a:r>
            <a:endParaRPr lang="en-US" sz="590" dirty="0"/>
          </a:p>
        </p:txBody>
      </p:sp>
      <p:sp>
        <p:nvSpPr>
          <p:cNvPr id="11" name="Text 9"/>
          <p:cNvSpPr txBox="1"/>
          <p:nvPr/>
        </p:nvSpPr>
        <p:spPr>
          <a:xfrm>
            <a:off x="54864" y="133746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3. Variance &amp; Baselines</a:t>
            </a:r>
            <a:endParaRPr lang="en-US" sz="590" dirty="0"/>
          </a:p>
        </p:txBody>
      </p:sp>
      <p:sp>
        <p:nvSpPr>
          <p:cNvPr id="12" name="Text 10"/>
          <p:cNvSpPr txBox="1"/>
          <p:nvPr/>
        </p:nvSpPr>
        <p:spPr>
          <a:xfrm>
            <a:off x="54864" y="1590142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4. Actor-Critic Architecture</a:t>
            </a:r>
            <a:endParaRPr lang="en-US" sz="590" dirty="0"/>
          </a:p>
        </p:txBody>
      </p:sp>
      <p:sp>
        <p:nvSpPr>
          <p:cNvPr id="13" name="Text 11"/>
          <p:cNvSpPr txBox="1"/>
          <p:nvPr/>
        </p:nvSpPr>
        <p:spPr>
          <a:xfrm>
            <a:off x="54864" y="1842821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5. Advantage Function A(s,a)</a:t>
            </a:r>
            <a:endParaRPr lang="en-US" sz="590" dirty="0"/>
          </a:p>
        </p:txBody>
      </p:sp>
      <p:sp>
        <p:nvSpPr>
          <p:cNvPr id="14" name="Text 12"/>
          <p:cNvSpPr txBox="1"/>
          <p:nvPr/>
        </p:nvSpPr>
        <p:spPr>
          <a:xfrm>
            <a:off x="54864" y="2095500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6. A2C &amp; A3C Methods</a:t>
            </a:r>
            <a:endParaRPr lang="en-US" sz="590" dirty="0"/>
          </a:p>
        </p:txBody>
      </p:sp>
      <p:sp>
        <p:nvSpPr>
          <p:cNvPr id="15" name="Text 13"/>
          <p:cNvSpPr txBox="1"/>
          <p:nvPr/>
        </p:nvSpPr>
        <p:spPr>
          <a:xfrm>
            <a:off x="54864" y="2348179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7. PPO: Theory</a:t>
            </a:r>
            <a:endParaRPr lang="en-US" sz="590" dirty="0"/>
          </a:p>
        </p:txBody>
      </p:sp>
      <p:sp>
        <p:nvSpPr>
          <p:cNvPr id="16" name="Text 14"/>
          <p:cNvSpPr txBox="1"/>
          <p:nvPr/>
        </p:nvSpPr>
        <p:spPr>
          <a:xfrm>
            <a:off x="54864" y="260085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8. PPO Clipping Objective</a:t>
            </a:r>
            <a:endParaRPr lang="en-US" sz="590" dirty="0"/>
          </a:p>
        </p:txBody>
      </p:sp>
      <p:sp>
        <p:nvSpPr>
          <p:cNvPr id="17" name="Text 15"/>
          <p:cNvSpPr txBox="1"/>
          <p:nvPr/>
        </p:nvSpPr>
        <p:spPr>
          <a:xfrm>
            <a:off x="54864" y="2853538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9. Continuous Action Spaces</a:t>
            </a:r>
            <a:endParaRPr lang="en-US" sz="590" dirty="0"/>
          </a:p>
        </p:txBody>
      </p:sp>
      <p:sp>
        <p:nvSpPr>
          <p:cNvPr id="18" name="Text 16"/>
          <p:cNvSpPr txBox="1"/>
          <p:nvPr/>
        </p:nvSpPr>
        <p:spPr>
          <a:xfrm>
            <a:off x="54864" y="3106217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10. Gaussian Policy</a:t>
            </a:r>
            <a:endParaRPr lang="en-US" sz="590" dirty="0"/>
          </a:p>
        </p:txBody>
      </p:sp>
      <p:sp>
        <p:nvSpPr>
          <p:cNvPr id="19" name="Text 17"/>
          <p:cNvSpPr txBox="1"/>
          <p:nvPr/>
        </p:nvSpPr>
        <p:spPr>
          <a:xfrm>
            <a:off x="54864" y="3358896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11. Multi-Drone Case Study</a:t>
            </a:r>
            <a:endParaRPr lang="en-US" sz="590" dirty="0"/>
          </a:p>
        </p:txBody>
      </p:sp>
      <p:sp>
        <p:nvSpPr>
          <p:cNvPr id="20" name="Text 18"/>
          <p:cNvSpPr txBox="1"/>
          <p:nvPr/>
        </p:nvSpPr>
        <p:spPr>
          <a:xfrm>
            <a:off x="54864" y="3611575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12. SAC: Entropy-Regularized</a:t>
            </a:r>
            <a:endParaRPr lang="en-US" sz="590" dirty="0"/>
          </a:p>
        </p:txBody>
      </p:sp>
      <p:sp>
        <p:nvSpPr>
          <p:cNvPr id="21" name="Text 19"/>
          <p:cNvSpPr txBox="1"/>
          <p:nvPr/>
        </p:nvSpPr>
        <p:spPr>
          <a:xfrm>
            <a:off x="54864" y="386425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13. Results Comparison</a:t>
            </a:r>
            <a:endParaRPr lang="en-US" sz="590" dirty="0"/>
          </a:p>
        </p:txBody>
      </p:sp>
      <p:sp>
        <p:nvSpPr>
          <p:cNvPr id="22" name="Text 20"/>
          <p:cNvSpPr txBox="1"/>
          <p:nvPr/>
        </p:nvSpPr>
        <p:spPr>
          <a:xfrm>
            <a:off x="54864" y="4116934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90" dirty="0">
                <a:solidFill>
                  <a:srgbClr val="152744"/>
                </a:solidFill>
              </a:rPr>
              <a:t>14. Policy Gradient vs DQN</a:t>
            </a:r>
            <a:endParaRPr lang="en-US" sz="590" dirty="0"/>
          </a:p>
        </p:txBody>
      </p:sp>
      <p:sp>
        <p:nvSpPr>
          <p:cNvPr id="23" name="Shape 21"/>
          <p:cNvSpPr/>
          <p:nvPr/>
        </p:nvSpPr>
        <p:spPr>
          <a:xfrm>
            <a:off x="27432" y="4360469"/>
            <a:ext cx="1865376" cy="261823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4" name="Text 22"/>
          <p:cNvSpPr txBox="1"/>
          <p:nvPr/>
        </p:nvSpPr>
        <p:spPr>
          <a:xfrm>
            <a:off x="54864" y="4369613"/>
            <a:ext cx="1810512" cy="252679"/>
          </a:xfrm>
          <a:prstGeom prst="rect">
            <a:avLst/>
          </a:prstGeom>
          <a:noFill/>
          <a:ln/>
        </p:spPr>
        <p:txBody>
          <a:bodyPr wrap="square" lIns="0" tIns="254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15. Summary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920240" y="548640"/>
            <a:ext cx="7223760" cy="4073652"/>
          </a:xfrm>
          <a:prstGeom prst="rect">
            <a:avLst/>
          </a:prstGeom>
          <a:solidFill>
            <a:srgbClr val="EFF6FB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6" name="Shape 24"/>
          <p:cNvSpPr/>
          <p:nvPr/>
        </p:nvSpPr>
        <p:spPr>
          <a:xfrm>
            <a:off x="0" y="4622292"/>
            <a:ext cx="9144000" cy="521208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27" name="Text 25"/>
          <p:cNvSpPr txBox="1"/>
          <p:nvPr/>
        </p:nvSpPr>
        <p:spPr>
          <a:xfrm>
            <a:off x="118872" y="462229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0B8D8"/>
                </a:solidFill>
              </a:rPr>
              <a:t>AK DHAMIJA   •   Researcher &amp; Instructor   •   AI &amp; Machine Learning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2039112" y="667512"/>
            <a:ext cx="6986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B3A5E"/>
                </a:solidFill>
              </a:rPr>
              <a:t>Key Takeaways: From REINFORCE to SAC for Continuous Drone Control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039112" y="941832"/>
            <a:ext cx="6620256" cy="0"/>
          </a:xfrm>
          <a:prstGeom prst="line">
            <a:avLst/>
          </a:prstGeom>
          <a:noFill/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1" name="Shape 29"/>
          <p:cNvSpPr/>
          <p:nvPr/>
        </p:nvSpPr>
        <p:spPr>
          <a:xfrm>
            <a:off x="2039112" y="1014984"/>
            <a:ext cx="2455164" cy="256032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2" name="Text 30"/>
          <p:cNvSpPr txBox="1"/>
          <p:nvPr/>
        </p:nvSpPr>
        <p:spPr>
          <a:xfrm>
            <a:off x="2093976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Policy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Gradient Thm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2039112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4" name="Text 32"/>
          <p:cNvSpPr txBox="1"/>
          <p:nvPr/>
        </p:nvSpPr>
        <p:spPr>
          <a:xfrm>
            <a:off x="2103120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∇J(θ)=E[∇ log π_θ(a|s) · G_t]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Direct policy optimisation — no argmax needed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Works for continuous AND discrete actions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Foundation of all PG methods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4567428" y="1014984"/>
            <a:ext cx="2455164" cy="256032"/>
          </a:xfrm>
          <a:prstGeom prst="rect">
            <a:avLst/>
          </a:prstGeom>
          <a:solidFill>
            <a:srgbClr val="1B7A5E"/>
          </a:solidFill>
          <a:ln w="12700">
            <a:solidFill>
              <a:srgbClr val="1B7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6" name="Text 34"/>
          <p:cNvSpPr txBox="1"/>
          <p:nvPr/>
        </p:nvSpPr>
        <p:spPr>
          <a:xfrm>
            <a:off x="4622292" y="1014984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REINFORCE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567428" y="1271016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38" name="Text 36"/>
          <p:cNvSpPr txBox="1"/>
          <p:nvPr/>
        </p:nvSpPr>
        <p:spPr>
          <a:xfrm>
            <a:off x="4631436" y="1325880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Monte Carlo returns; complete episodes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Unbiased but high variance (±84 on drones!)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61% waypoint success without baseline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Simplest PG; good baseline to beat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2039112" y="2258568"/>
            <a:ext cx="2455164" cy="256032"/>
          </a:xfrm>
          <a:prstGeom prst="rect">
            <a:avLst/>
          </a:prstGeom>
          <a:solidFill>
            <a:srgbClr val="2869A0"/>
          </a:solidFill>
          <a:ln w="12700">
            <a:solidFill>
              <a:srgbClr val="2869A0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0" name="Text 38"/>
          <p:cNvSpPr txBox="1"/>
          <p:nvPr/>
        </p:nvSpPr>
        <p:spPr>
          <a:xfrm>
            <a:off x="2093976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Actor-Critic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&amp; A2C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2039112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2" name="Text 40"/>
          <p:cNvSpPr txBox="1"/>
          <p:nvPr/>
        </p:nvSpPr>
        <p:spPr>
          <a:xfrm>
            <a:off x="2103120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Critic V_φ(s) reduces variance via TD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Advantage Â=r+γV(s')-V(s)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A2C with N=4 workers: 83%, ±28 variance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Best variance/bias tradeoff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4567428" y="2258568"/>
            <a:ext cx="2455164" cy="256032"/>
          </a:xfrm>
          <a:prstGeom prst="rect">
            <a:avLst/>
          </a:prstGeom>
          <a:solidFill>
            <a:srgbClr val="1E7A45"/>
          </a:solidFill>
          <a:ln w="12700">
            <a:solidFill>
              <a:srgbClr val="1E7A45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4" name="Text 42"/>
          <p:cNvSpPr txBox="1"/>
          <p:nvPr/>
        </p:nvSpPr>
        <p:spPr>
          <a:xfrm>
            <a:off x="4622292" y="2258568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PPO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567428" y="2514600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6" name="Text 44"/>
          <p:cNvSpPr txBox="1"/>
          <p:nvPr/>
        </p:nvSpPr>
        <p:spPr>
          <a:xfrm>
            <a:off x="4631436" y="2569464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Clipped ratio r_t ∈ [1-ε, 1+ε]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Prevents catastrophic policy collapse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94% drones, stable, gold standard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Go-to for most RL applications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2039112" y="3502152"/>
            <a:ext cx="2455164" cy="256032"/>
          </a:xfrm>
          <a:prstGeom prst="rect">
            <a:avLst/>
          </a:prstGeom>
          <a:solidFill>
            <a:srgbClr val="C98A12"/>
          </a:solidFill>
          <a:ln w="12700">
            <a:solidFill>
              <a:srgbClr val="C98A12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48" name="Text 46"/>
          <p:cNvSpPr txBox="1"/>
          <p:nvPr/>
        </p:nvSpPr>
        <p:spPr>
          <a:xfrm>
            <a:off x="2093976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Continuous</a:t>
            </a:r>
            <a:endParaRPr lang="en-US" sz="82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Gaussian Policy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2039112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0" name="Text 48"/>
          <p:cNvSpPr txBox="1"/>
          <p:nvPr/>
        </p:nvSpPr>
        <p:spPr>
          <a:xfrm>
            <a:off x="2103120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π(a|s) = N(μ_θ(s), σ_θ(s)²)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Sample via reparameterisation: a=μ+σ·ε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12-dim thrust vector; σ learned automatically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Essential for physical drone control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4567428" y="3502152"/>
            <a:ext cx="2455164" cy="256032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2" name="Text 50"/>
          <p:cNvSpPr txBox="1"/>
          <p:nvPr/>
        </p:nvSpPr>
        <p:spPr>
          <a:xfrm>
            <a:off x="4622292" y="3502152"/>
            <a:ext cx="23454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FFFFF"/>
                </a:solidFill>
              </a:rPr>
              <a:t>SAC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4567428" y="3758184"/>
            <a:ext cx="2455164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9CB9D9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4" name="Text 52"/>
          <p:cNvSpPr txBox="1"/>
          <p:nvPr/>
        </p:nvSpPr>
        <p:spPr>
          <a:xfrm>
            <a:off x="4631436" y="3813048"/>
            <a:ext cx="23271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Max entropy: reward + α H(π)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Off-policy + dual Q-networks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96% drones; robust to 30% wind disturbance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152744"/>
                </a:solidFill>
              </a:rPr>
              <a:t>📌 Best sample efficiency + robustness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7095744" y="1014984"/>
            <a:ext cx="1892808" cy="3712464"/>
          </a:xfrm>
          <a:prstGeom prst="rect">
            <a:avLst/>
          </a:prstGeom>
          <a:solidFill>
            <a:srgbClr val="1B3A5E"/>
          </a:solidFill>
          <a:ln w="12700">
            <a:solidFill>
              <a:srgbClr val="1B3A5E"/>
            </a:solidFill>
            <a:prstDash val="solid"/>
          </a:ln>
        </p:spPr>
        <p:txBody>
          <a:bodyPr>
            <a:normAutofit/>
          </a:bodyPr>
          <a:p/>
        </p:txBody>
      </p:sp>
      <p:sp>
        <p:nvSpPr>
          <p:cNvPr id="56" name="Text 54"/>
          <p:cNvSpPr txBox="1"/>
          <p:nvPr/>
        </p:nvSpPr>
        <p:spPr>
          <a:xfrm>
            <a:off x="7159752" y="1069848"/>
            <a:ext cx="1764792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🚀 NEXT: Lecture 8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RL Part 3 — Multi-Agent RL: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MARL frameworks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Cooperative vs competitive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CTDE: Centralised train,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decentralised execute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MAPPO, QMIX, MADDPG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• Autonomous combat platforms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Case Study: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6-unit combined arms MARL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Air-ground coordination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  Emergent tactics discovery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BDD7EE"/>
                </a:solidFill>
              </a:rPr>
              <a:t>Assignment 7 released.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ML in Warfare – Lecture 7: Policy Gradient Methods</dc:title>
  <dc:subject>PptxGenJS Presentation</dc:subject>
  <dc:creator>AK DHAMIJA</dc:creator>
  <cp:lastModifiedBy>AK DHAMIJA</cp:lastModifiedBy>
  <cp:revision>1</cp:revision>
  <dcterms:created xsi:type="dcterms:W3CDTF">2026-09-23T17:27:06Z</dcterms:created>
  <dcterms:modified xsi:type="dcterms:W3CDTF">2026-09-23T17:27:06Z</dcterms:modified>
</cp:coreProperties>
</file>