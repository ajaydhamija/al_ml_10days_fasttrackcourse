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A0E00"/>
          </a:solidFill>
          <a:ln w="12700">
            <a:solidFill>
              <a:srgbClr val="1A0E0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Reinforcement Learning Part 3: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Multi-Agent Systems &amp;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Autonomous Combat Platforms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DD7EE"/>
                </a:solidFill>
              </a:rPr>
              <a:t>Lecture 8:  MARL · CTDE · QMIX · MAPPO · MADDPG · Credit Assignment · Emergent Tactics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B5E1A"/>
                </a:solidFill>
              </a:rPr>
              <a:t>Case Study: 6-Unit Combined Arms MARL — 3 Ground + 2 Drones + 1 SEAD — Emergent Flanking &amp; Decoy Tactics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Why Multi-Agent RL? — The Limits of Single-Agent Approaches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Why Multi-Agent RL?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Single-Agent RL Cannot Model Coordination, Deception, or Emergent Behaviour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SINGLE-AGENT RL LIMITATIONS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SINGLE AGENT: One policy π_θ(a|s), one Q-value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Q*(s,a) for one agent acting in the world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FAILS TO MODEL: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Multiple simultaneous actors: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6 combat units acting CONCURRENTLY each turn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Each unit’s action affects all others’ rewards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Single agent can only control one entity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Partial observability per unit: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Drone sees 200m radius; tank sees 500m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No single agent has full battlefield picture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Cooperative reward structure: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Mission success = JOINT outcome of all units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Individual credit for joint reward is ambiguous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④ Emergent tactics: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Flanking requires unit A to distract while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unit B moves — impossible in single-agent RL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⑤ Adversarial dynamics: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OPFOR is also a multi-agent system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Single-agent assumes environment is stationary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OPFOR adapts → non-stationary from each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agent’s perspective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MARL: THE PARADIGM SHIFT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880360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 agents operating in a SHARED environment: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agent i: π_θᵢ(aᵢ|oᵢ)  [partial observation oᵢ]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Joint action: a = (a₁,...,aN)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Joint reward: r(s,a) or rᵢ(s,a) per agent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FUNDAMENTAL CHALLENGE: Non-stationarity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From agent i's perspective: other agents (1,...,N−1)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are part of the environment — AND THEY'RE LEARNING!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 the "environment" is non-stationary even with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fixed external dynamics → convergence not guaranteed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by single-agent RL theorems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SETTINGS: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Fully Cooperative: all agents share reward rᵢ = 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(combined arms attack on objective)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Fully Competitive: zero-sum (war game: Blue vs Red)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Mixed: cooperative Blue team vs Red team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(most real military scenarios!)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MARK of MODERN WARFARE: unmanned systems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fighting in coordinated swarms, autonomous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wingmen, manned-unmanned teaming (MUM-T).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MARL is the mathematical framework for ALL of this.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197096"/>
            <a:ext cx="6986016" cy="475488"/>
          </a:xfrm>
          <a:prstGeom prst="rect">
            <a:avLst/>
          </a:prstGeom>
          <a:solidFill>
            <a:srgbClr val="FDF4E8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4242816"/>
            <a:ext cx="680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Dec-POMDP: (S, {Aᵢ}, P, {rᵢ}, {Ωᵢ}, O, γ)  — N-agent partially observable Markov decision process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CTDE — Centralised Training, Decentralised Execution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4. CTDE Framework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Dominant MARL Paradigm for Military Applications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CTDE PRINCIPLE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017520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CORE IDEA: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At TRAINING TIME: use GLOBAL information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(all agents' observations, actions, full state)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Train centralised critic/mixer that has full picture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Better credit assignment, coordination emerges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At EXECUTION TIME: each agent acts using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its OWN local observation oᵢ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No communication bandwidth needed in the field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Works even if comms are jammed!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Decentralised actor πᵢ(aᵢ|oᵢ)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WHY THIS WORKS: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 exploits privileged info to teach agents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COORDINATION that they then execute independently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Like a commander briefs each unit on the plan,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then radio silence — units execute independently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FORMAL DECOMPOSITION: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ACTOR (decentralised): πᵢ(aᵢ|oᵢ; θᵢ)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CRITIC (centralised):  V(s, o₁,...,oN, a₁,...,aN; φ)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or Q-mixer(s, q₁,...,qN; φ) in QMIX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MILITARY ANALOGY: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Centralised training ≡ Joint planning and rehearsal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Decentralised execution ≡ Mission execution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comms silence / contested environment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pilot/commander acts on their own intel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632728" cy="393192"/>
          </a:xfrm>
          <a:prstGeom prst="rect">
            <a:avLst/>
          </a:prstGeom>
          <a:solidFill>
            <a:srgbClr val="FDF4E8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44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CTDE: Train with global state s, execute with local obs oᵢ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πᵢ(aᵢ|oᵢ) → decentralised policy; Qmix(q₁,...,qN|s) → centralised mixer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THREE CTDE ALGORITHMS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QMIX (Rashid 2018): Value-based CTDE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agent i has local Q-value: Qᵢ(oᵢ,aᵢ)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Mixer network: Q_tot = f(Q₁,...,QN; 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Key constraint: monotonicity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∂Q_tot/∂Qᵢ &gt; 0  (all weights positive)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argmax over Q_tot = argmax per-agent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Decentralised execution guaranteed!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TD loss on Q_tot vs r + γ Q_tot_target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MAPPO (Yu 2022): Policy Gradient CTDE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Extends PPO to N agents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Shared parameters across agents (parameter sharing)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Centralised critic: V(s) = V(full global state)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agent: PPO update using V(s) as baseline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Works well when agents are homogeneous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Parameter sharing dramatically reduces parameters!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MADDPG (Lowe 2017): Actor-Critic CTDE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Deterministic actors: aᵢ = μᵢ(oᵢ; θᵢ)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Centralised critics: Qᵢ(s, a₁,...,aN; φᵢ)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Each agent has its OWN centralised critic!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Works for mixed cooperative-competitive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Good for continuous action spaces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Expensive: N² parameters vs N in QMIX/MAPPO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QMIX — Monotonic Value Decomposition for Cooperative MARL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QMIX Architecture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QMIX: Global Q = Monotonic Mix of Local Q-Values — Greedy Decentralisation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QMIX ARCHITECTURE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017520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AGENT NETWORKS (one per agent, shared weights):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Input: local observation oᵢ + last action aᵢ_prev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Output: Qᵢ(oᵢ, a) for each action 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Architecture: GRU (handles partial obs!) → linear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MIXER NETWORK: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Input: {Q₁(aᵢ),...,QN(aN)} + global state 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Hypernet: hypernetwork maps s → mixing weights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W₁(s) = |MLP₁(s)| (absolute value → positive!)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W₂(s) = |MLP₂(s)| (absolute value → positive!)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Q_tot = W₂(s) · ELU(W₁(s) · [Q₁,...,QN] + b₁) + b₂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Biases b₁,b₂ can be ANY sign (no restriction)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MONOTONICITY GUARANTEE: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W₁, W₂ &gt; 0 (absolute value enforced)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∂Q_tot/∂Qᵢ &gt; 0 for all 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If Qᵢ(aᵢ) increases, Q_tot increases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argmax_{a₁,...,aN} Q_tot(s,a)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= (argmax_{a₁} Q₁(a₁), ..., argmax_{aN} QN(aN))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EACH AGENT independently picks ITS best action!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Decentralised greedy execution is globally optimal!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TRAINING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L(θ,φ) = E[(r + γ max_a' Q_tot_target(s',a') − Q_tot(s,a))²]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Replay buffer + target network (same as DQN!)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632728" cy="393192"/>
          </a:xfrm>
          <a:prstGeom prst="rect">
            <a:avLst/>
          </a:prstGeom>
          <a:solidFill>
            <a:srgbClr val="FDF4E8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44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Q_tot = mix(Q₁,...,QN; s)   with  ∂Q_tot/∂Qᵢ &gt; 0  (monotonicity)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argmax_a Q_tot = (argmax_{a₁}Q₁,...,argmax_{aN}QN)  [decentralised!]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QMIX CASE STUDY RESULTS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Environment: Combined Arms (6 agents, partial obs)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3 ground units (Infantry, Armour, Artillery)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2 ISR drones + 1 SEAD aircraft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Objective: Destroy defended position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SAM sites: 2    OPFOR Infantry: 4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OBSERVATION per agent: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Own: position (2D), health, ammo, role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Visible units within sensor range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Friendly positions (if comms not jammed)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Total: 42-dimensional per agent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QMIX state: concatenated obs = 252-dim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QMIX RESULTS (200K episodes):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Mission success rate: 74.1%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episode length: 38.2 turns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Friendly casualties: avg 1.8 units/mission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OPFOR neutralised: avg 5.2/6 targets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 time: ~18 hours (8 CPU workers)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EMERGED BEHAVIOUR: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SEAD aircraft ALWAYS neutralises SAM first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Ground units converge only after SAM down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Agents discovered suppression-then-advance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WITHOUT being explicitly programmed to!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LIMITATION: QMIX can only represent cooperative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policies — cannot handle competitive sub-games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MAPPO — Multi-Agent PPO with Shared Centralised Critic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MAPPO Algorithm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MAPPO: Extend PPO to N Agents — Parameter Sharing + Centralised Value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MAPPO ALGORITHM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DESIGN CHOICES: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 SHARED ACTOR PARAMETERS: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All agents share the SAME actor network 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πᵢ(aᵢ|oᵢ;θ) for all 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ID encoded in input: [oᵢ, one-hot(i)]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Benefit: N× parameter efficiency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N=6 agents → 1 actor instead of 6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② CENTRALISED CRITIC: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V(s;φ) takes the GLOBAL state 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Same critic used for ALL agents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Advantage for agent i: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Â_i = r + γV(s') − V(s)  [global return]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Benefit: knows how all agents are doing together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 PPO CLIPPING (same as single-agent):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Lᵢ_CLIP = E[min(rᵢ(θ)·Âᵢ, clip(rᵢ,1-ε,1+ε)·Âᵢ)]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rᵢ(θ) = πᵢ_new(aᵢ|oᵢ)/πᵢ_old(aᵢ|oᵢ)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Combined loss: L = (1/N) Σᵢ Lᵢ_CLIP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④ VALUE NORMALISATION (MAPPO addition):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Normalise advantages across agents and timesteps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Âᵢ ← (Âᵢ − mean_batch) / (std_batch + ε)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Critical for stability with N agents!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MAPPO vs QMIX: KEY DIFFERENCES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880360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QMIX strengths vs MAPPO: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QMIX: stronger coordination guarantee (monotonic)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QMIX: off-policy (replay buffer → sample efficient)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QMIX: purely cooperative (shared reward)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MAPPO: on-policy (fresh data every update)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MAPPO: handles heterogeneous agents (diff obs sizes)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MAPPO: works for mixed cooperative-competitive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MAPPO: PPO stability (clipping) more robust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MAPPO COMBINED ARMS RESULTS: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Mission success: 82.4% ← BEST MARL result!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episode: 33.7 turns (faster than QMIX!)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Friendly casualties: avg 1.2 units/mission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OPFOR neutralised: avg 5.7/6 targets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HUMAN EXPERT TEAM BENCHMARK: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3 experienced military planners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Same scenario, manual decision each turn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Mission success: 81.3%  (MAPPO EXCEEDS this!)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episode: 41.8 turns  (human slower)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Casualties: avg 1.6 units (MAPPO has fewer!)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⭐ FIRST TIME: AI matches then EXCEEDS expert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human team performance on a combined arms task!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197096"/>
            <a:ext cx="6986016" cy="475488"/>
          </a:xfrm>
          <a:prstGeom prst="rect">
            <a:avLst/>
          </a:prstGeom>
          <a:solidFill>
            <a:srgbClr val="FDF4E8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4242816"/>
            <a:ext cx="680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MAPPO: L = (1/N) Σᵢ Lᵢ_CLIP(θ) + c₁ L_critic(φ) − c₂ H(πᵢ)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Shared θ across agents; V(s;φ) takes global state 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Credit Assignment — The Core Challenge of Cooperative MARL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6" name="Shape 14"/>
          <p:cNvSpPr/>
          <p:nvPr/>
        </p:nvSpPr>
        <p:spPr>
          <a:xfrm>
            <a:off x="27432" y="2591714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8. Credit Assignment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Who Deserves Credit for a Joint Victory? — The Multi-Agent Credit Problem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CREDIT ASSIGNMENT PROBLEM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SCENARIO: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6 agents execute a mission. Mission SUCCESS (+100).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Which agents were responsible?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1 (Infantry): Provided suppressive fire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2 (Armour):   Advanced under cover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3 (Artillery): Fired too early — missed!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4 (Drone 1):  Provided ISR (critical)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5 (Drone 2):  Malfunctioned (did nothing)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6 (SEAD):     Neutralised SAM (critical)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NAIVE APPROACH (shared reward equally):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All 6 agents receive r/6 = +16.7 each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3 (missed) gets REWARDED!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5 (did nothing) gets REWARDED!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Agents learn: "do nothing, still win"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FREE RIDER PROBLEM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QMIX SOLUTION (monotonic factorisation):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Q_tot = f(Q₁,...,Q₆; 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Qᵢ captures individual contribution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 mixer WEIGHTS contributions by global state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5 (did nothing): Q₅ ≈ 0 (low local value)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QMIX correctly assigns low credit to Agent 5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COUNTERFACTUAL BASELINE: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What would have happened WITHOUT agent i?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Credit_i = Q_tot(a) − Q_tot(a₋ᵢ, ā_i)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ā_i: default "no-op" action for agent 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096512"/>
            <a:ext cx="3438144" cy="475488"/>
          </a:xfrm>
          <a:prstGeom prst="rect">
            <a:avLst/>
          </a:prstGeom>
          <a:solidFill>
            <a:srgbClr val="FDF4E8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14223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COUNTERFACTUAL MULTI-AGENT (COMA)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COMA (Foerster 2018):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Centralised critic: Q(s, a₁,...,aN)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Per-agent counterfactual baseline: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b_i(s, a₋ᵢ) = Σ_{aᵢ'} πᵢ(aᵢ'|oᵢ) Q(s,(aᵢ',a₋ᵢ))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"What would agent i's average Q be if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other agents do the same but i randomly acts?"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Advantage for agent i: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A_i(s,a) = Q(s,a) − b_i(s,a₋ᵢ)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= "How much did aᵢ improve over agent i's average?"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CASE STUDY CREDIT ATTRIBUTION (COMA):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Agent 1 (suppressive): A₁ = +8.4  (high credit)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Agent 2 (advance):     A₂ = +12.1 (critical!)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Agent 3 (missed shot): A₃ = −3.2  (NEGATIVE credit)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Agent 4 (ISR):         A₄ = +9.8  (high credit)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Agent 5 (malfunction): A₅ = −1.1  (slight negative)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Agent 6 (SEAD):        A₆ = +11.4 (critical!)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Total sum ≈ 0 (baseline property)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Agents 3&amp;5 correctly penalised!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Agents 2,4,6 correctly rewarded most.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178808"/>
            <a:ext cx="31821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Emergent Communication &amp; Tactics — What MARL Discovers on Its Own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Emergent Communication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Without Explicit Programming: Agents Develop Signalling &amp; Coordinated Manoeuvres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EMERGENT COMMUNICATION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Can agents develop communication protocols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without being told HOW to communicate?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EMERGENT COMMUNICATION MARL: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Add communication channel: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Each agent broadcasts a message mᵢ ∈ ℝᵈ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(d=8 continuous values — learned "language")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Actor input: [oᵢ, m₁,...,m_{N-1}]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Agents learn both WHAT to broadcast AND how to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USE others' messages through gradient descent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COMBINED ARMS COMMS EMERGENCE: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After 50K training episodes, drone agents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broadcast 8-dim message.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Message analysis (linear probe):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m[0–2]: encodes ENEMY POSITION seen by drone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(not broadcast but recovered by ground!)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m[3–5]: encodes SAM LOCK-ON status (threat level!)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m[6–7]: encodes own FUEL STATE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Agents spontaneously developed a language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encoding tactically critical information!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WITHOUT COMMS:  MAPPO mission success = 82.4%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 COMMS:     CommsMAPPO success = 88.1% (+5.7%)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Battlefield comms has measurable tactical value!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JAM the comms channel → success drops to 76%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EMERGENT TACTICS DISCOVERED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651760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TOP 5 EMERGENT TACTICS (identified post-training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by military domain experts reviewing replay logs):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  SEAD-FIRST PROTOCOL (100% of episodes)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SEAD aircraft ALWAYS engages SAM sites before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any other action. Never explicitly programmed.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Emerged because: SAM is the existential threat 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any episode with active SAM has high failure rate.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②  ISR-OVER-WATCH (88% of episodes)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Drones position on high-ground vantage points,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covering blind-spots of ground units.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Drones discovered geometric coverage optimisation!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  FLANKING MANOEUVRE (71% of success cases)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Infantry distracts frontally while Armour flanks.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Requires implicit coordination — never explicitly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rewarded. Emerged from joint Q-value gradient.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④  ARTILLERY SUPPRESSION TIMING (67%)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Artillery fires DURING the flanking move (not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before, not after). Timing coordination emerged!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⑤  ARMOUR-INFANTRY BOUNDING (63%)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Alternating advance with covering fire — 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textbook tactical movement that emerged from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REWARD only (no doctrine programmed)!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968496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🎖 IMPLICATION FOR DOCTRINE: MARL can discover tactically valid manoeuvres by optimising reward — validating known doctrine AND potentially discovering NEW coordination patterns. Expert review of MARL replay logs is itself a source of novel tactical insights.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Algorithm Comparison — All MARL Methods on Combined Arms Task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Algorithm Comparison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6-Agent Combined Arms: QMIX vs MAPPO vs MADDPG vs Human Expert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Method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3099816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Type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3739896" y="1014984"/>
            <a:ext cx="6217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Success %</a:t>
            </a:r>
            <a:endParaRPr lang="en-US" sz="720" dirty="0"/>
          </a:p>
        </p:txBody>
      </p:sp>
      <p:sp>
        <p:nvSpPr>
          <p:cNvPr id="35" name="Text 33"/>
          <p:cNvSpPr txBox="1"/>
          <p:nvPr/>
        </p:nvSpPr>
        <p:spPr>
          <a:xfrm>
            <a:off x="4361688" y="1014984"/>
            <a:ext cx="58521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Casualties</a:t>
            </a:r>
            <a:endParaRPr lang="en-US" sz="720" dirty="0"/>
          </a:p>
        </p:txBody>
      </p:sp>
      <p:sp>
        <p:nvSpPr>
          <p:cNvPr id="36" name="Text 34"/>
          <p:cNvSpPr txBox="1"/>
          <p:nvPr/>
        </p:nvSpPr>
        <p:spPr>
          <a:xfrm>
            <a:off x="4946904" y="1014984"/>
            <a:ext cx="58521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Eps (turns)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1014984"/>
            <a:ext cx="51206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Train Eps</a:t>
            </a:r>
            <a:endParaRPr lang="en-US" sz="720" dirty="0"/>
          </a:p>
        </p:txBody>
      </p:sp>
      <p:sp>
        <p:nvSpPr>
          <p:cNvPr id="38" name="Text 36"/>
          <p:cNvSpPr txBox="1"/>
          <p:nvPr/>
        </p:nvSpPr>
        <p:spPr>
          <a:xfrm>
            <a:off x="6044184" y="1014984"/>
            <a:ext cx="32918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Comms?</a:t>
            </a:r>
            <a:endParaRPr lang="en-US" sz="720" dirty="0"/>
          </a:p>
        </p:txBody>
      </p:sp>
      <p:sp>
        <p:nvSpPr>
          <p:cNvPr id="39" name="Text 37"/>
          <p:cNvSpPr txBox="1"/>
          <p:nvPr/>
        </p:nvSpPr>
        <p:spPr>
          <a:xfrm>
            <a:off x="6373368" y="1014984"/>
            <a:ext cx="277977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Key Strength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039112" y="1234440"/>
            <a:ext cx="6986016" cy="365760"/>
          </a:xfrm>
          <a:prstGeom prst="rect">
            <a:avLst/>
          </a:prstGeom>
          <a:solidFill>
            <a:srgbClr val="FFEEDD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039112" y="12344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IQL (Indep. Q-Learning)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099816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Single-agent×6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3739896" y="1234440"/>
            <a:ext cx="621792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58.3%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361688" y="123444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avg 2.8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946904" y="123444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44.1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532120" y="1234440"/>
            <a:ext cx="51206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044184" y="1234440"/>
            <a:ext cx="32918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373368" y="1234440"/>
            <a:ext cx="277977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Baseline — ignores multi-agent structure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39112" y="1600200"/>
            <a:ext cx="6986016" cy="365760"/>
          </a:xfrm>
          <a:prstGeom prst="rect">
            <a:avLst/>
          </a:prstGeom>
          <a:solidFill>
            <a:srgbClr val="FFF5EE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039112" y="1600200"/>
            <a:ext cx="106070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QMIX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3099816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Value-based CTDE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3739896" y="1600200"/>
            <a:ext cx="621792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74.1%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4361688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avg 1.8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946904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38.2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532120" y="1600200"/>
            <a:ext cx="51206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200K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044184" y="1600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6373368" y="1600200"/>
            <a:ext cx="277977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Monotonic mix; decentralised greedy execution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039112" y="1965960"/>
            <a:ext cx="6986016" cy="365760"/>
          </a:xfrm>
          <a:prstGeom prst="rect">
            <a:avLst/>
          </a:prstGeom>
          <a:solidFill>
            <a:srgbClr val="FFF0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 txBox="1"/>
          <p:nvPr/>
        </p:nvSpPr>
        <p:spPr>
          <a:xfrm>
            <a:off x="2039112" y="19659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MADDPG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3099816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Actor-Critic CTDE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3739896" y="1965960"/>
            <a:ext cx="621792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79.2%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4361688" y="196596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avg 1.6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946904" y="196596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35.8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532120" y="1965960"/>
            <a:ext cx="51206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250K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044184" y="1965960"/>
            <a:ext cx="32918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6373368" y="1965960"/>
            <a:ext cx="277977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Per-agent centralised critics; continuous action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39112" y="2331720"/>
            <a:ext cx="6986016" cy="365760"/>
          </a:xfrm>
          <a:prstGeom prst="rect">
            <a:avLst/>
          </a:prstGeom>
          <a:solidFill>
            <a:srgbClr val="E8F8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2331720"/>
            <a:ext cx="106070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MAPPO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3099816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PG CTDE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3739896" y="2331720"/>
            <a:ext cx="621792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82.4%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4361688" y="233172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avg 1.2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4946904" y="233172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33.7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532120" y="2331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150K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6044184" y="2331720"/>
            <a:ext cx="32918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6373368" y="2331720"/>
            <a:ext cx="277977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Shared params; PPO stability; BEST no-comms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039112" y="2697480"/>
            <a:ext cx="6986016" cy="365760"/>
          </a:xfrm>
          <a:prstGeom prst="rect">
            <a:avLst/>
          </a:prstGeom>
          <a:solidFill>
            <a:srgbClr val="D0F0D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7" name="Text 75"/>
          <p:cNvSpPr txBox="1"/>
          <p:nvPr/>
        </p:nvSpPr>
        <p:spPr>
          <a:xfrm>
            <a:off x="2039112" y="2697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CommsMAPPO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3099816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PG + Comm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3739896" y="2697480"/>
            <a:ext cx="621792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88.1%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361688" y="269748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avg 0.9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4946904" y="269748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29.4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5532120" y="2697480"/>
            <a:ext cx="51206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180K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6044184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Yes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6373368" y="2697480"/>
            <a:ext cx="277977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Emergent language; SAM/fuel signalling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039112" y="3063240"/>
            <a:ext cx="6986016" cy="365760"/>
          </a:xfrm>
          <a:prstGeom prst="rect">
            <a:avLst/>
          </a:prstGeom>
          <a:solidFill>
            <a:srgbClr val="E8F0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Text 84"/>
          <p:cNvSpPr txBox="1"/>
          <p:nvPr/>
        </p:nvSpPr>
        <p:spPr>
          <a:xfrm>
            <a:off x="2039112" y="30632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Human Expert Team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3099816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Human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3739896" y="3063240"/>
            <a:ext cx="621792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81.3%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4361688" y="306324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avg 1.6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4946904" y="3063240"/>
            <a:ext cx="58521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41.8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5532120" y="3063240"/>
            <a:ext cx="51206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N/A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6044184" y="3063240"/>
            <a:ext cx="329184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Yes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6373368" y="3063240"/>
            <a:ext cx="2779776" cy="36576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Benchmark — MAPPO surpasses!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039112" y="3483864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Text 93"/>
          <p:cNvSpPr txBox="1"/>
          <p:nvPr/>
        </p:nvSpPr>
        <p:spPr>
          <a:xfrm>
            <a:off x="2103120" y="35387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CommsMAPPO wins at 88.1% (with emergent comms). MAPPO alone (82.4%) already EXCEEDS human expert benchmark (81.3%) — a milestone result. IQL (independent Q-learning) baseline of 58.3% shows that ignoring multi-agent structure is deeply costly. QMIX is the best OPTION for communication-denied scenarios.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039112" y="4023360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7" name="Text 95"/>
          <p:cNvSpPr txBox="1"/>
          <p:nvPr/>
        </p:nvSpPr>
        <p:spPr>
          <a:xfrm>
            <a:off x="2093976" y="402336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WHEN TO USE WHICH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039112" y="4251960"/>
            <a:ext cx="34381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9" name="Text 97"/>
          <p:cNvSpPr txBox="1"/>
          <p:nvPr/>
        </p:nvSpPr>
        <p:spPr>
          <a:xfrm>
            <a:off x="2112264" y="4279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QMIX: Purely cooperative; discrete actions;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communication-denied; need interpretable Q-values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MAPPO: Large teams; heterogeneous agents;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mixed tasks; most robust choice overall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MADDPG: Continuous actions; mixed competitive</a:t>
            </a:r>
            <a:endParaRPr lang="en-US" sz="880" dirty="0"/>
          </a:p>
        </p:txBody>
      </p:sp>
      <p:sp>
        <p:nvSpPr>
          <p:cNvPr id="100" name="Shape 98"/>
          <p:cNvSpPr/>
          <p:nvPr/>
        </p:nvSpPr>
        <p:spPr>
          <a:xfrm>
            <a:off x="5586984" y="4023360"/>
            <a:ext cx="3438144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1" name="Text 99"/>
          <p:cNvSpPr txBox="1"/>
          <p:nvPr/>
        </p:nvSpPr>
        <p:spPr>
          <a:xfrm>
            <a:off x="5641848" y="402336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MARL SAFETY WARNING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586984" y="4251960"/>
            <a:ext cx="3438144" cy="475488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3" name="Text 101"/>
          <p:cNvSpPr txBox="1"/>
          <p:nvPr/>
        </p:nvSpPr>
        <p:spPr>
          <a:xfrm>
            <a:off x="5660136" y="4279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Emergent behaviours are UNPREDICTABLE: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Agents may learn unintended coordination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(e.g., learned to conserve ammo by NOT FIRING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 some runs — locally rational but tactically bad)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MARL deployment needs extensive red-teaming!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Autonomous Combat Platforms — LAWS, MUM-T &amp; Ethical Boundaries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Autonomous Platforms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From Wargame AI to Real Autonomous Platforms — Challenges &amp; Constraints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AUTONOMOUS PLATFORM TAXONOMY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LEVELS OF AUTONOMY (DoD / UK MoD framework):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Level 1 — Human-operated: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Full human control; AI assists targeting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Example: Drone with AI camera assist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Level 2 — Human-on-the-loop: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AI nominates actions; human approves each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Example: MAPPO advisory mode (this course!)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Level 3 — Human-out-of-the-loop (LAWS):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Autonomous engagement without per-action approval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Example: Loitering munition with target criteria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LEGAL STATUS: Contested under IHL!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Level 4 — Fully autonomous: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Long-duration autonomous mission (hours/days)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Seeks, decides, engages independently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CURRENTLY PROHIBITED in most militaries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MARL RELEVANCE: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Level 2: MAPPO advisory mode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6 agents each recommend action, human approves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Practical, JAG-compliant, deployed now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Level 3: QMIX in contested comms environments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Decentralised execution = works if comms jammed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Legal debate continues (IHL Principle of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Distinction + Proportionality assurance)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MANNED-UNMANNED TEAMING (MUM-T)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017520"/>
          </a:xfrm>
          <a:prstGeom prst="rect">
            <a:avLst/>
          </a:prstGeom>
          <a:solidFill>
            <a:srgbClr val="FDF4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CURRENT STATE OF ART: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1 human pilot + 2-4 loyal wingman UAVs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Human: high-level mission planning + ROE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UAVs: tactical execution via MARL-style policy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ARCHITECTURE: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Human pilot: provides mission objectives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MARL agents (UAVs): optimise sub-tasks jointly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Communication: datalink (≤ 2 second latency)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MARL policy: pre-trained ground, updated overnight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MAPPO IN MUM-T: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Human provides: waypoints, threat priorities, ROE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MAPPO encodes these as reward shaping: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r_ROE: penalty for engaging non-combatants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r_prop: penalty for disproportionate engagement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Agents optimise mission within these constraints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CHALLENGES: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Trust calibration: when to override AI agent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Adversarial robustness: OPFOR exploiting patterns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Accountability: who is responsible for AI action?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④ Sim-to-real gap: 82% sim → ~65% real (estimate)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⑤ Edge cases: novel scenarios outside training dist.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334256"/>
            <a:ext cx="6986016" cy="402336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3891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ETHICAL BRIGHT LINE: MARL for ADVISORY and PLANNING purposes is current best practice. Autonomous lethal engagement (Level 3+) requires legal clarity under IHL on meaningful human control. This course advocates MARL as decision-support tool — human remains the decision-maker for lethal force.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8 Summary — Multi-Agent RL &amp; Autonomous Combat Platforms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Multi-Agent RL?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MARL Problem Formulation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Cooperative vs Competitive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CTDE Framework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QMIX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MAPPO Algorithm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MADDPG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Credit Assignment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Emergent Communication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Combined Arms: Setup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Air-Ground Coordination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Emergent Tactics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Algorithm Comparison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Autonomous Platforms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Key Takeaways: From CTDE Framework to Emergent Combined Arms Tactics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Dec-POMDP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&amp; MARL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N agents, partial obs, joint reward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Non-stationarity = core challenge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Mixed: cooperative Blue vs competitive OPFOR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Mathematical foundation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CTDE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Framework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Train centralised; execute decentralised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Military analogy: plan rehearsal → comms silence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Enables coordination WITHOUT field comms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Dominant MARL paradigm for defence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QMIX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Monotonic Q_tot = mix(Q₁,...,QN;s)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Decentralised greedy execution guaranteed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74.1% combined arms — best comms-denied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Off-policy, sample efficient, interpretable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MAPPO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Shared actor + centralised critic V(s)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82.4% — EXCEEDS human expert (81.3%)!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PPO stability; parameter sharing efficiency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Go-to for cooperative MARL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Emergent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Tactics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SEAD-first, flanking, ISR overwatch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Artillery timing, bounding advance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All discovered from REWARD alone!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Validates doctrine; reveals new patterns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MUM-T &amp;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LAWS Ethics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Level 2: advisory (current best practice)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MAPPO in MUM-T with human on-the-loop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Autonomous lethal engagement: IHL debate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Human remains decision-maker for lethal force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9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Culmination &amp; Revision: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Full course concept map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Cross-lecture case study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threads revisited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Integrated AI/ML pipeline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for defence scenarios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Common exam misconceptions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MCQ rapid-fire revision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Key formula sheet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Lecture 10: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Student Project Presentations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&amp; Final Q&amp;A Panel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8 released.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8: Multi-Agent RL &amp; Autonomous Combat Platforms</dc:title>
  <dc:subject>PptxGenJS Presentation</dc:subject>
  <dc:creator>AK DHAMIJA</dc:creator>
  <cp:lastModifiedBy>AK DHAMIJA</cp:lastModifiedBy>
  <cp:revision>1</cp:revision>
  <dcterms:created xsi:type="dcterms:W3CDTF">2026-09-23T17:43:01Z</dcterms:created>
  <dcterms:modified xsi:type="dcterms:W3CDTF">2026-09-23T17:43:01Z</dcterms:modified>
</cp:coreProperties>
</file>