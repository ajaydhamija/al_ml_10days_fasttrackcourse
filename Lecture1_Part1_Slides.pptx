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1263F"/>
          </a:solidFill>
          <a:ln w="12700">
            <a:solidFill>
              <a:srgbClr val="11263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Artificial Intelligence &amp; Machine Learning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</a:rPr>
              <a:t>Artificial Intelligence</a:t>
            </a:r>
            <a:endParaRPr lang="en-US" sz="3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</a:rPr>
              <a:t>&amp; Machine Learning</a:t>
            </a:r>
            <a:endParaRPr lang="en-US" sz="3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</a:rPr>
              <a:t>in Warfare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DD7EE"/>
                </a:solidFill>
              </a:rPr>
              <a:t>Lecture 1:  Foundations · Paradigms · Defence Applications · Data Pitfalls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A6888"/>
                </a:solidFill>
              </a:rPr>
              <a:t>AI Foundations  •  ML Paradigms  •  Defence &amp; Wargaming Applications  •  Data Pitfalls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Course Overview — 10-Lecture Roadmap (Unit 4: AI &amp; ML in Warfare)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Unit 4 Lecture Schedule: 10 Hours Total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6986016" cy="324612"/>
          </a:xfrm>
          <a:prstGeom prst="rect">
            <a:avLst/>
          </a:prstGeom>
          <a:solidFill>
            <a:srgbClr val="2869A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 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1014984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&amp; ML Foundations, Paradigms &amp; Data Pitfalls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110728" y="1014984"/>
            <a:ext cx="8229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EE80"/>
                </a:solidFill>
              </a:rPr>
              <a:t>◄ TODAY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39112" y="1348740"/>
            <a:ext cx="6986016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093976" y="1348740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1348740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Supervised Learning Part 1 — Classification Algorithms for Defence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39112" y="1682496"/>
            <a:ext cx="6986016" cy="32461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093976" y="1682496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606040" y="1682496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Supervised Learning Part 2 — Regression, Sensor Fusion &amp; Practical Lab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39112" y="2016252"/>
            <a:ext cx="6986016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93976" y="2016252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606040" y="2016252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Unsupervised Learning Part 1 — Clustering &amp; Pattern Discovery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39112" y="2350008"/>
            <a:ext cx="6986016" cy="32461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093976" y="235000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5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606040" y="2350008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Unsupervised Learning Part 2 — Anomaly Detection &amp; Cybersecurity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39112" y="2683764"/>
            <a:ext cx="6986016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2093976" y="2683764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6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606040" y="2683764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Reinforcement Learning Part 1 — MDPs and Q-Learning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39112" y="3017520"/>
            <a:ext cx="6986016" cy="32461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93976" y="3017520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7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606040" y="3017520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Reinforcement Learning Part 2 — Policy Gradient Methods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39112" y="3351276"/>
            <a:ext cx="6986016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093976" y="3351276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8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2606040" y="3351276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RL Part 3 — Multi-Agent Systems &amp; Autonomous Combat Platforms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39112" y="3685032"/>
            <a:ext cx="6986016" cy="32461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093976" y="3685032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 9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606040" y="3685032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Culmination &amp; Revision — Integration Across All Modules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39112" y="4018788"/>
            <a:ext cx="6986016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093976" y="40187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L10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606040" y="4018788"/>
            <a:ext cx="61447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Student Project Presentations &amp; Open Q&amp;A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1 — Structure, Format &amp; Learning Objectives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39112" y="667512"/>
            <a:ext cx="3419856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 txBox="1"/>
          <p:nvPr/>
        </p:nvSpPr>
        <p:spPr>
          <a:xfrm>
            <a:off x="2093976" y="667512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STRUCTURE (45 min)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39112" y="896112"/>
            <a:ext cx="3419856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112264" y="923544"/>
            <a:ext cx="32735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⏱  5 min  — Q&amp;A on previous session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⏱ 30 min  — Core lecture content (this deck)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⏱ 10 min  — Auto-quiz on today's material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         (15 questions × 40 seconds each)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Format: 4-pane layout | Equations | Defence examples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All slides: AK DHAMIJA, Researcher &amp; Instructor, AI &amp; Machine Learning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39112" y="2359152"/>
            <a:ext cx="3419856" cy="59436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03120" y="24140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DATA PITFALLS thread woven throughout — critical lens for every AI/ML practitioner in Defence Research. Based on AK Dhamija (SlideShare: Goody Research) + established ML literature.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39112" y="3017520"/>
            <a:ext cx="3419856" cy="594360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103120" y="30723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📋 Parts of Each Lecture: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Part 1: Lecture slides  |  Part 2: Auto-quiz (PPT, 40s/Q)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Part 3: Quiz answers + Assignment problems &amp; solutions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Part 4: Instructor manual (detailed PDF)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05272" y="667512"/>
            <a:ext cx="3419856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667512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 OBJECTIVES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05272" y="896112"/>
            <a:ext cx="3419856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5696712" y="914400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1.  Define AI, ML and core paradigms precisely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5696712" y="1106424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2.  Trace evolution: Classical AI → GenAI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5696712" y="1298448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3.  Distinguish the 5 ML learning paradigms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5696712" y="1490472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4.  Describe Deep Learning key architectures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5696712" y="1682496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5.  Explain LLMs and RAG in defence context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5696712" y="1874520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6.  Map AI/ML to Defence &amp; Wargaming use cases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5696712" y="2066544"/>
            <a:ext cx="3255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7.  Identify and avoid 6 critical data pitfalls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605272" y="2359152"/>
            <a:ext cx="3419856" cy="594360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5669280" y="24140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🎯 All numerical examples &amp; case studies are anchored in Defence R&amp;D and Wargaming Simulation contexts throughout.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605272" y="3017520"/>
            <a:ext cx="3419856" cy="594360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9" name="Text 47"/>
          <p:cNvSpPr txBox="1"/>
          <p:nvPr/>
        </p:nvSpPr>
        <p:spPr>
          <a:xfrm>
            <a:off x="5669280" y="30723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📌 Syllabus: Unit 4 — AI &amp; ML Paradigms | Supervised Learning for Defence | Unsupervised Learning &amp; Clustering | RL for Autonomous Systems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is Intelligence?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Intelligence &amp; AI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Intelligence: The Four Cognitive Pillars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655064" cy="42062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👁 PERCEIVE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39112" y="1472184"/>
            <a:ext cx="16550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270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Sense &amp; interpret environment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Vision, hearing, touch, semantics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Integrate multi-modal inputs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67328" y="1014984"/>
            <a:ext cx="1655064" cy="42062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767328" y="101498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REASON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67328" y="1472184"/>
            <a:ext cx="16550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831336" y="15270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Logical inference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Cause-effect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Hypothesis formation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95544" y="1014984"/>
            <a:ext cx="1655064" cy="42062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495544" y="101498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LEARN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95544" y="1472184"/>
            <a:ext cx="16550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559552" y="15270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Adapt from experience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Generalise to new situations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Minimise prediction errors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1014984"/>
            <a:ext cx="1655064" cy="42062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7223760" y="101498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ACT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1472184"/>
            <a:ext cx="16550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7287768" y="15270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Decide optimal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Execute in environment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Evaluate outcome feedback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39112" y="2459736"/>
            <a:ext cx="6986016" cy="64008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103120" y="2514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WARGAMING INTELLIGENCE: A Blue Force AI agent must PERCEIVE the battle map (sensor fusion), REASON about OPFOR intent, LEARN from prior engagements, and ACT to maximise mission success — mirroring all four cognitive pillars. This is the entire motivation for AI in warfare.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39112" y="3172968"/>
            <a:ext cx="6986016" cy="38404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30552" y="3218688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Human Intelligence  ⊃  Artificial General Intelligence (AGI)  ⊃  Narrow AI (ANI)  ⊃  ML  ⊃  Deep Learning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2039112" y="363016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A7A8A"/>
                </a:solidFill>
              </a:rPr>
              <a:t>Current AI systems are Narrow AI — excellent in specific tasks, but no common sense or cross-domain reasoning.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is Artificial Intelligence?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Intelligence &amp; AI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Defining AI — From Turing (1950) to Modern Definitions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438912"/>
          </a:xfrm>
          <a:prstGeom prst="rect">
            <a:avLst/>
          </a:prstGeom>
          <a:solidFill>
            <a:srgbClr val="E8F0FA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103120" y="10698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744"/>
                </a:solidFill>
              </a:rPr>
              <a:t>John McCarthy (1956): "The science and engineering of making intelligent machines, especially intelligent computer programs capable of performing tasks that typically require human intelligence."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1517904"/>
            <a:ext cx="6986016" cy="438912"/>
          </a:xfrm>
          <a:prstGeom prst="rect">
            <a:avLst/>
          </a:prstGeom>
          <a:solidFill>
            <a:srgbClr val="E8F0FA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727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744"/>
                </a:solidFill>
              </a:rPr>
              <a:t>Russell &amp; Norvig (AIMA 2020): "AI is the study of agents that receive percepts from the environment and perform actions. Each such agent implements a function that maps percept sequences to actions."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039112" y="2029968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Turing Test (1950) — Still Relevant for Defence AI?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039112" y="2304288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Shape 35"/>
          <p:cNvSpPr/>
          <p:nvPr/>
        </p:nvSpPr>
        <p:spPr>
          <a:xfrm>
            <a:off x="2039112" y="2359152"/>
            <a:ext cx="2292096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093976" y="2359152"/>
            <a:ext cx="2182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INTERROGATOR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2587752"/>
            <a:ext cx="22920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12264" y="2615184"/>
            <a:ext cx="21457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Sends typed questions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Cannot see the responder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Must decide: Human or Machine?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After 5 minutes of conversation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6072" y="2359152"/>
            <a:ext cx="2292096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4440936" y="2359152"/>
            <a:ext cx="2182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MACHINE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86072" y="2587752"/>
            <a:ext cx="22920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459224" y="2615184"/>
            <a:ext cx="21457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Attempts to mimic human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responses convincingly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Goal: Fool the interrogator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into thinking it is human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33032" y="2359152"/>
            <a:ext cx="2292096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6787896" y="2359152"/>
            <a:ext cx="2182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ANGLE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33032" y="2587752"/>
            <a:ext cx="22920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6806184" y="2615184"/>
            <a:ext cx="21457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Can an AI system blend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into legitimate SIGINT/COMMS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traffic? (EW context)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Deep fake voice in strategic deception?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39112" y="3749040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0390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Modern LLMs (GPT-4, Claude) reliably pass the Turing Test in text — but "passing Turing Test" ≠ "truly intelligent". In defence AI, what matters is task performance, NOT the appearance of intelligence.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Brief History of Artificial Intelligence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History of AI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AI Timeline: From Turing to Transformers to Defence Deployments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551176" y="1014984"/>
            <a:ext cx="9144" cy="3547872"/>
          </a:xfrm>
          <a:prstGeom prst="rect">
            <a:avLst/>
          </a:prstGeom>
          <a:solidFill>
            <a:srgbClr val="6A7A8A"/>
          </a:solidFill>
          <a:ln w="12700">
            <a:solidFill>
              <a:srgbClr val="6A7A8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2039112" y="1069848"/>
            <a:ext cx="484632" cy="24688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039112" y="1069848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1950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46604" y="1161288"/>
            <a:ext cx="45720" cy="640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633472" y="1078992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Turing: "Computing Machinery &amp; Intelligence" — Imitation Game proposed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039112" y="1466698"/>
            <a:ext cx="484632" cy="24688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2039112" y="1466698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1956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46604" y="1558138"/>
            <a:ext cx="45720" cy="640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633472" y="1475842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McCarthy coins "Artificial Intelligence" — Dartmouth Summer Research Project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039112" y="1863547"/>
            <a:ext cx="484632" cy="246888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39112" y="1863547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1965–80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46604" y="1954987"/>
            <a:ext cx="45720" cy="64008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 txBox="1"/>
          <p:nvPr/>
        </p:nvSpPr>
        <p:spPr>
          <a:xfrm>
            <a:off x="2633472" y="1872691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Expert Systems era: MYCIN (medical), XCON (military logistics). Rule-based AI peaks.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039112" y="2260397"/>
            <a:ext cx="484632" cy="246888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 txBox="1"/>
          <p:nvPr/>
        </p:nvSpPr>
        <p:spPr>
          <a:xfrm>
            <a:off x="2039112" y="2260397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1986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46604" y="2351837"/>
            <a:ext cx="45720" cy="64008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2633472" y="2269541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Rumelhart &amp; Hinton: Backpropagation algorithm — Neural Network revival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039112" y="2657246"/>
            <a:ext cx="484632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9" name="Text 47"/>
          <p:cNvSpPr txBox="1"/>
          <p:nvPr/>
        </p:nvSpPr>
        <p:spPr>
          <a:xfrm>
            <a:off x="2039112" y="2657246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1997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46604" y="2748686"/>
            <a:ext cx="4572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Text 49"/>
          <p:cNvSpPr txBox="1"/>
          <p:nvPr/>
        </p:nvSpPr>
        <p:spPr>
          <a:xfrm>
            <a:off x="2633472" y="2666390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IBM Deep Blue defeats Kasparov. Minimax+Expert Heuristics. Wargame relevance established.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2039112" y="3054096"/>
            <a:ext cx="484632" cy="24688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039112" y="3054096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2006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46604" y="3145536"/>
            <a:ext cx="4572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5" name="Text 53"/>
          <p:cNvSpPr txBox="1"/>
          <p:nvPr/>
        </p:nvSpPr>
        <p:spPr>
          <a:xfrm>
            <a:off x="2633472" y="3063240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Hinton: Deep Belief Networks — Deep Learning renaissance begins with GPU compute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2039112" y="3450946"/>
            <a:ext cx="484632" cy="24688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7" name="Text 55"/>
          <p:cNvSpPr txBox="1"/>
          <p:nvPr/>
        </p:nvSpPr>
        <p:spPr>
          <a:xfrm>
            <a:off x="2039112" y="3450946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2012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46604" y="3542386"/>
            <a:ext cx="45720" cy="6400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633472" y="3460090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AlexNet wins ImageNet LSVRC: CNN breakthrough. DRDO/ISR image analysis applications emerge.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2039112" y="3847795"/>
            <a:ext cx="484632" cy="24688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1" name="Text 59"/>
          <p:cNvSpPr txBox="1"/>
          <p:nvPr/>
        </p:nvSpPr>
        <p:spPr>
          <a:xfrm>
            <a:off x="2039112" y="3847795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2017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546604" y="3939235"/>
            <a:ext cx="45720" cy="6400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3" name="Text 61"/>
          <p:cNvSpPr txBox="1"/>
          <p:nvPr/>
        </p:nvSpPr>
        <p:spPr>
          <a:xfrm>
            <a:off x="2633472" y="3856939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"Attention Is All You Need" (Vaswani et al.) — Transformer architecture published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2039112" y="4244645"/>
            <a:ext cx="484632" cy="246888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Text 63"/>
          <p:cNvSpPr txBox="1"/>
          <p:nvPr/>
        </p:nvSpPr>
        <p:spPr>
          <a:xfrm>
            <a:off x="2039112" y="4244645"/>
            <a:ext cx="48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2022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546604" y="4336085"/>
            <a:ext cx="45720" cy="64008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7" name="Text 65"/>
          <p:cNvSpPr txBox="1"/>
          <p:nvPr/>
        </p:nvSpPr>
        <p:spPr>
          <a:xfrm>
            <a:off x="2633472" y="4253789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ChatGPT/GPT-4; Stable Diffusion; LLMs for Defence Intelligence synthesis begins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Classical AI — Expert Systems in Defence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Classical AI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Expert Systems: Rule-Based AI — The First Defence AI Wave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19856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EXPERT SYSTEMS 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19856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7355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Knowledge Base: IF–THEN rules from domain experts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Inference Engine: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Forward chaining: facts → conclusion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Backward chaining: goal → supporting facts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Explanation Facility: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Can justify EVERY decision (auditability)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Critical for defence accountability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Advantages: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Fully transparent &amp; auditable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No training data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Deterministic, repeatable 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Expert knowledge encoded directly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163824"/>
            <a:ext cx="3419856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093976" y="316382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EXAMPLE — IADS THREAT ASSESSMENT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39112" y="3392424"/>
            <a:ext cx="3419856" cy="1024128"/>
          </a:xfrm>
          <a:prstGeom prst="rect">
            <a:avLst/>
          </a:prstGeom>
          <a:solidFill>
            <a:srgbClr val="F0F6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12264" y="3419856"/>
            <a:ext cx="3273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R1: IF RadarSig = "LARGE" AND Speed &gt; 800 km/h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AND Altitude &lt; 300 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THEN ThreatLevel = HIGH, Alert = LAUNCH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R2: IF IFF_Code = "FRIEND" AND Course = "RETURNING"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THEN ThreatLevel = NIL, Allow_Landing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R3: IF EW_Jamming = TRUE AND Dir = "NORTH"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THEN CyberAlert, Notify_HQ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Real: Cold War SAGE &amp; BMEWS expert systems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had 100,000+ encoded rules.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05272" y="1014984"/>
            <a:ext cx="3419856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01498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 PERFORMANCE DATA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05272" y="1243584"/>
            <a:ext cx="3419856" cy="185623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78424" y="1271016"/>
            <a:ext cx="327355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System: Artillery Fire Assignment 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Rules encoded: 500 (200 expert-months)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Response time: &lt; 0.08 sec per query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Test Results: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Known doctrine scenarios (N=300): 91.2% correct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Novel/adapted scenarios (N=200):  19.0% correct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Comparison with ML (Random Forest):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Same novel scenarios: 74.3% correct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→ Expert system BRITTLE on new situations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→ War is inherently novel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05272" y="3163824"/>
            <a:ext cx="3419856" cy="125272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669280" y="3218688"/>
            <a:ext cx="3291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KEY INSIGHT: Expert systems excel in CLOSED, WELL-DEFINED domains but fail catastrophically when reality diverges from the rule base. The knowledge bottleneck: encoding 200 years of tactical doctrine into IF-THEN rules is impossible.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Classical AI — Search Algorithms &amp; Why They Fall Short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Classical AI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Game Trees, A* Search &amp; The Limits of Classical AI in Warfare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GAME TREE SEARCH (MINIMAX)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0487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Two-player zero-sum game (chess, wargame):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MAX player (Blue Force): maximises own score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MIN player (Red Force): minimises Blue score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Alpha-Beta Pruning (efficiency):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Without pruning: O(b^d) nodes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pruning:    O(b^(d/2)) nodes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 = branching factor, d = search depth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A* Search: f(n) = g(n) + h(n)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g(n): cost so far (terrain, fuel, time)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h(n): heuristic estimate to goal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WARGAME NUMBERS: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Grid: 50×50 hex, b=6 actions/unit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8 units → b_eff ≈ 6^8 = 1.68 million/turn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Alpha-Beta, depth 4: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Nodes evaluated ≈ 6^4 = 1,296 (feasible!)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Without: 6^8^4 = infeasible (age of universe)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712464"/>
            <a:ext cx="3493008" cy="50292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58184"/>
            <a:ext cx="3310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f(n) = g(n) + h(n)     [A* evaluation function]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Alpha-Beta: O(b^(d/2)) vs Minimax: O(b^d)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78424" y="1014984"/>
            <a:ext cx="334670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33288" y="101498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CLASSICAL AI FAILS IN REAL WARFARE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78424" y="1243584"/>
            <a:ext cx="3346704" cy="2971800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51576" y="1271016"/>
            <a:ext cx="320040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 BRITTLENESS: Novel situations = total failure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Gulf War 1991: ES failed on 81% non-scripted ops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 KNOWLEDGE BOTTLENECK: Encoding all doctrine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F/A-18 avionics ES: 10K rules, 200 expert-months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 NO UNCERTAINTY: Warfare is stochastic.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Weather, morale, comms loss = probabilistic events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 STATE SPACE EXPLOSION: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Modern wargame: ~10^80 states.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Even best search: intractable beyond depth 8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⑤ NO LEARNING: After 1,000 engagements,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system is no wiser than at initial deployment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→ SOLUTION: Let systems LEARN from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Machine Learning replaces hand-coded rules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vs Machine Learning vs Deep Learning — The Nested Hierarchy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AI vs ML vs DL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Three Nested Worlds of Intelligent Computing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75688" y="1014984"/>
            <a:ext cx="6912864" cy="3291840"/>
          </a:xfrm>
          <a:prstGeom prst="rect">
            <a:avLst/>
          </a:prstGeom>
          <a:solidFill>
            <a:srgbClr val="EEF5FB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167128" y="105156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A5E"/>
                </a:solidFill>
              </a:rPr>
              <a:t>ARTIFICIAL INTELLIGENCE — Any technique enabling machines to mimic human-level cognition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167128" y="1307592"/>
            <a:ext cx="6729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A7A8A"/>
                </a:solidFill>
              </a:rPr>
              <a:t>Expert Systems  •  Search / Planning  •  NLP  •  Robotics  •  Vision  •  ML  •  DL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50008" y="1581912"/>
            <a:ext cx="6364224" cy="2240280"/>
          </a:xfrm>
          <a:prstGeom prst="rect">
            <a:avLst/>
          </a:prstGeom>
          <a:solidFill>
            <a:srgbClr val="D4E8F5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441448" y="1618488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869A0"/>
                </a:solidFill>
              </a:rPr>
              <a:t>MACHINE LEARNING — Systems that improve from data without being explicitly programmed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441448" y="1874520"/>
            <a:ext cx="6181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A7A8A"/>
                </a:solidFill>
              </a:rPr>
              <a:t>Linear Regression  •  Decision Trees  •  SVM  •  Random Forest  •  KNN  •  Naive Bayes  •  Clustering  •  DL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79192" y="2176272"/>
            <a:ext cx="5705856" cy="1353312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770632" y="2212848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4A7A"/>
                </a:solidFill>
              </a:rPr>
              <a:t>DEEP LEARNING — Multi-layer neural networks learning hierarchical representations from raw data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770632" y="2468880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A7A8A"/>
                </a:solidFill>
              </a:rPr>
              <a:t>CNN  •  RNN / LSTM  •  Transformer  •  GAN  •  Diffusion Models  •  LLMs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56432" y="2752344"/>
            <a:ext cx="4151376" cy="457200"/>
          </a:xfrm>
          <a:prstGeom prst="rect">
            <a:avLst/>
          </a:prstGeom>
          <a:solidFill>
            <a:srgbClr val="E05218"/>
          </a:solidFill>
          <a:ln w="12700">
            <a:solidFill>
              <a:srgbClr val="A03A0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3520440" y="2807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GenAI  |  LLMs • RAG • Agents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39112" y="4370832"/>
            <a:ext cx="6986016" cy="42062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 txBox="1"/>
          <p:nvPr/>
        </p:nvSpPr>
        <p:spPr>
          <a:xfrm>
            <a:off x="2103120" y="442569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📊 DATA DEPENDENCY SCALE:  Classical AI: ZERO data  →  Shallow ML: 1K–100K samples  →  Deep Learning: 1M+ images  →  LLMs: Trillions of tokens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Machine Learning Paradigms — The Big Five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ML Paradigms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Five Core ML Learning Paradigms at a Glance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342339" cy="42062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342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🏷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Supervised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472184"/>
            <a:ext cx="13423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27048"/>
            <a:ext cx="12143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Labelled data: (x,y) pairs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Mapping: X → 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Task: Classification / Regression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Defence: Threat ID, force estimation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27171" y="1014984"/>
            <a:ext cx="1342339" cy="420624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427171" y="1014984"/>
            <a:ext cx="1342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🔍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Unsupervised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27171" y="1472184"/>
            <a:ext cx="13423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491179" y="1527048"/>
            <a:ext cx="12143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 labels: {x}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Task: Clustering, density, anomaly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Finds hidden structure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Defence: Tactic clustering, SIGINT grouping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15230" y="1014984"/>
            <a:ext cx="1342339" cy="42062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4815230" y="1014984"/>
            <a:ext cx="1342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⚖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Semi-supervised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15230" y="1472184"/>
            <a:ext cx="13423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4879238" y="1527048"/>
            <a:ext cx="12143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Small D_L + large D_U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Propagates labels via graph/EM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Defence: Limited labelled SAR imagery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Mixing supervised + unsupervised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03290" y="1014984"/>
            <a:ext cx="1342339" cy="42062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6203290" y="1014984"/>
            <a:ext cx="1342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🔄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Self-supervised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03290" y="1472184"/>
            <a:ext cx="13423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6267298" y="1527048"/>
            <a:ext cx="12143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Labels derived from data itself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Pretext tasks: mask, rotate, contrast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Defence: Pre-train on raw sensor 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Base for LLMs, BERT, MAE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591349" y="1014984"/>
            <a:ext cx="1342339" cy="420624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7591349" y="1014984"/>
            <a:ext cx="1342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🎮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Reinforcement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591349" y="1472184"/>
            <a:ext cx="13423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7655357" y="1527048"/>
            <a:ext cx="12143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Agent + Environment + Reward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Policy: State × Action → Reward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Defence: Autonomous UAVs, wargame agents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 labels — learns from interaction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39112" y="3374136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2039112" y="33741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Paradigm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3227832" y="3374136"/>
            <a:ext cx="1207008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Labels?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434840" y="33741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Scale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513832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Wargaming Example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39112" y="3593592"/>
            <a:ext cx="6986016" cy="17922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7" name="Text 55"/>
          <p:cNvSpPr txBox="1"/>
          <p:nvPr/>
        </p:nvSpPr>
        <p:spPr>
          <a:xfrm>
            <a:off x="2039112" y="3593592"/>
            <a:ext cx="118872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Supervised</a:t>
            </a:r>
            <a:endParaRPr lang="en-US" sz="780" dirty="0"/>
          </a:p>
        </p:txBody>
      </p:sp>
      <p:sp>
        <p:nvSpPr>
          <p:cNvPr id="58" name="Text 56"/>
          <p:cNvSpPr txBox="1"/>
          <p:nvPr/>
        </p:nvSpPr>
        <p:spPr>
          <a:xfrm>
            <a:off x="3227832" y="3593592"/>
            <a:ext cx="1207008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All</a:t>
            </a:r>
            <a:endParaRPr lang="en-US" sz="780" dirty="0"/>
          </a:p>
        </p:txBody>
      </p:sp>
      <p:sp>
        <p:nvSpPr>
          <p:cNvPr id="59" name="Text 57"/>
          <p:cNvSpPr txBox="1"/>
          <p:nvPr/>
        </p:nvSpPr>
        <p:spPr>
          <a:xfrm>
            <a:off x="4434840" y="3593592"/>
            <a:ext cx="1078992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1K–10M</a:t>
            </a:r>
            <a:endParaRPr lang="en-US" sz="780" dirty="0"/>
          </a:p>
        </p:txBody>
      </p:sp>
      <p:sp>
        <p:nvSpPr>
          <p:cNvPr id="60" name="Text 58"/>
          <p:cNvSpPr txBox="1"/>
          <p:nvPr/>
        </p:nvSpPr>
        <p:spPr>
          <a:xfrm>
            <a:off x="5513832" y="3593592"/>
            <a:ext cx="310896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Radar threat classification → Fighter/Missile/UAV/Friendly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2039112" y="3772814"/>
            <a:ext cx="6986016" cy="17922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2039112" y="3772814"/>
            <a:ext cx="118872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Unsupervised</a:t>
            </a:r>
            <a:endParaRPr lang="en-US" sz="780" dirty="0"/>
          </a:p>
        </p:txBody>
      </p:sp>
      <p:sp>
        <p:nvSpPr>
          <p:cNvPr id="63" name="Text 61"/>
          <p:cNvSpPr txBox="1"/>
          <p:nvPr/>
        </p:nvSpPr>
        <p:spPr>
          <a:xfrm>
            <a:off x="3227832" y="3772814"/>
            <a:ext cx="1207008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None</a:t>
            </a:r>
            <a:endParaRPr lang="en-US" sz="780" dirty="0"/>
          </a:p>
        </p:txBody>
      </p:sp>
      <p:sp>
        <p:nvSpPr>
          <p:cNvPr id="64" name="Text 62"/>
          <p:cNvSpPr txBox="1"/>
          <p:nvPr/>
        </p:nvSpPr>
        <p:spPr>
          <a:xfrm>
            <a:off x="4434840" y="3772814"/>
            <a:ext cx="1078992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Any</a:t>
            </a:r>
            <a:endParaRPr lang="en-US" sz="780" dirty="0"/>
          </a:p>
        </p:txBody>
      </p:sp>
      <p:sp>
        <p:nvSpPr>
          <p:cNvPr id="65" name="Text 63"/>
          <p:cNvSpPr txBox="1"/>
          <p:nvPr/>
        </p:nvSpPr>
        <p:spPr>
          <a:xfrm>
            <a:off x="5513832" y="3772814"/>
            <a:ext cx="310896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OPFOR movement archetype discovery (Patrol/Assault/Transit)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039112" y="3952037"/>
            <a:ext cx="6986016" cy="17922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7" name="Text 65"/>
          <p:cNvSpPr txBox="1"/>
          <p:nvPr/>
        </p:nvSpPr>
        <p:spPr>
          <a:xfrm>
            <a:off x="2039112" y="3952037"/>
            <a:ext cx="118872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Semi-supervised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3227832" y="3952037"/>
            <a:ext cx="1207008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~5%</a:t>
            </a:r>
            <a:endParaRPr lang="en-US" sz="780" dirty="0"/>
          </a:p>
        </p:txBody>
      </p:sp>
      <p:sp>
        <p:nvSpPr>
          <p:cNvPr id="69" name="Text 67"/>
          <p:cNvSpPr txBox="1"/>
          <p:nvPr/>
        </p:nvSpPr>
        <p:spPr>
          <a:xfrm>
            <a:off x="4434840" y="3952037"/>
            <a:ext cx="1078992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10K+</a:t>
            </a:r>
            <a:endParaRPr lang="en-US" sz="780" dirty="0"/>
          </a:p>
        </p:txBody>
      </p:sp>
      <p:sp>
        <p:nvSpPr>
          <p:cNvPr id="70" name="Text 68"/>
          <p:cNvSpPr txBox="1"/>
          <p:nvPr/>
        </p:nvSpPr>
        <p:spPr>
          <a:xfrm>
            <a:off x="5513832" y="3952037"/>
            <a:ext cx="310896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SAR vehicle recognition with 200 labelled / 20K unlabelled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2039112" y="4131259"/>
            <a:ext cx="6986016" cy="17922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039112" y="4131259"/>
            <a:ext cx="118872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Self-supervised</a:t>
            </a:r>
            <a:endParaRPr lang="en-US" sz="780" dirty="0"/>
          </a:p>
        </p:txBody>
      </p:sp>
      <p:sp>
        <p:nvSpPr>
          <p:cNvPr id="73" name="Text 71"/>
          <p:cNvSpPr txBox="1"/>
          <p:nvPr/>
        </p:nvSpPr>
        <p:spPr>
          <a:xfrm>
            <a:off x="3227832" y="4131259"/>
            <a:ext cx="1207008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None(self)</a:t>
            </a:r>
            <a:endParaRPr lang="en-US" sz="780" dirty="0"/>
          </a:p>
        </p:txBody>
      </p:sp>
      <p:sp>
        <p:nvSpPr>
          <p:cNvPr id="74" name="Text 72"/>
          <p:cNvSpPr txBox="1"/>
          <p:nvPr/>
        </p:nvSpPr>
        <p:spPr>
          <a:xfrm>
            <a:off x="4434840" y="4131259"/>
            <a:ext cx="1078992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Large</a:t>
            </a:r>
            <a:endParaRPr lang="en-US" sz="780" dirty="0"/>
          </a:p>
        </p:txBody>
      </p:sp>
      <p:sp>
        <p:nvSpPr>
          <p:cNvPr id="75" name="Text 73"/>
          <p:cNvSpPr txBox="1"/>
          <p:nvPr/>
        </p:nvSpPr>
        <p:spPr>
          <a:xfrm>
            <a:off x="5513832" y="4131259"/>
            <a:ext cx="310896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Signal pre-training on 500K raw radar sweeps (like BERT)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2039112" y="4310482"/>
            <a:ext cx="6986016" cy="17922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7" name="Text 75"/>
          <p:cNvSpPr txBox="1"/>
          <p:nvPr/>
        </p:nvSpPr>
        <p:spPr>
          <a:xfrm>
            <a:off x="2039112" y="4310482"/>
            <a:ext cx="118872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RL</a:t>
            </a:r>
            <a:endParaRPr lang="en-US" sz="780" dirty="0"/>
          </a:p>
        </p:txBody>
      </p:sp>
      <p:sp>
        <p:nvSpPr>
          <p:cNvPr id="78" name="Text 76"/>
          <p:cNvSpPr txBox="1"/>
          <p:nvPr/>
        </p:nvSpPr>
        <p:spPr>
          <a:xfrm>
            <a:off x="3227832" y="4310482"/>
            <a:ext cx="1207008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Reward only</a:t>
            </a:r>
            <a:endParaRPr lang="en-US" sz="780" dirty="0"/>
          </a:p>
        </p:txBody>
      </p:sp>
      <p:sp>
        <p:nvSpPr>
          <p:cNvPr id="79" name="Text 77"/>
          <p:cNvSpPr txBox="1"/>
          <p:nvPr/>
        </p:nvSpPr>
        <p:spPr>
          <a:xfrm>
            <a:off x="4434840" y="4310482"/>
            <a:ext cx="1078992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Episodes</a:t>
            </a:r>
            <a:endParaRPr lang="en-US" sz="780" dirty="0"/>
          </a:p>
        </p:txBody>
      </p:sp>
      <p:sp>
        <p:nvSpPr>
          <p:cNvPr id="80" name="Text 78"/>
          <p:cNvSpPr txBox="1"/>
          <p:nvPr/>
        </p:nvSpPr>
        <p:spPr>
          <a:xfrm>
            <a:off x="5513832" y="4310482"/>
            <a:ext cx="3108960" cy="179222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Blue Force agent training in JANUS wargame simulation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Supervised Learning — Concept &amp; Mathematics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Supervised Learning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Supervised Learning: Learn a Mapping f: X → Y from Labelled Examples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772449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662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772449" cy="244144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62614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Training Set:  D = {(x_i, y_i)}_{i=1}^{N}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• x_i ∈ R^d  — feature vector (d dimensions)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• y_i ∈ Y    — label (class or real value)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Goal: Learn function  f: R^d → 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    such that  f(x_new) ≈ y_true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CLASSIFICATION Loss (Cross-Entropy):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L(θ) = -(1/N) Σ y_i log f(x_i; θ)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REGRESSION Loss (Mean Squared Error):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L(θ) = (1/N) Σ (y_i - f(x_i; θ))^2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Optimisation (with regularisation λ):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θ* = argmin_θ  [L(θ) + λ R(θ)]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Solved by Gradient Descent: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θ ← θ - α · ∇_θ L(θ)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2039112" y="3749040"/>
            <a:ext cx="3772449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94760"/>
            <a:ext cx="358956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57865" y="1014984"/>
            <a:ext cx="3067263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6012729" y="1014984"/>
            <a:ext cx="2957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TWO MAIN TASK TYPES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57865" y="1243584"/>
            <a:ext cx="3067263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031017" y="1271016"/>
            <a:ext cx="29209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CLASSIFICATION (Y = discrete class label)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Binary: Is radar return a threat? YES/NO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Multi-class: Identify threat type: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{Fighter, Bomber, Missile, UAV, Civilian}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REGRESSION (Y ∈ R, continuous)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Estimate force casualty count from battle parameters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Predict time-to-target for inbound missile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Forecast ammo consumption over 72-hour ops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EVALUATION PROTOCOL: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 (70%) → Validate (15%) → Test (15%)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NEVER use test data during model training!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Cross-validation: k-fold (k=5 or k=10)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957865" y="2651760"/>
            <a:ext cx="3067263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012729" y="2651760"/>
            <a:ext cx="2957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METRICS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57865" y="2880360"/>
            <a:ext cx="3067263" cy="1344168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6031017" y="2907792"/>
            <a:ext cx="29209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Classification: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Accuracy = (TP+TN)/(TP+TN+FP+FN)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Precision = TP/(TP+FP)    Recall = TP/(TP+FN)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F1 = 2 × Precision × Recall / (P+R)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ROC-AUC: Area under ROC curve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Regression: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MSE = (1/N)Σ(y-ŷ)^2   RMSE = √MSE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MAE = (1/N)Σ|y-ŷ|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R² = 1 - SSres/SStot   (1=perfect fit)</a:t>
            </a:r>
            <a:endParaRPr lang="en-US" sz="880" dirty="0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831336"/>
            <a:ext cx="3516417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Supervised Learning — Radar Signal Classification (Case Study)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Supervised Learning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Case Study: 5-Class Radar Threat Classification for IADS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2999232" y="10149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Description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279392" y="1014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Value Range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376672" y="10149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Example (Enemy Fighter)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39112" y="1234440"/>
            <a:ext cx="6986016" cy="19202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2039112" y="1234440"/>
            <a:ext cx="96012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x1: Peak Freq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999232" y="1234440"/>
            <a:ext cx="128016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Radar emission frequency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279392" y="1234440"/>
            <a:ext cx="109728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 – 18 GHz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376672" y="1234440"/>
            <a:ext cx="329184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9.35 GHz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39112" y="1426464"/>
            <a:ext cx="6986016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039112" y="1426464"/>
            <a:ext cx="96012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x2: Pulse Width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2999232" y="1426464"/>
            <a:ext cx="128016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Duration of radar pulse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279392" y="1426464"/>
            <a:ext cx="109728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0.1 – 100 µs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376672" y="1426464"/>
            <a:ext cx="329184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2.5 µs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39112" y="1618488"/>
            <a:ext cx="6986016" cy="19202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2039112" y="1618488"/>
            <a:ext cx="96012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x3: PRF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2999232" y="1618488"/>
            <a:ext cx="128016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Pulse Repetition Frequency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279392" y="16184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 – 300K Hz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376672" y="1618488"/>
            <a:ext cx="329184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1,500 Hz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39112" y="1810512"/>
            <a:ext cx="6986016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2039112" y="1810512"/>
            <a:ext cx="96012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x4: Amplitude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2999232" y="1810512"/>
            <a:ext cx="128016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Signal strength at sensor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279392" y="1810512"/>
            <a:ext cx="109728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−120 to −40 dBm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376672" y="1810512"/>
            <a:ext cx="329184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−72 dBm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39112" y="2002536"/>
            <a:ext cx="6986016" cy="19202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7" name="Text 55"/>
          <p:cNvSpPr txBox="1"/>
          <p:nvPr/>
        </p:nvSpPr>
        <p:spPr>
          <a:xfrm>
            <a:off x="2039112" y="2002536"/>
            <a:ext cx="96012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x5: Scan Rate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2999232" y="2002536"/>
            <a:ext cx="128016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Antenna scan speed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279392" y="2002536"/>
            <a:ext cx="109728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 – 60 deg/s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5376672" y="2002536"/>
            <a:ext cx="3291840" cy="192024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6 deg/s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39112" y="2221992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2093976" y="222199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ALGORITHM COMPARISON (N=12,500 samples, 80/20 split)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39112" y="2450592"/>
            <a:ext cx="3438144" cy="130759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2112264" y="2478024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Model           Train Acc   Test Acc  F1-Score  Inf.Time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─────────────────────────────────────────────────────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Logistic Reg.   81.4%       79.2%     0.787     0.2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SVM (RBF)       93.2%       87.3%     0.865     0.8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Random Forest   97.4%       93.1%     0.928     1.2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1D-CNN (DL)     99.2%       97.2%     0.971     2.1 ms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86984" y="2221992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6" name="Text 64"/>
          <p:cNvSpPr txBox="1"/>
          <p:nvPr/>
        </p:nvSpPr>
        <p:spPr>
          <a:xfrm>
            <a:off x="5641848" y="222199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CNN CONFUSION MATRIX (Test set, N=2,500)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86984" y="2450592"/>
            <a:ext cx="3438144" cy="1307592"/>
          </a:xfrm>
          <a:prstGeom prst="rect">
            <a:avLst/>
          </a:prstGeom>
          <a:solidFill>
            <a:srgbClr val="F2F6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5660136" y="2478024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              FF    AB    MS    UV    NZ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Friendly(500) 493    3     1     2     1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Bomber  (500)   2   488    5     3     2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Missile (500)   3     4   487    4     2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UAV     (500)   4     2     3   489    2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Noise   (500)   1     0     1     2   496</a:t>
            </a:r>
            <a:endParaRPr lang="en-US" sz="790" dirty="0"/>
          </a:p>
          <a:p>
            <a:pPr indent="0" marL="0">
              <a:buNone/>
            </a:pP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Overall Accuracy: 97.2%  |  Macro F1: 0.971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CRITICAL: 3 Enemy Bombers misclassified as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52744"/>
                </a:solidFill>
              </a:rPr>
              <a:t>Friendly → 0.6% False Negative rate on threat class</a:t>
            </a:r>
            <a:endParaRPr lang="en-US" sz="790" dirty="0"/>
          </a:p>
        </p:txBody>
      </p:sp>
      <p:sp>
        <p:nvSpPr>
          <p:cNvPr id="69" name="Shape 67"/>
          <p:cNvSpPr/>
          <p:nvPr/>
        </p:nvSpPr>
        <p:spPr>
          <a:xfrm>
            <a:off x="2039112" y="3822192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0" name="Text 68"/>
          <p:cNvSpPr txBox="1"/>
          <p:nvPr/>
        </p:nvSpPr>
        <p:spPr>
          <a:xfrm>
            <a:off x="2103120" y="3877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FALSE NEGATIVE COST: In IADS, misclassifying 1 enemy bomber as "Friendly" can have catastrophic consequences. Model choice in defence must optimise for RECALL on threat class, not just overall accuracy. F1 masks this asymmetry.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Unsupervised Learning — Concept &amp; Core Algorithms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Unsupervised Learning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Unsupervised Learning: Discover Structure in Unlabelled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ALGORITHMS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0487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K-MEANS CLUSTERING: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Objective: min Σ_k Σ_{x_i ∈ C_k} ||x_i - μ_k||^2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Algorithm: (1) Assign x_i to nearest μ_k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        (2) Recompute μ_k = mean(C_k)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        (3) Repeat until convergence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GAUSSIAN MIXTURE MODELS (GMM):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P(x) = Σ_k π_k N(x; μ_k, Σ_k)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Soft assignments — suited for overlapping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Parameters via EM algorithm (E-step, M-step)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DBSCAN (Density-based):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Parameters: ε (neighbourhood radius), MinPts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Finds arbitrary-shaped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Marks low-density points as NOISE (anomalies!)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PRINCIPAL COMPONENT ANALYSIS (PCA):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Reduces d-dimensional data to k &lt; d dimensions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Retains maximum variance direction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Used for sensor data compression before 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712464"/>
            <a:ext cx="3493008" cy="50292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58184"/>
            <a:ext cx="3310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K-Means:  J = Σ_{k=1}^{K} Σ_{x∈C_k} ||x - μ_k||^2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Silhouette: s = (b-a)/max(a,b)   [range: -1 to +1]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78424" y="1014984"/>
            <a:ext cx="334670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33288" y="101498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CHOOSING K — THE ELBOW METHOD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78424" y="1243584"/>
            <a:ext cx="3346704" cy="139903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51576" y="1271016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Within-Cluster Sum of Squares (WCSS) vs k: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k=1: WCSS = 1284.6  (Δ —)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k=2: WCSS =  732.1  (Δ 552.5) ← big drop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k=3: WCSS =  421.8  (Δ 310.3) ← big drop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k=4: WCSS =  168.4  (Δ 253.4) ← significant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k=5: WCSS =  149.2  (Δ  19.2) ← ELBOW (stop here)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k=6: WCSS =  141.8  (Δ   7.4) ← diminishing return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Decision: k = 5  (elbow visible at k=5)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Validation — Silhouette Score: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 &gt; 0.70: strong structure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 &gt; 0.50: reasonable structure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 &lt; 0.25: overlapping, unreliable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678424" y="2706624"/>
            <a:ext cx="334670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733288" y="270662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APPLICATIONS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78424" y="2935224"/>
            <a:ext cx="334670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751576" y="2962656"/>
            <a:ext cx="32004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🔍 Enemy Tactic Clustering: Group observed OPFOR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movements into archetypes without prior labels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🔍 Anomaly Detection: Network baseline → detect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unusual traffic patterns = likely cyber intrusion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🔍 SIGINT Clustering: Group intercepts by signal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characteristics without prior transmission type knowledge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🔍 Intelligence Analyst Support: Cluster HUMINT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reports by topic/actor for prioritisation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Unsupervised Learning — OPFOR Tactic Clustering (Case Study)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Unsupervised Learning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Case Study: Clustering Enemy Force Manoeuvre Patterns (JANUS Simulator)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 DESCRIPTION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Source: JANUS wargame simulator exercise logs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Samples: N = 4,800 force movement trajectories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(Z-score normalised):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x1: Average speed (km/h)           [0, 120]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x2: Direction change rate (deg/min) [0, 45]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x3: Formation spread (m)            [10, 500]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x4: Dwell time at waypoints (min)   [0, 60]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x5: Terrain exposure index          [0, 1]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Elbow method → Optimal k = 4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Silhouette Score at k=4: 0.683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Calinski-Harabasz Index: 1,248.7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K-MEANS RESULTS (k=4)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Cluster  Size   Speed  DirChg  Spread  Interpretation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──────────────────────────────────────────────────────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   0      1142   18.3     3.2    420 m    PATROL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   1       892   62.7    28.4     85 m    ASSAULT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   2       670   41.2     6.1    310 m    TRANSIT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   3      2096    4.8     1.2    380 m    STATIC / DEFENCE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Validation: Expert analysts labelled 200 random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samples independently.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Label agreement: 86.5% ← strong validation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39112" y="2999232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0540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TACTICAL INSIGHT: Cluster 1 (ASSAULT) showed 28.4 deg/min direction change — rapid flanking signature. Previously MISSED by rule-based analysts who only monitored speed threshold &gt;60 km/h. ML found the pattern WITHOUT being told what to look for.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3538728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093976" y="35387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OPERATIONAL USE IN WARGAMING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39112" y="3767328"/>
            <a:ext cx="343814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12264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Phase 1: Cluster offline on historical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Phase 2: In live simulation, assign new OPFOR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     movements to cluster in real time (0.3 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Phase 3: Trigger BLUE Force response doctrine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Phase 4: Retrain quarterly as tactics evolve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86984" y="3538728"/>
            <a:ext cx="3438144" cy="841248"/>
          </a:xfrm>
          <a:prstGeom prst="rect">
            <a:avLst/>
          </a:prstGeom>
          <a:solidFill>
            <a:srgbClr val="FFF5F5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650992" y="3593592"/>
            <a:ext cx="3310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📋 LIMITATIONS: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• Silhouette 0.683 &lt; 0.75: TRANSIT/ASSAULT overlap ≈ 13.5%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• Assumes k=4 archetypes — deception tactics may need k+1 cluster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• Non-stationary: adversary doctrine adapts — model must retrain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Semi-supervised &amp; Self-supervised Learning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Semi-sup &amp; SSL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Learning with Limited Labels or Self-Generated Supervision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SEMI-SUPERVISED LEARNING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Problem: Labelling requires scarce PHOTINT experts.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Approach: D_L (small labelled) + D_U (large unlabelled)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Defence Example — SAR Image Segmentation: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200 expert-labelled SAR images (tanks, APCs, trucks)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20,000 unlabelled SAR images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Results: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Supervised (200 labels only): 71.2% accuracy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Semi-supervised (200 + 20K):  88.4% accuracy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Supervised (all 20,200 labels): 94.1% accuracy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Semi-supervised bridges the gap at ~12% of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full-supervision cost!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Techniques: Label Propagation, Pseudo-labelling,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Consistency Regularisation, MixMatch, FixMatch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SELF-SUPERVISED 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Idea: Create labels FROM the data itself.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 human annotation — scales to any data volume!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Pretext Tasks (the self-supervision tricks):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Masked Autoencoding (MAE): Mask 75% of image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patches → predict masked content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Contrastive Learning (SimCLR): Two augmented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views of same image → must be similar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BERT Masking: Mask 15% of text tokens → predict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Defence Application: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Pre-train on 500K unlabelled radar signals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Fine-tune on 1,000 labelled threat signals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Result: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From scratch (1K labels): 79.2% accuracy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SSL pre-train + fine-tune: 93.7% accuracy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Improvement: +14.5% — significant for defence!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models: SimCLR, MoCo, DINO, MAE, CLIP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712464"/>
            <a:ext cx="6986016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3758184"/>
            <a:ext cx="680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SSL Pre-training: θ* = argmin_θ L_pretext(θ, D_U)  →  Fine-tune on D_L  →  Evaluate on held-out test set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39112" y="4251960"/>
            <a:ext cx="6986016" cy="457200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3068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🎯 WARGAMING: In classified domains, labelled data is scarce &amp; expensive. Semi-supervised and self-supervised techniques maximise use of abundant raw sensor/comms data with minimal expert labelling overhead — crucial for rapid capability development.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Reinforcement Learning — Concept &amp; Markov Decision Process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Reinforcement Learning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Reinforcement Learning: Agent Learns Optimal Strategy via Reward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MDP FORMALISM: (S, A, P, R, γ)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S:     State space — what agent observes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A:     Action space — what agent can do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P(s′|s,a): Transition probability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R(s,a,s′): Reward signal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γ ∈ [0,1]: Discount factor (future reward weight)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Find policy π*(s) = argmax_a Q*(s,a)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maximising cumulative discounted reward: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G_t = Σ_{k=0}^{∞} γ^k R_{t+k+1}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Bellman Optimality Equation: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Q*(s,a) = Σ_{s′} P(s′|s,a) · [R + γ max_{a′} Q*(s′,a′)]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Q-Learning Update Rule: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Q(s,a) ← Q(s,a) + α[r + γ max_{a′} Q(s′,a′) − Q(s,a)]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α = learning rate   ε-greedy: explore ε, exploit (1−ε)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Deep Q-Network (DQN): Replace Q-table with NN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Q(s,a; θ) ≈ Q*(s,a)  [handles large state spaces]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818144" y="1170432"/>
            <a:ext cx="3206984" cy="4572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818144" y="1170432"/>
            <a:ext cx="3206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(Blue Force Commander AI)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18144" y="2478024"/>
            <a:ext cx="3206984" cy="457200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18144" y="2478024"/>
            <a:ext cx="3206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ENVIRONMENT (Wargame Simulation)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863864" y="1691640"/>
            <a:ext cx="313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18"/>
                </a:solidFill>
              </a:rPr>
              <a:t>ACTION (a): Move/Attack/Defend/Resupply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863864" y="2057400"/>
            <a:ext cx="313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45"/>
                </a:solidFill>
              </a:rPr>
              <a:t>STATE (s) + REWARD (r)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21636" y="1627632"/>
            <a:ext cx="0" cy="822960"/>
          </a:xfrm>
          <a:prstGeom prst="line">
            <a:avLst/>
          </a:prstGeom>
          <a:noFill/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Shape 40"/>
          <p:cNvSpPr/>
          <p:nvPr/>
        </p:nvSpPr>
        <p:spPr>
          <a:xfrm>
            <a:off x="7421636" y="2478024"/>
            <a:ext cx="0" cy="-822960"/>
          </a:xfrm>
          <a:prstGeom prst="line">
            <a:avLst/>
          </a:prstGeom>
          <a:noFill/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Shape 41"/>
          <p:cNvSpPr/>
          <p:nvPr/>
        </p:nvSpPr>
        <p:spPr>
          <a:xfrm>
            <a:off x="5818144" y="2999232"/>
            <a:ext cx="320698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873008" y="2999232"/>
            <a:ext cx="309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WARGAME RL EXAMPLE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18144" y="3227832"/>
            <a:ext cx="3206984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891296" y="3255264"/>
            <a:ext cx="3060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State:   20×20 hex grid + unit positions + resources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Actions: Move (4 dir), Attack, Defend, Resupply = 7/unit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Reward: +10 objective, +5 kill, -8 unit lost, +100 win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Convergence: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10K episodes: 67% win rate vs random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50K episodes: 85% win rate vs random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100K episodes: 91% win rate (beats novice human!)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Deep Learning — Neural Networks &amp; Hierarchical Feature Learning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Deep Learning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Deep Learning: Multi-Layer Feature Extraction from Raw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NEURAL NETWORK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2316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 single neuron computes: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a_j = σ( Σ_i w_{ij} x_i + b_j 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Activation Functions σ: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ReLU:      σ(x) = max(0, x)          [most common]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Sigmoid:   σ(x) = 1/(1+e^{-x})      [binary output]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Softmax:   σ(x_i) = e^{x_i}/Σ e^{x_j} [multi-class]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Tanh:      σ(x) = (e^x−e^{-x})/(e^x+e^{-x})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Backpropagation: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∂L/∂w = ∂L/∂a · ∂a/∂w  [chain rule through layers]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θ ← θ - α ∇_θ L(θ)      [gradient descent update]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Universal Approximation Theorem: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 NN with ≥1 hidden layer can approximate any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continuous function to arbitrary accuracy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(Hornik 1989) — theoretical foundation of DL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730752"/>
            <a:ext cx="3493008" cy="50292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76472"/>
            <a:ext cx="3310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a_j = σ( Σ_i w_{ij} · x_i  +  b_j )    [single neuron]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∂L/∂w_{ij} = ∂L/∂a_j · σ'(z_j) · x_i  [gradient update]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78424" y="1014984"/>
            <a:ext cx="334670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33288" y="101498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"DEEP"? HIERARCHICAL FEATURES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78424" y="1243584"/>
            <a:ext cx="33467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51576" y="1271016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Shallow (1 layer): Simple linear boundaries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Deep (5-100+ layers): Hierarchical abstraction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SAR / Satellite Image Defence Example: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1: Pixel edges, shadow boundaries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2: Corner reflectors, geometric shapes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3: Vehicle silhouettes, track marks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4: Tank vs APC vs truck type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5: Tactical formation, posture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Layer 6+: Context, intent inference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Scale Law (Kaplan 2020):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More data + More parameters + More compute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Better performance (predictably)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678424" y="3008376"/>
            <a:ext cx="731520" cy="30175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78424" y="300837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CNN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455664" y="300837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Images, SAR, Satellite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330184" y="30083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7680"/>
                </a:solidFill>
              </a:rPr>
              <a:t>97.2% target ID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78424" y="3346704"/>
            <a:ext cx="731520" cy="30175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678424" y="33467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RNN/LSTM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455664" y="33467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Radar tracks, SIGINT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8330184" y="334670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7680"/>
                </a:solidFill>
              </a:rPr>
              <a:t>78% intent pred.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678424" y="3685032"/>
            <a:ext cx="731520" cy="30175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5678424" y="36850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Transformer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455664" y="36850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Intel reports, LLMs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330184" y="368503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7680"/>
                </a:solidFill>
              </a:rPr>
              <a:t>88% NER on SIGINT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78424" y="4023360"/>
            <a:ext cx="731520" cy="30175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5678424" y="402336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GAN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6455664" y="40233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Synthetic training data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330184" y="40233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7680"/>
                </a:solidFill>
              </a:rPr>
              <a:t>8× data augment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Generative AI — Large Language Models (LLMs)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11. Generative AI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LLMs: The Transformer Revolution &amp; Defence Applications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LLMs 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4144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Architecture: Transformer decoder (autoregressive)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Core: Multi-head Self-Attention mechanism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Attention(Q,K,V) = softmax(QK^T/√d_k) · 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Pre-training Objective: Next Token Prediction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Maximise: P(w_t | w_1,...,w_{t-1}; θ)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Scale: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GPT-3: 175B parameters, 300B training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GPT-4: ~1.8T params (est), 13T tokens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Emergent capabilities at scale: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In-context learning (few-shot)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Chain-of-thought reasoning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Code generation, multi-language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Fine-tuning options: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Full:  update all θ (expensive)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LoRA:  train small adapter matrices (efficient)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RLHF:  align to human preferences (safety)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749040"/>
            <a:ext cx="3493008" cy="45720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9476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78424" y="1014984"/>
            <a:ext cx="334670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33288" y="101498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APPLICATIONS OF LLMs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78424" y="1243584"/>
            <a:ext cx="3346704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51576" y="1271016"/>
            <a:ext cx="3200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📋 Intelligence Synthesis: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Auto-summarise 500+ daily SIGINT reports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into commander-ready brief in &lt; 2 minutes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Threat Narration: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Convert structured sensor output → natural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language threat assessment for commanders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🗺 COA Generation: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Suggest course-of-action options from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doctrine + current battlefield situation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🔐 Cyber Defence: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Analyse malware code, generate YARA rules,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explain CVEs to non-technical commanders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678424" y="2798064"/>
            <a:ext cx="3346704" cy="1417320"/>
          </a:xfrm>
          <a:prstGeom prst="rect">
            <a:avLst/>
          </a:prstGeom>
          <a:solidFill>
            <a:srgbClr val="FFF0F0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742432" y="2852928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LLM RISKS IN DEFENCE: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Hallucination: Confident but WRONG facts → dangerous in battle planning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Data poisoning: Adversarially manipulated pre-training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No interpretability: Why did model recommend this COA?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Latency: GPT-4 API = 2–15 sec → unacceptable for real-time tactical decisions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Classified data leakage: Cloud-based LLMs not suitable for sensitive operations</a:t>
            </a:r>
            <a:endParaRPr lang="en-US" sz="88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831336"/>
            <a:ext cx="323697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Retrieval Augmented Generation (RAG) for Defence Intelligence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11. Generative AI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RAG: Grounding LLMs in Verified, Classified Knowledge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655064" cy="40233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❓ QUERY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1453896"/>
            <a:ext cx="16550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0876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Commander asks: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"Capability of Type-99A MBT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 mountain terrain ops?"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703320" y="1563624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1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67328" y="1014984"/>
            <a:ext cx="1655064" cy="402336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3767328" y="101498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RETRIEVE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67328" y="1453896"/>
            <a:ext cx="16550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3831336" y="150876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Vector DB search: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doctrine docs + OSINT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→ Top-5 relevant chunks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431536" y="1563624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18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95544" y="1014984"/>
            <a:ext cx="1655064" cy="40233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495544" y="101498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AUGMENT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95544" y="1453896"/>
            <a:ext cx="16550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559552" y="150876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Query + retrieved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context → LLM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Grounded in verified docs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159752" y="1563624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18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23760" y="1014984"/>
            <a:ext cx="1655064" cy="402336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7223760" y="101498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GENERATE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23760" y="1453896"/>
            <a:ext cx="16550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9" name="Text 47"/>
          <p:cNvSpPr txBox="1"/>
          <p:nvPr/>
        </p:nvSpPr>
        <p:spPr>
          <a:xfrm>
            <a:off x="7287768" y="150876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LLM generates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with source doc IDs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Auditable &amp; traceable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39112" y="2496312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Text 49"/>
          <p:cNvSpPr txBox="1"/>
          <p:nvPr/>
        </p:nvSpPr>
        <p:spPr>
          <a:xfrm>
            <a:off x="2093976" y="249631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RAG vs BARE LLM (Defence Context)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39112" y="2724912"/>
            <a:ext cx="3438144" cy="1463040"/>
          </a:xfrm>
          <a:prstGeom prst="rect">
            <a:avLst/>
          </a:prstGeom>
          <a:solidFill>
            <a:srgbClr val="F4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112264" y="2752344"/>
            <a:ext cx="3291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Metric               Bare LLM   RAG-enabled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────────────────────────────────────────────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Factual Accuracy       73.2%       94.6%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Hallucination Rate     18.4%        3.2%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Source Citability        0%        91.8%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Avg. Latency           2.1 sec     3.4 sec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Cost per query         $0.04       $0.06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→ RAG: +1.3 sec latency + $0.02 cost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for +21.4% accuracy gain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and near-zero hallucinations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586984" y="2496312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5" name="Text 53"/>
          <p:cNvSpPr txBox="1"/>
          <p:nvPr/>
        </p:nvSpPr>
        <p:spPr>
          <a:xfrm>
            <a:off x="5641848" y="249631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SECURE DEFENCE RAG ARCHITECTURE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86984" y="2724912"/>
            <a:ext cx="3438144" cy="146304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7" name="Text 55"/>
          <p:cNvSpPr txBox="1"/>
          <p:nvPr/>
        </p:nvSpPr>
        <p:spPr>
          <a:xfrm>
            <a:off x="5660136" y="2752344"/>
            <a:ext cx="3291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Knowledge Base: Classified doctrine + manuals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stored as vector embeddings (on-premise)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Embedding Model: BERT fine-tuned on defence corpus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Vector Store: FAISS / Chroma (air-gapped server)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 cloud dependency for classified data!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LLM: Locally deployed Llama-3-70B or Mistral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on secure, on-premise GPU server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Security: Air-gapped, data-at-rest encrypted,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query logs monitored, access control enforced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AI/ML in Defence — Application Landscape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Defence Apps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Comprehensive AI/ML Application Map for Defence &amp; Wargaming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089660" cy="47548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ISR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SAR/EO image analysis (CNN)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SIGINT pattern recog. (LSTM)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Multi-source fusion (Transformer)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HUMINT report synthesis (LLM)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192780" y="1014984"/>
            <a:ext cx="1089660" cy="475488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192780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CYBER OPS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92780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256788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Intrusion detection (Unsup.)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Malware classification (RF)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APT clustering (DBSCAN)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Vulnerability assessment (DL)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4346448" y="1014984"/>
            <a:ext cx="1089660" cy="4754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4346448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AUTONOMOUS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46448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4410456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UAV path planning (RL+A*)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Swarm coordination (MARL)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Mine detection (CNN+Fusion)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Autonomous vehicles (SLAM)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500116" y="1014984"/>
            <a:ext cx="1089660" cy="47548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500116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LOGISTICS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00116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564124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Demand forecast (LSTM/ARIMA)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Predictive maintenance (XGBoost)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Route optimisation (RL)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Fuel modelling (Linear Reg)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653784" y="1014984"/>
            <a:ext cx="1089660" cy="475488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6653784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WARGAMING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SIMULATION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53784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6717792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OPFOR agents (DQN/PPO)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Terrain analysis (CNN+GIS)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Attrition modelling (SVM/NN)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COA generation (LLM+RL)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807452" y="1014984"/>
            <a:ext cx="1089660" cy="475488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7807452" y="1014984"/>
            <a:ext cx="1089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C2 &amp; DECISION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SUPPORT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07452" y="1527048"/>
            <a:ext cx="10896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7871460" y="1581912"/>
            <a:ext cx="9616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Battlefield visualisation (DL)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Force tracking (Kalman+ML)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Commander briefing (RAG+LLM)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• Info overload filter (NLP)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2039112" y="3557016"/>
            <a:ext cx="6986016" cy="53035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103120" y="36118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INDIA DEFENCE AI: DRDO AI-enabled artillery fire control | ISRO ML-based satellite image analysis | Navy sonar ML systems | Army autonomous surveillance UGVs represent active deployments across all six domains.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039112" y="416052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A8A"/>
                </a:solidFill>
              </a:rPr>
              <a:t>All six domains are interconnected — data flows ISR → C2 → Wargaming → Autonomous Systems in the sensor-to-shooter chain.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in Wargaming — Key Use Cases &amp; Numerical Benchmarks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Wargaming Cases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AI is Transforming Wargame Simulation Systems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COMPUTER GENERATED FORCES (CGF)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Traditional: Scripted NPC behaviour (predictable,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exploitable by trained players)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AI-Enhanced OPFOR: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Adaptive, doctrine-adherent RL agents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Multi-echelon: strategic → operational → tactical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Adapts mid-exercise to Blue Force strategy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Benchmark (DRL OPFOR vs Humans):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DRL OPFOR effectiveness: 78% of expert human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Cost: 1/1000th of human OPFOR staffing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Availability: 24/7 unlike human role-players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Attrition Modelling — Lanchester's Law Enhanced: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Classical: dR/dt = −α·B, dB/dt = −β·R  [R² = 0.61]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ML-enhanced (terrain + weather + morale + EW):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Forest model: R² = 0.87 on 1,200 engagements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TERRAIN &amp; COA ANALYSIS WITH AI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01168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Terrain Classification (CNN on LIDAR/Satellite):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Dataset: 50K terrain patches (1km×1km)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Classes: Urban, Forest, Open, Mountain, Water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Model: ResNet-34 (fine-tuned)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Accuracy: 94.8%  |  Inference: 11ms/patch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Manual GIS: 4 hrs per 1000 km²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AI system: 12 min for same area (20× speedup)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COA Generation (LLM + RL):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Traditional MDMP: 6-hour staff planning cycle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AI-assisted: 3 COA options in 45 seconds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Quality (expert rating "acceptable"): 72% of AI COAs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vs 89% for trained staff (17% quality gap)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Useful for initial planning support, not final orders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319272"/>
            <a:ext cx="6986016" cy="566928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37413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WARGAME AI MATURITY LEVELS: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Level 1: Scripted AI (current standard)  Level 2: Adaptive RL agents (emerging)  Level 3: Multi-agent coalition tactics (research)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Level 4: Strategic-level AI advisors with LLM reasoning (near-future)  Level 5: Autonomous campaign planning (far-future)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3950208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005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SIMULATION-TO-REALITY GAP: 91% win rate in JANUS simulation ≠ 91% real-world performance. Sim-to-real transfer, fog-of-war, adversarial adaptation, and friction must be explicitly modelled. Over-confidence in wargame AI results is a known failure mode.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Pitfalls — Why Bad Data Produces Dangerous AI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Data Pitfalls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Six Critical Data Pitfalls in Defence AI (Overview)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100328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①  Survivorship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Bias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Study only survivors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→ Ignore failures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Ex: Train only on won battles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3194304" y="1014984"/>
            <a:ext cx="1100328" cy="402336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194304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②  Spurious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Correlation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94304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258312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Correlation ≠ Causation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Ex: "Lunch quality" predicts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exercise win rate?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349496" y="1014984"/>
            <a:ext cx="1100328" cy="402336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4349496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③  Overfitting &amp;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Dist. Shift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49496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4413504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Model memorises data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Fails in new environment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Ex: Afghan terrain → Iraq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504688" y="1014984"/>
            <a:ext cx="1100328" cy="40233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504688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④  Training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Data Bias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04688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568696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Skewed training set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Class imbalance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Confirmation bias in labels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6659880" y="1014984"/>
            <a:ext cx="1100328" cy="402336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6659880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⑤  Label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Noise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59880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6723888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5% label noise → -3.4% acc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30% noise → -35% acc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Adversarial poisoning possible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7815072" y="1014984"/>
            <a:ext cx="1100328" cy="40233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7815072" y="1014984"/>
            <a:ext cx="110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⑥  Misuse of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Statistics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15072" y="1453896"/>
            <a:ext cx="1100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7879080" y="1508760"/>
            <a:ext cx="97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P-hacking, cherry-picking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Mean without context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Simpson's Paradox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2039112" y="2916936"/>
            <a:ext cx="6986016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103120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📚 REFERENCE THREAD: AK Dhamija (SlideShare: Goody Research – Compatibility Mode) presents fundamental flaws in using data and drawing incorrect conclusions from research. The following slides expand these ideas with defence-specific examples, additional pitfalls, and AI-specific failures. The slides below are directly inspired by and extend that foundational work.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2039112" y="3575304"/>
            <a:ext cx="6986016" cy="53035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2103120" y="3630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⚠ MARK TWAIN: "There are three kinds of lies: lies, damned lies, and statistics." — The stakes in defence AI are existential. A mis-trained model advising a commander is not an academic curiosity — it is an operational liability.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Pitfall #1 — Survivorship Bias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Data Pitfalls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Survivorship Bias: Studying Only the Winners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CLASSIC CASE: WALD &amp; WWII BOMBERS (1943)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USAF analyses returning B-17 bombers: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Observation: Wings &amp; fuselage most shot 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Recommendation: Armour those areas!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ABRAHAM WALD'S CORRECTION: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You see only planes that RETURNED.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Planes hit in engines/cockpit are at the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bottom of the ocean — invisible to you.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Armour where you see NO damage!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THOSE are the fatal hits.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Outcome: 100s of aircraft saved by armoring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the unseen vulnerable points.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WARGAMING AI APPLICATION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Scenario: Build ML model to predict battle success.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NAIVE APPROACH (biased):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Only records from battles survived/won.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SIMULATED RESULT: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Biased training → predicted win rate: 74%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Actual exercise win rate: 53%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Over-estimation: +39.6% ← CATASTROPHIC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CORRECT APPROACH: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Seek DEFEAT records + OPFOR after-action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reports + classified failure analyses.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Weight rare-failure events appropriately.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❓ "Where are the failure records?"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If dataset has only successes → biased.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072384"/>
            <a:ext cx="6986016" cy="53035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12724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OTHER MILITARY EXAMPLES: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Equipment reliability data: Failed units are destroyed/removed → available data shows survivor reliability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Battle doctrine analysis: Only written up IF the operation succeeded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• Fund manager ranking: Only surviving funds appear in performance tables (massive optimism bias)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039112" y="3666744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3721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744"/>
                </a:solidFill>
              </a:rPr>
              <a:t>⚠ RED FLAG: If your training dataset contains ONLY successful outcomes or surviving examples, your model will be OPTIMISTIC BY DESIGN. In defence AI, optimism = vulnerability.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Pitfall #2 — Spurious Correlation &amp; Statistical Misuse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Data Pitfalls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Correlation ≠ Causation: Statistics as a Weapon (Against You)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SPURIOUS CORRELATIONS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404872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Classic: Ice cream sales ↔ Shark attacks  r = 0.92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NOT because ice cream attracts sharks!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CONFOUNDER: Summer heat → more swimming + ice cream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SIMPSON'S PARADOX: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 trend appears in groups but REVERSES in combined data!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Example: Treatment success rates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Small stones:  A 81/87 = 93%    B 234/270 = 87%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Large stones:  A 192/263 = 73%  B 55/80 = 69%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Combined:  A 273/350 = 78%  vs  B 289/350 = 83%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A wins BOTH groups yet loses overall (A got the hard cases). Never add %s: use counts.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despite being better in EVERY subgroup!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DEFENCE EXAMPLE (Wargame data, 3 yrs):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Finding: "Catering quality survey score"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correlates with exercise WIN RATE  r = 0.71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Spurious! CONFOUNDER = budget/readiness 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Controlling for budget: r_partial = 0.09 (p=0.42)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MISUSE OF STATISTICS (Key Flaws)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40487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① MEAN WITHOUT CONTEXT: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Average salary soldiers = Rs 35K/month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But median = Rs 22K (few senior officers skew mean!)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Always report median + IQR, not just mean.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② P-HACKING / DATA DREDGING: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Run 20 tests at p&lt;0.05 → expect 1 false positive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by chance. "Significant" with p=0.048 is not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meaningful if 50 other tests were run first!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③ CHERRY-PICKING 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Report only time windows / subgroups that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confirm your hypothesis. Full reporting required.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④ SMALL SAMPLE OVERGENERALISATION: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3 wargame exercises → "AI always outperforms"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Need N ≥ 30 for basic CLT guarantees.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⑤ ECOLOGICAL FALLACY: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Group-level pattern ≠ Individual-level pattern.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"Brigades with more AI tools win more"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→ doesn't mean any specific brigade will win more.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712464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767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SHORTCUT LEARNING (AI-SPECIFIC): CNN classifying tanks learned to detect BACKGROUND (blue sky in training photos) — not the tank itself! In wargaming: model identifies "night operations" from timestamp metadata not from thermal signatures → adversary exploits this.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Pitfalls #3 &amp; #4 — Overfitting, Distribution Shift &amp; Bias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Data Pitfalls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Overfitting, Domain Shift, Training Bias &amp; Label Noise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OVERFITTING &amp; DISTRIBUTION SHIFT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60904"/>
          </a:xfrm>
          <a:prstGeom prst="rect">
            <a:avLst/>
          </a:prstGeom>
          <a:solidFill>
            <a:srgbClr val="FFFB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Mine Detection System (GPR + Metal Detector):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Training: 800 samples, Afghan terrain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Features: 47 signal features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Model A (Simple CNN, 200K params):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Train Acc: 88.4%   Test-Afghan: 86.2%   Test-Iraq: 82.7%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Model B (Deep ResNet, 25M params):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Train Acc: 97.3%   Test-Afghan: 94.1%   Test-Iraq: 58.7% ✗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Model B OVERFIT to Afghan soil signatures!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Deployed in Iraq: 58.7% accuracy → CATASTROPHIC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Causes of Distribution Shift: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Training: day imagery; deploy: night imagery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Training: desert; deploy: jungle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Training: 2021 threat profiles; deploy: 2026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Detection: Kolmogorov-Smirnov test on input dist.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 = max|F_new(x) − F_train(x)|  → alert if D &gt; τ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Remediation: L2 regularisation, dropout, early stopping,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data augmentation, domain-adaptive training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TRAINING DATA BIAS &amp; LABEL NOISE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660904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TRAINING BIAS TYPES: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Selection Bias: Non-representative collection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Facial recog. trained on Caucasian faces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→ 34% error on darker skin tones (MIT 2018)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Intel labels biased by analyst's prior beliefs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Class Imbalance: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Training: 95% non-threat, 5% threat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Model predicts "non-threat" always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95% accuracy but ZERO threat detection!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Fix: Class weighting, SMOTE oversampling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LABEL NOISE IMPACT STUDY: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(N = 10,000 defence sensor samples)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Noise Rate   Accuracy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0%   →   97.2%  (baseline)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5%   →   93.8%  (−3.4%)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10%   →   88.1%  (−9.1%)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20%   →   76.4%  (−20.8%)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30%   →   61.7%  (−35.5%) ← near-useless!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ADVERSARIAL POISONING: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3% poisoning → 94% flip on target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Training pipelines must be cryptographically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signed and anomaly-monitored!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968496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🎯 PROTOCOL: Test on data from the DEPLOYMENT domain, not just training domain. For defence systems, test across ALL anticipated operating environments, weather conditions, and adversary adaptations BEFORE fielding.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1 Summary — Key Takeaways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What We Covered Today — 15 Key Points in 6 Categories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3774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AI FOUNDATIONS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52728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07592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AI = making machines mimic cognition.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Spans Classical (rules) to GenAI (learned).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Narrow AI is current state-of-art.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37744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ML REVOLUTION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52728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07592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Learn patterns from DATA not rules.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Shift enabled by: data + GPU compute.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Explosion post-2012 (ImageNet/AlexNet).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3774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5 PARADIGMS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496312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51176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Supervised/Unsupervised/Semi-sup/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Self-supervised/Reinforcement Learning.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Each suits a different data availability scenario.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3774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DEEP LEARNING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496312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51176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Multi-layer NNs: hierarchical features.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CNN (images), RNN/LSTM (sequences),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Transformer (attention) — defence workhorse.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37744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GENERATIVE AI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39896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794760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LLMs predict tokens (Transformer decoder).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RAG grounds LLMs in verified sources.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Defence: ISR synthesis, COA, cyber analysis.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37744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6 DATA PITFALLS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39896"/>
            <a:ext cx="245516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794760"/>
            <a:ext cx="23271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Survivorship bias | Spurious correlation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Statistical misuse | Overfitting/dist.shift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Training bias | Label noise/poisoning.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2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Supervised Learning: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Logistic Regression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Decision Trees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Random Forests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SVM &amp; Kernel Trick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Evaluation Metrics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1 released today (Part 3 of this deck).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Solve at home, verify against solutions provided.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Looking Ahead — Lecture 2: Supervised Learning (Classification)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Intelligence &amp; AI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History of AI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Classical AI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AI vs ML vs DL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ML Paradigms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Semi-sup &amp; SSL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Reinforcement Learning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Deep Learning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Generative AI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Defence Apps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Wargaming Cases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Data Pitfalls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Lecture 2 Preview: Supervised Learning Part 1 — Classification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2 TOPICS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Decision boundary concept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Logistic Regression (classification)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k-Nearest Neighbours (kNN)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Decision Trees &amp; CART algorithm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Random Forest (Ensemble methods)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Support Vector Machines (SVM)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 – Hard &amp; Soft margin formulation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 – Kernel trick (RBF, Polynomial)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Naive Bayes Classifier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Evaluation: Precision/Recall/F1/ROC-AUC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📌 Worked numerical examples throughout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52744"/>
                </a:solidFill>
              </a:rPr>
              <a:t>   (IADS threat classification, 5-class problem)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2 CASE STUDY (Preview)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6984" y="1243584"/>
            <a:ext cx="3438144" cy="260604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Multi-class Threat Classification for IADS: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5 classes: Friendly Fighter | Adversary Bomber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      Cruise Missile | UAV/Drone | Civilian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11 features: 8 radar + 3 EW 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N = 8,500 samples (80/15/5 train/val/test split)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Comparison of ALL 5 algorithms on same 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→ Which wins? What trade-offs?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→ Is 99% accuracy on test set trustworthy?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→ (Spoiler: Distribution shift will strike again!)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All derivations from FIRST PRINCIPLES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with defence-specific numerical context.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39112" y="3913632"/>
            <a:ext cx="6986016" cy="384048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103120" y="39684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📚 PRE-READING for Lecture 2: Review matrix operations, probability fundamentals (Bayes theorem), and sigmoid function. Lectures 2-3 use linear algebra notation extensively.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39112" y="4361688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103120" y="44165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📝 ASSIGNMENT 1 (Released today, Part 3 of this lecture pack): Solve the problems at home. Bring written solutions to Lecture 2 — first 5 minutes will discuss common errors.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1: Foundations &amp; Paradigms</dc:title>
  <dc:subject>PptxGenJS Presentation</dc:subject>
  <dc:creator>AK DHAMIJA</dc:creator>
  <cp:lastModifiedBy>AK DHAMIJA</cp:lastModifiedBy>
  <cp:revision>1</cp:revision>
  <dcterms:created xsi:type="dcterms:W3CDTF">2026-09-22T14:16:24Z</dcterms:created>
  <dcterms:modified xsi:type="dcterms:W3CDTF">2026-09-22T14:16:24Z</dcterms:modified>
</cp:coreProperties>
</file>