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Lecture 9: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Culmination &amp; Revision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240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>Integrating Eight Lectures into One Coherent Defence AI Framework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578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</a:rPr>
              <a:t>Concept Map  ·  Case Study Threads  ·  Algorithm Selection  ·  Key Formulas  ·  Misconceptions  ·  Ethical Framework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1F6A"/>
                </a:solidFill>
              </a:rPr>
              <a:t>L1: Foundations  →  L2–3: Supervised  →  L4–5: Unsupervised  →  L6–8: RL &amp; MARL  →  L9: Synthesis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Course Concept Map — The Full AI/ML Landscape for Defence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Course Concept Map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All Eight Lectures Connect: One Decision Tree, One Toolkit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417320" cy="219456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L1: FOUNDATIONS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39112" y="12344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28930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AI vs ML vs DL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Paradigms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Data Pitfalls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47872" y="1014984"/>
            <a:ext cx="1417320" cy="219456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584448" y="10149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L2: CLASSIFICATION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547872" y="12344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611880" y="128930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kNN, DT, RF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SVM, XGBoost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IADS Threat ID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56632" y="1014984"/>
            <a:ext cx="1417320" cy="219456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093208" y="10149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L3: REGRESSION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FUSION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56632" y="12344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120640" y="128930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OLS→Ridge→Lasso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SVR, XGBoost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Kalman Filter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65392" y="1014984"/>
            <a:ext cx="1417320" cy="2194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6601968" y="10149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L4: CLUSTERING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65392" y="12344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6629400" y="128930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k-Means, DBSCAN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GMM, Hierarch.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OPFOR Archetypes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074152" y="1014984"/>
            <a:ext cx="1417320" cy="219456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8110728" y="10149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L5: ANOMALY DET.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74152" y="12344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8138160" y="128930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IF, OCSVM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Autoencoder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Intrusion/Insider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70632" y="1874520"/>
            <a:ext cx="1417320" cy="219456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2807208" y="18745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L6: Q-LEARNING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70632" y="2093976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2834640" y="214884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MDP, Bellman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DQN, Double,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Dueling DQN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79392" y="1874520"/>
            <a:ext cx="1417320" cy="219456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4315968" y="18745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L7: POLICY GRAD.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279392" y="2093976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4343400" y="214884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REINFORCE, PPO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SAC, Gaussian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Drone Control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88152" y="1874520"/>
            <a:ext cx="1417320" cy="219456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5824728" y="18745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L8: MARL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788152" y="2093976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5852160" y="214884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CTDE, QMIX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MAPPO, MADDPG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Combined Arms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39112" y="1389888"/>
            <a:ext cx="7498080" cy="0"/>
          </a:xfrm>
          <a:prstGeom prst="line">
            <a:avLst/>
          </a:prstGeom>
          <a:noFill/>
          <a:ln w="12700">
            <a:solidFill>
              <a:srgbClr val="6A7A8A"/>
            </a:solidFill>
            <a:prstDash val="dash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2039112" y="14538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SUPERVISED LEARNING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(labelled data required)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565392" y="1453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UNSUPERVISED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(no labels needed)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770632" y="1837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REINFORCEMENT LEARNING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3A5E"/>
                </a:solidFill>
              </a:rPr>
              <a:t>(learn by interaction)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312664" y="1874520"/>
            <a:ext cx="0" cy="475488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6974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F6A"/>
                </a:solidFill>
              </a:rPr>
              <a:t>↓ builds on supervised concepts 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342632" y="1874520"/>
            <a:ext cx="1783080" cy="749808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0" name="Text 68"/>
          <p:cNvSpPr txBox="1"/>
          <p:nvPr/>
        </p:nvSpPr>
        <p:spPr>
          <a:xfrm>
            <a:off x="7397496" y="1965960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L9: SYNTHESIS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All paradigms • All tools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pipeline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039112" y="2953512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103120" y="30083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KEY THREAD: Every lecture builds toward an INTEGRATED AI/ML PIPELINE for defence — from raw sensor data (L1 data quality) → threat classification (L2–3) → pattern discovery (L4–5) → decision optimisation (L6–8). No algorithm exists in isolation.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039112" y="3474720"/>
            <a:ext cx="6986016" cy="402336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103120" y="352958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THREE MASTER QUESTIONS for any defence AI problem: ① Do I have labels? (Supervised vs Unsupervised) ② Is the environment interactive? (Static ML vs RL) ③ Are there multiple agents? (Single-agent RL vs MARL)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Cross-Lecture Case Study Thread — One Battlefield, Eight Algorithms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Cross-Lecture Case Studies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Every Lecture's Case Study Operates in the SAME Defence Problem Space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4114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Lec.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2450592" y="1014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Case Study</a:t>
            </a:r>
            <a:endParaRPr lang="en-US" sz="780" dirty="0"/>
          </a:p>
        </p:txBody>
      </p:sp>
      <p:sp>
        <p:nvSpPr>
          <p:cNvPr id="34" name="Text 32"/>
          <p:cNvSpPr txBox="1"/>
          <p:nvPr/>
        </p:nvSpPr>
        <p:spPr>
          <a:xfrm>
            <a:off x="4233672" y="1014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Algorithm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5605272" y="1014984"/>
            <a:ext cx="74980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Key Metric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1014984"/>
            <a:ext cx="277977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Operational Value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039112" y="1234440"/>
            <a:ext cx="6986016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Shape 36"/>
          <p:cNvSpPr/>
          <p:nvPr/>
        </p:nvSpPr>
        <p:spPr>
          <a:xfrm>
            <a:off x="2039112" y="1289304"/>
            <a:ext cx="54864" cy="237744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039112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L1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2450592" y="1234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Data Pitfalls (Radar, OPFOR, Afghan mine)</a:t>
            </a:r>
            <a:endParaRPr lang="en-US" sz="780" dirty="0"/>
          </a:p>
        </p:txBody>
      </p:sp>
      <p:sp>
        <p:nvSpPr>
          <p:cNvPr id="41" name="Text 39"/>
          <p:cNvSpPr txBox="1"/>
          <p:nvPr/>
        </p:nvSpPr>
        <p:spPr>
          <a:xfrm>
            <a:off x="4233672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Survivorship bias, Simpson’s Paradox</a:t>
            </a:r>
            <a:endParaRPr lang="en-US" sz="780" dirty="0"/>
          </a:p>
        </p:txBody>
      </p:sp>
      <p:sp>
        <p:nvSpPr>
          <p:cNvPr id="42" name="Text 40"/>
          <p:cNvSpPr txBox="1"/>
          <p:nvPr/>
        </p:nvSpPr>
        <p:spPr>
          <a:xfrm>
            <a:off x="5605272" y="1234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91.2% CNN (vs 58.7% transfer)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1234440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Know when to trust your data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039112" y="1581912"/>
            <a:ext cx="6986016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Shape 43"/>
          <p:cNvSpPr/>
          <p:nvPr/>
        </p:nvSpPr>
        <p:spPr>
          <a:xfrm>
            <a:off x="2039112" y="1636776"/>
            <a:ext cx="54864" cy="237744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039112" y="1581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L2</a:t>
            </a:r>
            <a:endParaRPr lang="en-US" sz="780" dirty="0"/>
          </a:p>
        </p:txBody>
      </p:sp>
      <p:sp>
        <p:nvSpPr>
          <p:cNvPr id="47" name="Text 45"/>
          <p:cNvSpPr txBox="1"/>
          <p:nvPr/>
        </p:nvSpPr>
        <p:spPr>
          <a:xfrm>
            <a:off x="2450592" y="15819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IADS 5-class threat classification (N=8.5K)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4233672" y="1581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RF 97.5% vs DT 91.8% vs SVM 96.7%</a:t>
            </a:r>
            <a:endParaRPr lang="en-US" sz="780" dirty="0"/>
          </a:p>
        </p:txBody>
      </p:sp>
      <p:sp>
        <p:nvSpPr>
          <p:cNvPr id="49" name="Text 47"/>
          <p:cNvSpPr txBox="1"/>
          <p:nvPr/>
        </p:nvSpPr>
        <p:spPr>
          <a:xfrm>
            <a:off x="5605272" y="1581912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RF AUC=0.991; Class imbalance fixed</a:t>
            </a:r>
            <a:endParaRPr lang="en-US" sz="780" dirty="0"/>
          </a:p>
        </p:txBody>
      </p:sp>
      <p:sp>
        <p:nvSpPr>
          <p:cNvPr id="50" name="Text 48"/>
          <p:cNvSpPr txBox="1"/>
          <p:nvPr/>
        </p:nvSpPr>
        <p:spPr>
          <a:xfrm>
            <a:off x="6355080" y="1581912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Real-time threat ID for SAM operators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2039112" y="1929384"/>
            <a:ext cx="6986016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Shape 50"/>
          <p:cNvSpPr/>
          <p:nvPr/>
        </p:nvSpPr>
        <p:spPr>
          <a:xfrm>
            <a:off x="2039112" y="1984248"/>
            <a:ext cx="54864" cy="237744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039112" y="1929384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L3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2450592" y="1929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Mission duration regression + 3-sensor fusion</a:t>
            </a:r>
            <a:endParaRPr lang="en-US" sz="780" dirty="0"/>
          </a:p>
        </p:txBody>
      </p:sp>
      <p:sp>
        <p:nvSpPr>
          <p:cNvPr id="55" name="Text 53"/>
          <p:cNvSpPr txBox="1"/>
          <p:nvPr/>
        </p:nvSpPr>
        <p:spPr>
          <a:xfrm>
            <a:off x="4233672" y="1929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XGBoost R²=0.912; Kalman+RF 96.2%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5605272" y="1929384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RMSE=2.06 hrs; 96.2% fusion TPR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6355080" y="1929384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Mission planning accuracy + sensor fusion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2039112" y="2276856"/>
            <a:ext cx="6986016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Shape 57"/>
          <p:cNvSpPr/>
          <p:nvPr/>
        </p:nvSpPr>
        <p:spPr>
          <a:xfrm>
            <a:off x="2039112" y="2331720"/>
            <a:ext cx="54864" cy="23774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2039112" y="2276856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L4</a:t>
            </a:r>
            <a:endParaRPr lang="en-US" sz="780" dirty="0"/>
          </a:p>
        </p:txBody>
      </p:sp>
      <p:sp>
        <p:nvSpPr>
          <p:cNvPr id="61" name="Text 59"/>
          <p:cNvSpPr txBox="1"/>
          <p:nvPr/>
        </p:nvSpPr>
        <p:spPr>
          <a:xfrm>
            <a:off x="2450592" y="22768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OPFOR archetype discovery (N=8,000 traj.)</a:t>
            </a:r>
            <a:endParaRPr lang="en-US" sz="780" dirty="0"/>
          </a:p>
        </p:txBody>
      </p:sp>
      <p:sp>
        <p:nvSpPr>
          <p:cNvPr id="62" name="Text 60"/>
          <p:cNvSpPr txBox="1"/>
          <p:nvPr/>
        </p:nvSpPr>
        <p:spPr>
          <a:xfrm>
            <a:off x="4233672" y="2276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k-Means k=5; Silhouette=0.712</a:t>
            </a:r>
            <a:endParaRPr lang="en-US" sz="780" dirty="0"/>
          </a:p>
        </p:txBody>
      </p:sp>
      <p:sp>
        <p:nvSpPr>
          <p:cNvPr id="63" name="Text 61"/>
          <p:cNvSpPr txBox="1"/>
          <p:nvPr/>
        </p:nvSpPr>
        <p:spPr>
          <a:xfrm>
            <a:off x="5605272" y="2276856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5 archetypes; INFILTRATION discovered</a:t>
            </a:r>
            <a:endParaRPr lang="en-US" sz="780" dirty="0"/>
          </a:p>
        </p:txBody>
      </p:sp>
      <p:sp>
        <p:nvSpPr>
          <p:cNvPr id="64" name="Text 62"/>
          <p:cNvSpPr txBox="1"/>
          <p:nvPr/>
        </p:nvSpPr>
        <p:spPr>
          <a:xfrm>
            <a:off x="6355080" y="2276856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New OPFOR tactic found without labels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2039112" y="2624328"/>
            <a:ext cx="6986016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6" name="Shape 64"/>
          <p:cNvSpPr/>
          <p:nvPr/>
        </p:nvSpPr>
        <p:spPr>
          <a:xfrm>
            <a:off x="2039112" y="2679192"/>
            <a:ext cx="54864" cy="23774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7" name="Text 65"/>
          <p:cNvSpPr txBox="1"/>
          <p:nvPr/>
        </p:nvSpPr>
        <p:spPr>
          <a:xfrm>
            <a:off x="2039112" y="2624328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L5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2450592" y="2624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Network intrusion (500K) + Insider threat</a:t>
            </a:r>
            <a:endParaRPr lang="en-US" sz="780" dirty="0"/>
          </a:p>
        </p:txBody>
      </p:sp>
      <p:sp>
        <p:nvSpPr>
          <p:cNvPr id="69" name="Text 67"/>
          <p:cNvSpPr txBox="1"/>
          <p:nvPr/>
        </p:nvSpPr>
        <p:spPr>
          <a:xfrm>
            <a:off x="4233672" y="2624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AE TPR=95.8%, FPR=0.6%; MTTD 31h</a:t>
            </a:r>
            <a:endParaRPr lang="en-US" sz="780" dirty="0"/>
          </a:p>
        </p:txBody>
      </p:sp>
      <p:sp>
        <p:nvSpPr>
          <p:cNvPr id="70" name="Text 68"/>
          <p:cNvSpPr txBox="1"/>
          <p:nvPr/>
        </p:nvSpPr>
        <p:spPr>
          <a:xfrm>
            <a:off x="5605272" y="2624328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AUROC=0.988; vs 207 days industry</a:t>
            </a:r>
            <a:endParaRPr lang="en-US" sz="780" dirty="0"/>
          </a:p>
        </p:txBody>
      </p:sp>
      <p:sp>
        <p:nvSpPr>
          <p:cNvPr id="71" name="Text 69"/>
          <p:cNvSpPr txBox="1"/>
          <p:nvPr/>
        </p:nvSpPr>
        <p:spPr>
          <a:xfrm>
            <a:off x="6355080" y="2624328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Zero-day threat detection; CERT ops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2039112" y="2971800"/>
            <a:ext cx="6986016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3" name="Shape 71"/>
          <p:cNvSpPr/>
          <p:nvPr/>
        </p:nvSpPr>
        <p:spPr>
          <a:xfrm>
            <a:off x="2039112" y="3026664"/>
            <a:ext cx="54864" cy="237744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039112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L6</a:t>
            </a:r>
            <a:endParaRPr lang="en-US" sz="780" dirty="0"/>
          </a:p>
        </p:txBody>
      </p:sp>
      <p:sp>
        <p:nvSpPr>
          <p:cNvPr id="75" name="Text 73"/>
          <p:cNvSpPr txBox="1"/>
          <p:nvPr/>
        </p:nvSpPr>
        <p:spPr>
          <a:xfrm>
            <a:off x="2450592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Wargame DQN agent (20×20 JANUS hex grid)</a:t>
            </a:r>
            <a:endParaRPr lang="en-US" sz="780" dirty="0"/>
          </a:p>
        </p:txBody>
      </p:sp>
      <p:sp>
        <p:nvSpPr>
          <p:cNvPr id="76" name="Text 74"/>
          <p:cNvSpPr txBox="1"/>
          <p:nvPr/>
        </p:nvSpPr>
        <p:spPr>
          <a:xfrm>
            <a:off x="4233672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Dueling+Double DQN; 100K episodes</a:t>
            </a:r>
            <a:endParaRPr lang="en-US" sz="780" dirty="0"/>
          </a:p>
        </p:txBody>
      </p:sp>
      <p:sp>
        <p:nvSpPr>
          <p:cNvPr id="77" name="Text 75"/>
          <p:cNvSpPr txBox="1"/>
          <p:nvPr/>
        </p:nvSpPr>
        <p:spPr>
          <a:xfrm>
            <a:off x="5605272" y="2971800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93% vs random; 81% vs human</a:t>
            </a:r>
            <a:endParaRPr lang="en-US" sz="780" dirty="0"/>
          </a:p>
        </p:txBody>
      </p:sp>
      <p:sp>
        <p:nvSpPr>
          <p:cNvPr id="78" name="Text 76"/>
          <p:cNvSpPr txBox="1"/>
          <p:nvPr/>
        </p:nvSpPr>
        <p:spPr>
          <a:xfrm>
            <a:off x="6355080" y="2971800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Tactical advisory system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2039112" y="3319272"/>
            <a:ext cx="6986016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0" name="Shape 78"/>
          <p:cNvSpPr/>
          <p:nvPr/>
        </p:nvSpPr>
        <p:spPr>
          <a:xfrm>
            <a:off x="2039112" y="3374136"/>
            <a:ext cx="54864" cy="237744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1" name="Text 79"/>
          <p:cNvSpPr txBox="1"/>
          <p:nvPr/>
        </p:nvSpPr>
        <p:spPr>
          <a:xfrm>
            <a:off x="2039112" y="3319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L7</a:t>
            </a:r>
            <a:endParaRPr lang="en-US" sz="780" dirty="0"/>
          </a:p>
        </p:txBody>
      </p:sp>
      <p:sp>
        <p:nvSpPr>
          <p:cNvPr id="82" name="Text 80"/>
          <p:cNvSpPr txBox="1"/>
          <p:nvPr/>
        </p:nvSpPr>
        <p:spPr>
          <a:xfrm>
            <a:off x="2450592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4-drone swarm continuous waypoint control</a:t>
            </a:r>
            <a:endParaRPr lang="en-US" sz="780" dirty="0"/>
          </a:p>
        </p:txBody>
      </p:sp>
      <p:sp>
        <p:nvSpPr>
          <p:cNvPr id="83" name="Text 81"/>
          <p:cNvSpPr txBox="1"/>
          <p:nvPr/>
        </p:nvSpPr>
        <p:spPr>
          <a:xfrm>
            <a:off x="4233672" y="3319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PPO 94.3%; SAC 96.2%</a:t>
            </a:r>
            <a:endParaRPr lang="en-US" sz="780" dirty="0"/>
          </a:p>
        </p:txBody>
      </p:sp>
      <p:sp>
        <p:nvSpPr>
          <p:cNvPr id="84" name="Text 82"/>
          <p:cNvSpPr txBox="1"/>
          <p:nvPr/>
        </p:nvSpPr>
        <p:spPr>
          <a:xfrm>
            <a:off x="5605272" y="3319272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6-DoF; sim-to-real SAC 96%↑91%</a:t>
            </a:r>
            <a:endParaRPr lang="en-US" sz="780" dirty="0"/>
          </a:p>
        </p:txBody>
      </p:sp>
      <p:sp>
        <p:nvSpPr>
          <p:cNvPr id="85" name="Text 83"/>
          <p:cNvSpPr txBox="1"/>
          <p:nvPr/>
        </p:nvSpPr>
        <p:spPr>
          <a:xfrm>
            <a:off x="6355080" y="3319272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Autonomous UAS coordination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2039112" y="3666744"/>
            <a:ext cx="6986016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7" name="Shape 85"/>
          <p:cNvSpPr/>
          <p:nvPr/>
        </p:nvSpPr>
        <p:spPr>
          <a:xfrm>
            <a:off x="2039112" y="3721608"/>
            <a:ext cx="54864" cy="237744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8" name="Text 86"/>
          <p:cNvSpPr txBox="1"/>
          <p:nvPr/>
        </p:nvSpPr>
        <p:spPr>
          <a:xfrm>
            <a:off x="2039112" y="3666744"/>
            <a:ext cx="4114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L8</a:t>
            </a:r>
            <a:endParaRPr lang="en-US" sz="780" dirty="0"/>
          </a:p>
        </p:txBody>
      </p:sp>
      <p:sp>
        <p:nvSpPr>
          <p:cNvPr id="89" name="Text 87"/>
          <p:cNvSpPr txBox="1"/>
          <p:nvPr/>
        </p:nvSpPr>
        <p:spPr>
          <a:xfrm>
            <a:off x="2450592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6-unit combined arms MARL</a:t>
            </a:r>
            <a:endParaRPr lang="en-US" sz="780" dirty="0"/>
          </a:p>
        </p:txBody>
      </p:sp>
      <p:sp>
        <p:nvSpPr>
          <p:cNvPr id="90" name="Text 88"/>
          <p:cNvSpPr txBox="1"/>
          <p:nvPr/>
        </p:nvSpPr>
        <p:spPr>
          <a:xfrm>
            <a:off x="4233672" y="3666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MAPPO 82.4% vs human 81.3%</a:t>
            </a:r>
            <a:endParaRPr lang="en-US" sz="780" dirty="0"/>
          </a:p>
        </p:txBody>
      </p:sp>
      <p:sp>
        <p:nvSpPr>
          <p:cNvPr id="91" name="Text 89"/>
          <p:cNvSpPr txBox="1"/>
          <p:nvPr/>
        </p:nvSpPr>
        <p:spPr>
          <a:xfrm>
            <a:off x="5605272" y="3666744"/>
            <a:ext cx="74980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SEAD-first emergent; CommsMAPPO 88.1%</a:t>
            </a:r>
            <a:endParaRPr lang="en-US" sz="780" dirty="0"/>
          </a:p>
        </p:txBody>
      </p:sp>
      <p:sp>
        <p:nvSpPr>
          <p:cNvPr id="92" name="Text 90"/>
          <p:cNvSpPr txBox="1"/>
          <p:nvPr/>
        </p:nvSpPr>
        <p:spPr>
          <a:xfrm>
            <a:off x="6355080" y="36667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52744"/>
                </a:solidFill>
              </a:rPr>
              <a:t>AI exceeds expert human team benchmark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2039112" y="4069080"/>
            <a:ext cx="6986016" cy="41148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4" name="Text 92"/>
          <p:cNvSpPr txBox="1"/>
          <p:nvPr/>
        </p:nvSpPr>
        <p:spPr>
          <a:xfrm>
            <a:off x="2103120" y="41239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★ GOLDEN THREAD: L4 discovered INFILTRATION archetype → L5 flagged them as anomalies → L6 wargame agent learned counter-infiltration tactics → L8 MARL SEAD-first protocol prevents infiltration from exploiting SAM coverage gaps. The whole course is one ecosystem!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Algorithm Selection Guide — The Decision Framework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Algorithm Selection Guide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From Problem Statement to Algorithm Choice: A Structured Decision Process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THREE-QUESTION DECISION TREE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3383280"/>
          </a:xfrm>
          <a:prstGeom prst="rect">
            <a:avLst/>
          </a:prstGeom>
          <a:solidFill>
            <a:srgbClr val="F6EE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QUESTION 1: DO YOU HAVE LABELS?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YES → SUPERVISED LEARNING (L2–3)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Discrete output? CLASSIFICATION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RF best overall; DT for interpretability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SVM for high-dim, clean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XGBoost for tabular structured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Continuous output? REGRESSION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XGBoost for non-linear, many features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Ridge/Lasso for sparse, interpretable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SVR for robust to outliers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 → UNSUPERVISED LEARNING (L4–5)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Find groups? CLUSTERING (L4)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Fast first-pass: k-Means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Any shape / noise detection: DBSCAN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Probabilistic soft membership: GMM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Visual hierarchy: Ward Hierarchical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Flag unusual? ANOMALY DETECTION (L5)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Real-time tier-1: Isolation Forest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Deep accuracy tier-2: Autoencoder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Sequence behaviour: LSTM Autoencoder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Continuous control: SAC + entropy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QUESTION 2: IS THE PROBLEM INTERACTIVE?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 → Static ML (above)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YES → REINFORCEMENT LEARNING (L6–8)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Discrete actions? DQN family (L6)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Wargame, weapon select, COA choice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Continuous actions? Policy Gradient (L7)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Drone control, navigation, steering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QUESTION 3: MULTIPLE AGENTS?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 → Single-agent RL (L6–7)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YES → MARL with CTDE (L8)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Cooperative: QMIX or MAPPO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Mixed/competitive: MADDPG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ALGORITHM PERFORMANCE SUMMARY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0136" y="1243584"/>
            <a:ext cx="3364992" cy="3383280"/>
          </a:xfrm>
          <a:prstGeom prst="rect">
            <a:avLst/>
          </a:prstGeom>
          <a:solidFill>
            <a:srgbClr val="F6EE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33288" y="1271016"/>
            <a:ext cx="321868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SUPERVISED (L2–3):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classifier:   RF (97.5% IADS)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regressor:   XGBoost (R²=0.912)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fusion:      Kalman+RF (96.2%)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for imbalance: XGBoost + SMOTE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UNSUPERVISED (L4–5):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clusterer:   MAPPO context: k=5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anomaly:     Autoencoder (95.8%)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speed:       Isolation Forest (0.002ms)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robust:      SAC entropy (5% sim-to-real)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RL SINGLE-AGENT (L6–7):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discrete:    Dueling+Double DQN (93%)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continuous:  SAC (96.2% drone success)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stability:   PPO (94.3%, less tuning)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curriculum:  +40pp vs direct training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MARL (L8):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cooperative: MAPPO (82.4%)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+ comms:     CommsMAPPO (88.1%)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Best comms-denied: QMIX (74.1%)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Human benchmark:  81.3% (MAPPO beats it!)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CROSS-CUTTING PRINCIPLES: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Data quality &gt; algorithm choice (L1!)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Baseline first, complexity later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Validate at deployment conditions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Explainability for ROE compliance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Key Formulas: Supervised Learning (L2–3)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Key Formulas: SL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Essential Mathematical Relationships for the Assessment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CLASSIFICATION METRICS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Precision  = TP / (TP + FP)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Recall     = TP / (TP + FN)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F1 Score   = 2 × P × R / (P + 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Accuracy   = (TP+TN) / (TP+TN+FP+FN)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Gini Impurity: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G(t) = 1 − Σ_k p_k²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Entropy (Information Gain):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H(t) = −Σ_k p_k log₂ p_k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SVM Hard Margin: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margin = 2 / ||w||,  min ||w||/2 s.t. y_i(w·x_i+b)≥1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Soft Margin (C regularises slack):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 ½||w||+ CΣξ_i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RBF Kernel: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K(x,x’) = exp(−γ||x−x’||²)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ROC-AUC: Area under TPR vs FPR curve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Perfect model: AUC = 1.0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Random: AUC = 0.5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REGRESSION &amp; SENSOR FUSION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OLS Normal Equations: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β̂ = (XᵀX)⁻¹Xᵀy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Ridge Regression (L2):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β̂_ridge = (XᵀX + λI)⁻¹Xᵀy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Shrinks towards zero, keeps all features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Lasso Regression (L1):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 ||y−Xβ||+ λ||β||_1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Exact zeros = automatic feature selection!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Difference: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Lasso: sparse solutions (0 coefficients)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Ridge: all non-zero, correlated features OK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Kalman Filter Predict: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x_k|k-1 = F x_{k-1|k-1} + B u_k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P_k|k-1 = F P_{k-1|k-1} Fᵀ + Q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Kalman Filter Update: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K_k = P_k|k-1 Hᵀ (H P Hᵀ + R)⁻¹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x_k|k = x_k|k-1 + K_k(z_k − H x_k|k-1)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P_k|k = (I − K_k H) P_k|k-1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R² Score: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1 − SS_res/SS_tot,  SS_res = Σ(yᵢ − ŷᵢ)²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416552"/>
            <a:ext cx="6986016" cy="402336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4462272"/>
            <a:ext cx="680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/>
            </a:r>
            <a:endParaRPr lang="en-US" sz="100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498848"/>
            <a:ext cx="672998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Key Formulas: Unsupervised Learning (L4–5)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Key Formulas: UL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Clustering, Dimensionality Reduction &amp; Anomaly Detection Essentials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CLUSTERING (L4)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k-Means Objective: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 = Σ_j Σ_{x∈C_j} ||x − μ_j||²  [WCSS]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μ_j = (1/|C_j|) Σ_{x∈C_j} x  [centroid update]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Silhouette Score: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s(i) = (b(i)−a(i)) / max(a(i),b(i))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a(i) = mean dist. within cluster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b(i) = mean dist. to nearest other cluster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Range [−1,+1];  &gt;0.70 = strong structure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DBSCAN: Core if |N_ε(p)| ≥ MinPts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Clusters: maximal density-connected sets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Noise: points not reachable from any core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GMM: P(x) = Σ_k π_k N(x;μ_k,Σ_k)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Responsibility: r_ik = π_k N(x_i;μ_k,Σ_k) / Σ_j ...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PCA Covariance Decomposition: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= VΛVᵀ,  Z = X̄ · V_k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EVR_j = λ_j / Σ λ_i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ANOMALY DETECTION (L5)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Mahalanobis Distance: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D_M(x) = √[(x−μ)ᵀ Σ⁻¹ (x−μ)]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Accounts for feature correlations!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Isolation Forest: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s(x,ψ) = 2^{−E[h(x)]/c(ψ)}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s→1: SHORT path = ANOMALY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s→0: LONG path  = NORMAL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c(ψ) = 2H(ψ−1) − 2(ψ−1)/ψ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Autoencoder Reconstruction Error: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RE(x) = ||x − f_dec(f_enc(x))||²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Normal: low RE  |  Anomaly: high 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Threshold τ at target FPR on validation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OCSVM: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ν = upper bound on FPR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lower bound on support vectors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f(x) = sign(Σ α_i K(x_i,x) − ρ)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νℙ0: very tight;  ν→1: very loose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LSTM AE Anomaly (insider threat):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 = ||x_seq − LSTM_dec(LSTM_enc(x_seq))||²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Triggered by deviation from user baseline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096512"/>
            <a:ext cx="6986016" cy="402336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4142232"/>
            <a:ext cx="680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744"/>
                </a:solidFill>
              </a:rPr>
              <a:t>KEY PITFALL: Standard Σ for Mahalanobis is contaminated by anomalies! Use MCD (Minimum Covariance Determinant) estimator on the 50% most central points.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39112" y="4553712"/>
            <a:ext cx="6986016" cy="347472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608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ARI = Adjusted Rand Index: measures cluster agreement between two methods. ARI=0 (random) → ARI=1 (perfect). ARI=0.847 (OPFOR: k-Means vs Ward) = strong convergent validity.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Key Formulas: Reinforcement Learning &amp; MARL (L6–8)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Key Formulas: RL/MARL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Decision-Making Under Uncertainty: The Complete RL Formula Sheet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279904" cy="237744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220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Q-LEARNING (L6)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52728"/>
            <a:ext cx="22799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07592"/>
            <a:ext cx="21518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Bellman: Q*(s,a) = Σ_s’ P[R+γ max_{a’} Q*(s’,a’)]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TD Update: Q(s,a) ← Q(s,a) + α[δ]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δ = r + γ max Q(s’,a’) − Q(s,a)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DQN Loss: E[(y_target − Q(s,a;θ))²]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y = r + γ Q(s’, argmax Q(s’;θ); θ⁻)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DoubleDQN: action select vs eval decoupled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Dueling: Q = V(s) + A(s,a) − mean_a’A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92168" y="1014984"/>
            <a:ext cx="2279904" cy="237744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428744" y="1014984"/>
            <a:ext cx="220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POLICY GRADIENT (L7)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92168" y="1252728"/>
            <a:ext cx="22799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456176" y="1307592"/>
            <a:ext cx="21518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∇J(θ) = E_π[∇ log π_θ(a|s) · G_t]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G_t = Σ_{k≥t} γ^{k-t} r_{k+1}  [return]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Advantage: A(s,a) = Q(s,a) − V(s)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TD Advantage: Â = r + γV(s’) − V(s)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PPO: L = E[min(r_tÂ, clip(r_t,1±ε)Â)]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r_t(θ) = π_new(a|s) / π_old(a|s)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SAC: J = E[r + αH(π(.|s))]  max-entropy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45224" y="1014984"/>
            <a:ext cx="2279904" cy="237744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781800" y="1014984"/>
            <a:ext cx="220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MARL/CTDE (L8)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45224" y="1252728"/>
            <a:ext cx="22799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809232" y="1307592"/>
            <a:ext cx="21518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Dec-POMDP: (S,{A_i},P,{r_i},{Q_i},O,γ)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QMIX: Q_tot = mix(Q_1,...,Q_N;s)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∂Q_tot/∂Q_i &gt; 0  [monotonicity = CTDE]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MAPPO: L = (1/N)Σ_i L_i^{CLIP}(θ)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Shared θ + centralised V(s;  φ)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COMA: A_i = Q(s,a) − b_i(s,a_{-i})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b_i = E_{a_i~π_i}[Q(s,(a_i,a_{-i}))]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39112" y="3666744"/>
            <a:ext cx="6986016" cy="329184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03120" y="37216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ε-Greedy: P(greedy) = 1−ε+ε/|A|    P(non-greedy) = ε/|A|    Anneal: ε_t = ε_min + (ε_max−ε_min)exp(−t/τ)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39112" y="4059936"/>
            <a:ext cx="2279904" cy="201168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039112" y="4059936"/>
            <a:ext cx="227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Gaussian Policy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39112" y="4261104"/>
            <a:ext cx="22799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103120" y="4315968"/>
            <a:ext cx="2151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/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/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92168" y="4059936"/>
            <a:ext cx="2279904" cy="201168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4392168" y="4059936"/>
            <a:ext cx="227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Reward Shaping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92168" y="4261104"/>
            <a:ext cx="22799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456176" y="4315968"/>
            <a:ext cx="2151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R_shaped = R + F(s,s')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 = γΦ(s')−Φ(s)  [potential-based: preserves π*]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45224" y="4059936"/>
            <a:ext cx="2279904" cy="20116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6745224" y="4059936"/>
            <a:ext cx="227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Discount Factor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45224" y="4261104"/>
            <a:ext cx="22799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6809232" y="4315968"/>
            <a:ext cx="2151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G_t = Σ γ^k r_{t+k}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γ=0: greedy  γ→1: far-sighted  [0.95 typical]</a:t>
            </a:r>
            <a:endParaRPr lang="en-US" sz="850" dirty="0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4352544"/>
            <a:ext cx="207873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Common Misconceptions — Exam Traps and Conceptual Errors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Common Misconceptions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Most Frequent Conceptual Errors Across All Eight Lectures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564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More data always helps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216152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27101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FALSE: If the data is biased (survivorship bias, distribution shift), more data amplifies the bias. Afghan mine detector: adding more biased data HURT performance (94.1%→58.7%). Data QUALITY beats data QUANTITY.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568696" y="1014984"/>
            <a:ext cx="34564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05272" y="1014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 accuracy = good model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68696" y="1216152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32704" y="127101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FALSE: Imbalanced data (78% class imbalance in IADS). 78% accuracy achieved by predicting majority class always. CHECK AUC, Precision, Recall, F1 per class. Always check confusion matrix!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039112" y="1801368"/>
            <a:ext cx="34564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75688" y="1801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DBSCAN needs to know 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39112" y="2002536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05740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FALSE: DBSCAN discovers k automatically from density structure (via ε and MinPts). k-Means and GMM require k as input. DBSCAN's key advantage IS not needing k!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568696" y="1801368"/>
            <a:ext cx="34564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605272" y="1801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Subtracting baseline biases gradient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68696" y="2002536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632704" y="205740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FALSE: Score function identity proves E[b(s)⋅∇ logπ] = 0 for ANY b(s) not depending on a. Baselines reduce VARIANCE with ZERO bias. The choice b = Vπ(s) is optimal, not required.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039112" y="2587752"/>
            <a:ext cx="34564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75688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QMIX is just summing Q-values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39112" y="2788920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2843784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MISLEADING: QMIX mixer is a NONLINEAR function of {Q_1,...,Q_N} conditioned on global state s (via hypernetwork). VDN (Value Decomposition Networks) sums linearly. QMIX is strictly more expressive than VDN while maintaining the IGM property.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568696" y="2587752"/>
            <a:ext cx="3456432" cy="201168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5605272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DQN replay = just for efficiency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68696" y="2788920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5632704" y="2843784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INCOMPLETE: Replay buffer serves TWO purposes: (1) sample efficiency (reuse 320×). (2) STABILITY — breaks temporal correlations between consecutive updates. Without (2), DQN often diverges even with sufficient data.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2039112" y="3374136"/>
            <a:ext cx="3456432" cy="201168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075688" y="33741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t-SNE distances = meaningful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39112" y="3575304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2103120" y="3630168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FALSE: t-SNE preserves LOCAL neighbourhood structure only. DISTANCES between clusters in t-SNE plots are NOT meaningful. UMAP partially preserves global structure. Never compare inter-cluster distances from t-SNE.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5568696" y="3374136"/>
            <a:ext cx="3456432" cy="201168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5605272" y="33741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SAC needs more episodes than PPO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68696" y="3575304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5632704" y="3630168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✘ CONTEXT-DEPENDENT: SAC needed more EPISODES (1,500 vs 800) to 70% success on drone task but is MORE SAMPLE EFFICIENT in total gradient steps due to replay. For compute-limited training: PPO. For environment-interaction-limited: SAC.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Integrated AI/ML Pipeline for Defence — End-to-End Architecture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Integrated AI/ML Pipeline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From Raw Sensor Data to Autonomous Decision Support: One Pipeline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408176" cy="292608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66544" y="10149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STAGE 1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Data Ingestion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307592"/>
            <a:ext cx="140817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62456"/>
            <a:ext cx="1280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Raw sensor streams: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Radar, IR, ELINT, SIGINT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Social/OSINT feeds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L1: Data quality checks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Bias audit, distribution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shift detection, label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noise estimation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Missing data strategy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538728" y="1014984"/>
            <a:ext cx="1408176" cy="292608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566160" y="10149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STAGE 2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Threat ID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38728" y="1307592"/>
            <a:ext cx="140817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602736" y="1362456"/>
            <a:ext cx="1280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L2: Classification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RF: 5-class IADS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XGBoost: multi-threat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SVM: high-dim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L3: Regression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Mission duration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Trajectory predict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L3: Sensor Fusion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Kalman + Neural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Multi-sensor combine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038344" y="1014984"/>
            <a:ext cx="1408176" cy="29260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065776" y="10149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STAGE 3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Pattern Discovery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38344" y="1307592"/>
            <a:ext cx="140817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102352" y="1362456"/>
            <a:ext cx="1280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L4: Clustering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OPFOR archetypes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Tactical patterns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New tactic discovery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L5: Anomaly Det.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IF: Real-time screen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AE: Deep analysis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LSTM AE: Insider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L4: Dim. Reduction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PCA: compress feats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UMAP: visualise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537960" y="1014984"/>
            <a:ext cx="1408176" cy="292608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6565392" y="10149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STAGE 4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Decision Support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37960" y="1307592"/>
            <a:ext cx="140817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6601968" y="1362456"/>
            <a:ext cx="1280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L6: Q-Learning/DQN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Wargame COA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Discrete actions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Advisory Q-values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L7: Policy Gradient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Continuous control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Drone/UAS nav.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PPO/SAC deploy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L8: MARL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Combined arms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Swarm coord.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CTDE: radio silence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037576" y="1014984"/>
            <a:ext cx="1408176" cy="292608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8065008" y="10149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STAGE 5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Human-AI Interface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37576" y="1307592"/>
            <a:ext cx="140817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8101584" y="1362456"/>
            <a:ext cx="1280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L2-3: Interpretable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outputs: Precision,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Recall, Q-values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per-feature SHAP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L8: MUM-T Level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Human on-the-loop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3 top actions +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Q-value advisory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ROE compliance: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IHL proportionality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Accountability log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Override interface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447288" y="2267712"/>
            <a:ext cx="91440" cy="0"/>
          </a:xfrm>
          <a:prstGeom prst="line">
            <a:avLst/>
          </a:prstGeom>
          <a:noFill/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3447288" y="215798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→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46904" y="2267712"/>
            <a:ext cx="91440" cy="0"/>
          </a:xfrm>
          <a:prstGeom prst="line">
            <a:avLst/>
          </a:prstGeom>
          <a:noFill/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946904" y="215798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→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46520" y="2267712"/>
            <a:ext cx="91440" cy="0"/>
          </a:xfrm>
          <a:prstGeom prst="line">
            <a:avLst/>
          </a:prstGeom>
          <a:noFill/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6446520" y="215798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46136" y="2267712"/>
            <a:ext cx="91440" cy="0"/>
          </a:xfrm>
          <a:prstGeom prst="line">
            <a:avLst/>
          </a:prstGeom>
          <a:noFill/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7946136" y="215798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039112" y="3584448"/>
            <a:ext cx="6986016" cy="45720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210312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REAL-WORLD CAVEAT: This pipeline assumes clean handoff between stages. In practice, Stage 3 anomalies should feed back to Stage 1 (update normal baseline), Stage 4 outcomes should inform Stage 2 classifier retraining, and Stage 5 operator feedback should update all models. The pipeline is ITERATIVE, not linear.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039112" y="4105656"/>
            <a:ext cx="6986016" cy="402336"/>
          </a:xfrm>
          <a:prstGeom prst="rect">
            <a:avLst/>
          </a:prstGeom>
          <a:solidFill>
            <a:srgbClr val="F6EEFF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2103120" y="41605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DEPLOYMENT STACK: Stage 1–3 typically ML inference on FPGA/GPU at the edge (10–100ms latency); Stage 4–5 RL advisory on CPU/server with datalink to platforms (100ms–1s); Human decision (1–10s). Total loop: 1.5–11s from sensor to action.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Ethical AI in Defence — The Non-Negotiable Framework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Ethical AI in Defence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Seven Principles for Responsible AI in Military Applications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70535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① Human Control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234440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289304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LAWS at Level 3+: unresolved under IHL. This course: Level 2 advisory only. Meaningful Human Control requires: Understanding + Oversight + Intervention capability.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799332" y="1014984"/>
            <a:ext cx="1705356" cy="219456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83590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② Data Integrity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99332" y="1234440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863340" y="1289304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L1 pitfalls apply to ALL downstream decisions. Survivorship bias in training data = biased policy. Regular bias audits, distribution shift monitoring, adversarial data testing.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559552" y="1014984"/>
            <a:ext cx="1705356" cy="219456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59612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③ Explainability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59552" y="1234440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23560" y="1289304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L2: SHAP values on classifier decisions. L5: Per-feature reconstruction error. L6: Q-value advisory output. IHL compliance requires rationale for targeting recommendations.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319772" y="1014984"/>
            <a:ext cx="1705356" cy="219456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735634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④ Proportionality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9772" y="1234440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7383780" y="1289304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IHL Article 51(5)(b): excessive civilian harm vs military advantage. MARL reward cannot encode proportionality (contextual, legal judgment). Human remains decision-maker for lethal force.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039112" y="2404872"/>
            <a:ext cx="1705356" cy="219456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75688" y="2404872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⑤ Distinction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39112" y="2624328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2679192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IHL: must distinguish combatants from civilians. ML classifiers (L2) help but: novel uniforms, dual-use infrastructure, surrendering forces. No AI system reliably solves this at operational tempo.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799332" y="2404872"/>
            <a:ext cx="1705356" cy="2194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3835908" y="2404872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⑥ Adversarial Robustness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99332" y="2624328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3863340" y="2679192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MARL policies may have exploitable patterns (L8: fixed policy can be reverse-engineered). ML classifiers vulnerable to adversarial examples. Regular red-team testing before deployment.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559552" y="2404872"/>
            <a:ext cx="1705356" cy="219456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5596128" y="2404872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⑦ Accountability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559552" y="2624328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5623560" y="2679192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Who is responsible when an AI-advised action causes civilian casualties? Chain of command remains. Full audit log: sensor input → AI recommendation → human decision → outcome. Non-negotiable.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319772" y="2404872"/>
            <a:ext cx="1705356" cy="219456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7356348" y="2404872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⑧ Sim-to-Real Honesty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19772" y="2624328"/>
            <a:ext cx="17053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7383780" y="2679192"/>
            <a:ext cx="15773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82.4% (MAPPO simulation) ≠ operational performance. L7 drone: 94%↑78% gap. L8 combined arms: estimated 82%↑65% real. Overstating AI capability is an ethical failure.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2039112" y="3849624"/>
            <a:ext cx="6986016" cy="43891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2103120" y="39044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744"/>
                </a:solidFill>
              </a:rPr>
              <a:t>★ ETHICAL BRIGHT LINE: The course advocates AI as a DECISION-SUPPORT TOOL. Human commanders retain authority for all lethal actions. Every algorithm covered in L1–8 has a legitimate advisory application; autonomous lethal engagement requires resolution of outstanding IHL questions that are not yet settled.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Assessment Preparation — What the Examination Tests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Assessment Preparation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Looking Forward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What to Expect: Analytical Depth, Not Memorisation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ASSESSMENT STRUCTURE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ASSIGNMENT FORMAT (based on Assignments 1–8):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Section A: MCQ (15 marks, √¼ penalty)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Conceptual understanding + numerical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Common misconception traps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Section B: Short answer (15 marks)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Explain formulas with intuition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Compare two algorithms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Section C: Analytical problems (40 marks)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Numerical worked examples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Design problems (novel scenarios)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Integration across lectures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HIGH-YIELD TOPICS FOR REVISION: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Bias-Variance tradeoff (L2)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Bellman equation derivation (L6)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Q-Learning update numerical walkthrough (L6)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PPO clipping case analysis (L7)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QMIX monotonicity IGM property (L8)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Data pitfalls: which bias in which scenario (L1)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Silhouette formula calculation (L4)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★ Kalman Filter two-step update (L3)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FIVE INTEGRATION QUESTIONS TO PRACTICE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971800"/>
          </a:xfrm>
          <a:prstGeom prst="rect">
            <a:avLst/>
          </a:prstGeom>
          <a:solidFill>
            <a:srgbClr val="F6EE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1. "An OPFOR intelligence analyst has 10K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trajectory samples, NO class labels, and wants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 find new tactical patterns AND flag deceptive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manoeuvres. Design a complete unsupervised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ML pipeline with L4+L5 algorithms."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(Tests: DBSCAN noise + k-Means + UMAP + AE)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2. "A wargame requires a DQN agent for a 50×50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grid with 15 discrete actions. The sparse reward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(+1000 only at end) causes 0% win rate after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10K episodes. Diagnose and fix."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(Tests: reward shaping + curriculum + DQN)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3. "Justify MAPPO over QMIX for an adversarial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air-sea battle with 4 Blue + 4 Red agents,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mixed reward, continuous heading control."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(Tests: MARL algorithm selection criteria)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4. "A Random Forest achieves 94% accuracy 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IADS classification but a military customer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rejects it for operational use. What additional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evidence must you provide?"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(Tests: XAI, AUC, per-class metrics, ROE)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5. "Design the Dec-POMDP for a cyber defence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MARL with 3 network segments and 1 CERT analyst."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(Tests: MARL formulation + ethical alignment)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279392"/>
            <a:ext cx="6986016" cy="41148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342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⚡ FORMULA TO HAVE AT FINGERTIPS: Bellman, Q-update, WCSS/silhouette, Mahalanobis, IF score, PPO clip, QMIX monotonicity constraint, COMA counterfactual baseline, Gaussian log-prob. These appear in EVERY numerical question type.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Looking Forward — Beyond This Course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Course Concept Map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L1–L3: Supervised Learning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L4–L5: Unsupervised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L6–L8: RL &amp; MARL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Cross-Lecture Case Studies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Algorithm Selection Guide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Integrated AI/ML Pipeline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Key Formulas: SL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Key Formulas: UL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Key Formulas: RL/MARL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Data Quality &amp; Pitfalls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Misconceptions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Ethical AI in Defence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Assessment Preparation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Looking Forward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Where Defence AI is Heading: Research Frontiers &amp; Open Problems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NEAR-TERM FRONTIERS (2025–2030)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LARGE LANGUAGE MODELS FOR PLANNING: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GPT-class models for natural language COA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generation, intelligence synthesis, logistics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Limitation: hallucination, adversarial robustness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Research: RAG + LLM + verified KB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FOUNDATION MODELS FOR SENSING: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Single pre-trained model for radar, EO, SIGINT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(analogous to CLIP for multimodal vision-text)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Limitation: data scarcity for defence-specific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Research: transfer from commercial data + fine-tune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SIM-TO-REAL BRIDGING: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Physics-informed NNs for more accurate sims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Domain randomisation at scale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Meta-RL: learn policies that adapt quickly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Digital twin integration (JANUS++)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ADVERSARIAL ROBUSTNESS: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ML models can be fooled by adversarial examples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Research: certified robustness, adversarial training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Defence-specific: radar spoofing, GPS jamming attacks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 autonomous navigation systems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 PROBLEMS IN DEFENCE AI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UNSOLVED RESEARCH QUESTIONS: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1. Reliable sim-to-real transfer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How to guarantee performance in unmodelled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operational conditions? No general solution.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2. Safe exploration in physical systems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During MARL training, unsafe actions in real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hardware are irreversible. Need safe RL methods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that explore without catastrophic failures.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3. Adversarial MARL (non-stationary opponents)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How does MAPPO adapt when OPFOR evolves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counter-strategies? Open Nash equilibria issue.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4. Causal reasoning vs correlation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ML finds correlations; commanders need causal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understanding. Causal ML for intelligence still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an open research problem.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5. IHL-compliant autonomous systems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Meaningful human control + proportionality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+ distinction in high-tempo engagements.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Legally and technically unsolved.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YOUR CAPSTONE PROJECTS (Lecture 10):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Address ONE of these open problems with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a proposed technical or policy approach.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334256"/>
            <a:ext cx="6986016" cy="40233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891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744"/>
                </a:solidFill>
              </a:rPr>
              <a:t>✅ FINAL MESSAGE: You have covered the complete AI/ML toolkit for defence applications. Every algorithm, every formula, every case study connects to real operational decisions. The goal was never to produce AI experts — it was to produce defence professionals who can intelligently direct, evaluate, and critically question AI systems. Use this framework wisely.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9: Culmination &amp; Revision</dc:title>
  <dc:subject>PptxGenJS Presentation</dc:subject>
  <dc:creator>AK DHAMIJA</dc:creator>
  <cp:lastModifiedBy>AK DHAMIJA</cp:lastModifiedBy>
  <cp:revision>1</cp:revision>
  <dcterms:created xsi:type="dcterms:W3CDTF">2026-09-23T17:58:26Z</dcterms:created>
  <dcterms:modified xsi:type="dcterms:W3CDTF">2026-09-23T17:58:26Z</dcterms:modified>
</cp:coreProperties>
</file>