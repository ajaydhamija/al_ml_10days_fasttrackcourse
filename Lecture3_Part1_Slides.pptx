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852928"/>
            <a:ext cx="9144000" cy="2290572"/>
          </a:xfrm>
          <a:prstGeom prst="rect">
            <a:avLst/>
          </a:prstGeom>
          <a:solidFill>
            <a:srgbClr val="11263F"/>
          </a:solidFill>
          <a:ln w="12700">
            <a:solidFill>
              <a:srgbClr val="11263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0" y="2834640"/>
            <a:ext cx="9144000" cy="54864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" name="Shape 3"/>
          <p:cNvSpPr/>
          <p:nvPr/>
        </p:nvSpPr>
        <p:spPr>
          <a:xfrm>
            <a:off x="0" y="0"/>
            <a:ext cx="164592" cy="283464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" name="Shape 4"/>
          <p:cNvSpPr/>
          <p:nvPr/>
        </p:nvSpPr>
        <p:spPr>
          <a:xfrm>
            <a:off x="0" y="0"/>
            <a:ext cx="45720" cy="2834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274320" y="201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AB8D8"/>
                </a:solidFill>
              </a:rPr>
              <a:t/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4754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DD7EE"/>
                </a:solidFill>
              </a:rPr>
              <a:t>Simulation Strategies in Warfare  |  Unit 4: AI &amp; ML in Warfare (10 Hrs)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804672"/>
            <a:ext cx="84124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Supervised Learning Part 2:</a:t>
            </a:r>
            <a:endParaRPr lang="en-US" sz="2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Regression Algorithms</a:t>
            </a:r>
            <a:endParaRPr lang="en-US" sz="2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&amp; Sensor Fusion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59689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DD7EE"/>
                </a:solidFill>
              </a:rPr>
              <a:t>Lecture 3:  OLS · Ridge · Lasso · SVR · XGBoost Reg. · Kalman Filter · ML-enhanced Sensor Fusion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314553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AK DHAMIJA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5112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</a:rPr>
              <a:t>AK DHAMIJA   |   Researcher &amp; Instructor, AI &amp; Machine Learning   |   dhamija.ak@gmail.com   |   9811453163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46360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5A3A8A"/>
                </a:solidFill>
              </a:rPr>
              <a:t>Case Study A: Mission Duration Forecast (N=6,200 exercises, 18 features)  •  Case Study B: 3-Sensor Radar+IR+ELINT Fusion (5 targets)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Lecture 3 — Objectives &amp; Two Case Studies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Classification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Linear Regression (OLS)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Ridge Regression (L2)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Lasso Regression (L1)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Elastic Net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Support Vector Regression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 Reg.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Regression Metrics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Feature Engineering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Prediction Uncertainty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Bayesian Regression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Kalman Filter Basics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Multi-sensor Fusion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ML-enhanced Fusion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4" name="Shape 22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5" name="Shape 23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Text 24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Regression + Fusion: Two Case Studies, One Unified Theme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0" name="Shape 28"/>
          <p:cNvSpPr/>
          <p:nvPr/>
        </p:nvSpPr>
        <p:spPr>
          <a:xfrm>
            <a:off x="2039112" y="1014984"/>
            <a:ext cx="349300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Text 29"/>
          <p:cNvSpPr txBox="1"/>
          <p:nvPr/>
        </p:nvSpPr>
        <p:spPr>
          <a:xfrm>
            <a:off x="2093976" y="10149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LEARNING OBJECTIVES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39112" y="1243584"/>
            <a:ext cx="3493008" cy="207568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3" name="Text 31"/>
          <p:cNvSpPr txBox="1"/>
          <p:nvPr/>
        </p:nvSpPr>
        <p:spPr>
          <a:xfrm>
            <a:off x="2112264" y="1271016"/>
            <a:ext cx="3346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①  Derive OLS regression solution in closed form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②  Understand Ridge (L2) &amp; Lasso (L1) penalties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③  Explain why regularisation prevents overfitting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④  Formulate SVR with ε-insensitive loss function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⑤  Apply XGBoost to a regression task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⑥  Select regression metrics (MSE/RMSE/MAE/R²)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⑦  Derive Bayesian prediction intervals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⑧  Explain the Kalman Filter predict-update cycle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⑨  Distinguish early, late and hybrid sensor fusion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⑩  Quantify the ML-vs-Kalman accuracy benefit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039112" y="3383280"/>
            <a:ext cx="3493008" cy="566928"/>
          </a:xfrm>
          <a:prstGeom prst="rect">
            <a:avLst/>
          </a:prstGeom>
          <a:solidFill>
            <a:srgbClr val="E0F0FF"/>
          </a:solidFill>
          <a:ln w="12700">
            <a:solidFill>
              <a:srgbClr val="5B9BD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5" name="Text 33"/>
          <p:cNvSpPr txBox="1"/>
          <p:nvPr/>
        </p:nvSpPr>
        <p:spPr>
          <a:xfrm>
            <a:off x="2103120" y="3438144"/>
            <a:ext cx="3364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REGRESSION vs CLASSIFICATION: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Classification: ŷ ∈ {FF, AB, CM, UV, CI} — discrete label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Regression: ŷ ∈ ℝ — continuous real number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Same loss-minimisation framework; different loss function: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Classification: Cross-entropy loss H(y, ŷ)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Regression: Squared error (y − ŷ)²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039112" y="4014216"/>
            <a:ext cx="3493008" cy="640080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7" name="Text 35"/>
          <p:cNvSpPr txBox="1"/>
          <p:nvPr/>
        </p:nvSpPr>
        <p:spPr>
          <a:xfrm>
            <a:off x="2103120" y="4069080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⚠ DATA PITFALL ALERT: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Regression is ESPECIALLY vulnerable to outliers — one extreme battle record can pull OLS coefficients dramatically. Always plot residuals and report RMSE alongside R².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660136" y="1014984"/>
            <a:ext cx="3364992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9" name="Text 37"/>
          <p:cNvSpPr txBox="1"/>
          <p:nvPr/>
        </p:nvSpPr>
        <p:spPr>
          <a:xfrm>
            <a:off x="5715000" y="1014984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CASE STUDY A — MISSION DURATION REGRESSION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660136" y="1243584"/>
            <a:ext cx="3364992" cy="1691640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1" name="Text 39"/>
          <p:cNvSpPr txBox="1"/>
          <p:nvPr/>
        </p:nvSpPr>
        <p:spPr>
          <a:xfrm>
            <a:off x="5733288" y="1271016"/>
            <a:ext cx="321868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Problem: Predict time-to-mission-completion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(hours) from pre-mission parameters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Dataset: N = 6,200 historical exercise records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Split: 70% train / 15% val / 15% test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Features (18 total):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Terrain type (cat.5), Weather code (cat.4)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Force size (troops), Armour count, Air assets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OPFOR density (est.), EW intensity, Supply level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Mission type (cat.6), ROE code (cat.4)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Distance to objective (km), Elevation change (m)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Comms quality score, Morale index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Days since last resupply, Temperature (°C)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Fog-of-war score, Enemy experience rating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5660136" y="2999232"/>
            <a:ext cx="3364992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3" name="Text 41"/>
          <p:cNvSpPr txBox="1"/>
          <p:nvPr/>
        </p:nvSpPr>
        <p:spPr>
          <a:xfrm>
            <a:off x="5715000" y="299923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CASE STUDY B — 3-SENSOR FUSION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660136" y="3227832"/>
            <a:ext cx="3364992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5" name="Text 43"/>
          <p:cNvSpPr txBox="1"/>
          <p:nvPr/>
        </p:nvSpPr>
        <p:spPr>
          <a:xfrm>
            <a:off x="5733288" y="3255264"/>
            <a:ext cx="3218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Problem: Track 5 simultaneous airborne targets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fusing data from 3 independent sensors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Sensors: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S1: Ground radar (range, bearing, speed)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S2: IR sensor (bearing, elevation, temperature)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S3: ELINT receiver (emission freq, PRF, bearing)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Challenge: Each sensor has different: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Update rates (1 Hz, 2 Hz, 5 Hz)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Noise characteristics (σ²_radar &gt;&gt; σ²_ELINT)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Feature overlap (bearing common to all 3)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Missing data: S2 blocked by clouds (20% gaps)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Linear Regression — Ordinary Least Squares Derivation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Classification</a:t>
            </a:r>
            <a:endParaRPr lang="en-US" sz="590" dirty="0"/>
          </a:p>
        </p:txBody>
      </p:sp>
      <p:sp>
        <p:nvSpPr>
          <p:cNvPr id="10" name="Shape 8"/>
          <p:cNvSpPr/>
          <p:nvPr/>
        </p:nvSpPr>
        <p:spPr>
          <a:xfrm>
            <a:off x="27432" y="1075639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" name="Text 9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2. Linear Regression (OLS)</a:t>
            </a:r>
            <a:endParaRPr lang="en-US" sz="68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Ridge Regression (L2)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Lasso Regression (L1)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Elastic Net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Support Vector Regression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 Reg.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Regression Metrics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Feature Engineering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Prediction Uncertainty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Bayesian Regression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Kalman Filter Basics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Multi-sensor Fusion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ML-enhanced Fusion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OLS: The Closed-Form Solution to Linear Regression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THE OLS MODEL &amp; DERIVATION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2441448"/>
          </a:xfrm>
          <a:prstGeom prst="rect">
            <a:avLst/>
          </a:prstGeom>
          <a:solidFill>
            <a:srgbClr val="F2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MODEL:  y = Xw + ε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X ∈ ℝ^{N×d}: design matrix (N=4,340, d=18)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 ∈ ℝ^d: weight vector (parameters)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y ∈ ℝ^N: target vector (mission durations)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ε ~ N(0, σ²I): Gaussian noise assumption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LOSS FUNCTION: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L(w) = ||y − Xw||² = Σ_{i=1}^N (y_i − w^T x_i)²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DERIVATION: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∂L/∂w = −2X^T(y − Xw) = 0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X^T y = X^T X w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w* = (X^T X)⁻¹ X^T y  [CLOSED FORM — UNIQUE!]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ASSUMPTIONS (Gauss-Markov):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Linearity: E[y|X] = Xw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No multicollinearity: X^T X is invertible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Homoscedasticity: Var(ε_i) = σ² (constant)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Independence: Cov(ε_i, ε_j) = 0 for i≠j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OLS is BLUE: Best Linear Unbiased Estimator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3749040"/>
            <a:ext cx="3632728" cy="475488"/>
          </a:xfrm>
          <a:prstGeom prst="rect">
            <a:avLst/>
          </a:prstGeom>
          <a:solidFill>
            <a:srgbClr val="EFF4FF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794760"/>
            <a:ext cx="3449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IADS CASE STUDY A — OLS RESULTS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99856" y="1243584"/>
            <a:ext cx="3225272" cy="3182112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873008" y="1271016"/>
            <a:ext cx="30789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Target: Time-to-Mission (hours), range: [2.1, 48.6]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OLS on N=4,340 training samples: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Training R²:  0.738    Training RMSE: 3.97 hrs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Val R²:       0.712    Val RMSE:      4.18 hrs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Test R²:      0.710    Test RMSE:     4.22 hrs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Top 5 Coefficient Magnitudes (|w_j|):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OPFOR density:   +1.84 hrs per unit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Force size:      −0.73 hrs per 100 troops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EW intensity:    +2.31 hrs per EW level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Distance:        +0.94 hrs per 10 km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Supply level:    −1.12 hrs per supply grade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INTERPRETABILITY: EW intensity is the strongest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predictor of mission duration — aligns with doctrine!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⚠ Collinearity check: Force size &amp; Armour count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VIF = 8.4 (borderline — may distort coefficients)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Solution: Ridge regression (next slide)</a:t>
            </a:r>
            <a:endParaRPr lang="en-US" sz="840" dirty="0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3831336"/>
            <a:ext cx="3376696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Ridge &amp; Lasso Regression — Regularisation Against Overfitting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Classification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Linear Regression (OLS)</a:t>
            </a:r>
            <a:endParaRPr lang="en-US" sz="590" dirty="0"/>
          </a:p>
        </p:txBody>
      </p:sp>
      <p:sp>
        <p:nvSpPr>
          <p:cNvPr id="11" name="Shape 9"/>
          <p:cNvSpPr/>
          <p:nvPr/>
        </p:nvSpPr>
        <p:spPr>
          <a:xfrm>
            <a:off x="27432" y="1328318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2" name="Text 10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3. Ridge Regression (L2)</a:t>
            </a:r>
            <a:endParaRPr lang="en-US" sz="68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Lasso Regression (L1)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Elastic Net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Support Vector Regression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 Reg.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Regression Metrics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Feature Engineering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Prediction Uncertainty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Bayesian Regression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Kalman Filter Basics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Multi-sensor Fusion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ML-enhanced Fusion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Regularised Regression: Shrinking Coefficients to Generalise Better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RIDGE REGRESSION (L2 Penalty)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3182112"/>
          </a:xfrm>
          <a:prstGeom prst="rect">
            <a:avLst/>
          </a:prstGeom>
          <a:solidFill>
            <a:srgbClr val="F2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Problem: OLS overfits when features are collinear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or d is large relative to N.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RIDGE adds L2 penalty: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L_Ridge(w) = ||y−Xw||² + λ||w||²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        = Σ(y_i−w^Tx_i)² + λΣ_j w_j²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CLOSED FORM: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w*_Ridge = (X^TX + λI)⁻¹ X^Ty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Note: (X^TX + λI) is ALWAYS invertible (λ&gt;0)!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Even when X is rank-deficient — solves collinearity!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EFFECT OF λ: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λ=0:   OLS (unregularised)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λ→∞:  w → 0 (all coefficients shrink to zero)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Small λ → little regularisation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Tuned λ → bias↑ but variance↓ → better test perf.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CASE A RESULTS (λ=0.8 via 5-fold CV):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Test R²: 0.738  RMSE: 3.91 hrs  (vs OLS 0.710/4.22)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Coefficient shrinkage: Force-Armour VIF 8.4 → 2.1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All 18 coefficients REMAIN non-zero (ridge never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zeros a coefficient — only shrinks them)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LASSO REGRESSION (L1 Penalty)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LASSO adds L1 penalty: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L_Lasso(w) = ||y−Xw||² + λ||w||₁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         = Σ(y_i−w^Tx_i)² + λΣ_j |w_j|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NO closed form (|w_j| not differentiable at 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Solved by: Coordinate Descent, ADMM, LARS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KEY PROPERTY: Lasso produces SPARSE solutions!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Many w_j = 0 exactly → automatic feature selection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L1 penalty creates corners in constraint region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→ solutions prefer to land ON axes (w_j=0)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CASE A RESULTS (λ=0.3 via 5-fold CV):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Test R²: 0.728  RMSE: 4.02 hrs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Features zeroed out: 6 of 18!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Zeroed: Comms quality, Temperature, Days-resupply,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Morale index, Fog-of-war, Enemy experience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Retained: 12 features → simpler, deployable model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ELASTIC NET (combines both):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L_EN = ||y−Xw||² + λ₁||w||₁ + λ₂||w||²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Best of both: sparse + stable with correlated features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Case A: λ₁=0.2, λ₂=0.5 → R²=0.741, 8 features zeroed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Elastic Net &amp; Regularisation Comparison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Classification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Linear Regression (OLS)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Ridge Regression (L2)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Lasso Regression (L1)</a:t>
            </a:r>
            <a:endParaRPr lang="en-US" sz="590" dirty="0"/>
          </a:p>
        </p:txBody>
      </p:sp>
      <p:sp>
        <p:nvSpPr>
          <p:cNvPr id="13" name="Shape 11"/>
          <p:cNvSpPr/>
          <p:nvPr/>
        </p:nvSpPr>
        <p:spPr>
          <a:xfrm>
            <a:off x="27432" y="1833677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5. Elastic Net</a:t>
            </a:r>
            <a:endParaRPr lang="en-US" sz="68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Support Vector Regression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 Reg.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Regression Metrics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Feature Engineering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Prediction Uncertainty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Bayesian Regression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Kalman Filter Basics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Multi-sensor Fusion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ML-enhanced Fusion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Ridge vs Lasso vs Elastic Net — When to Use Which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2279904" cy="256032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39112" y="1014984"/>
            <a:ext cx="2279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RIDGE (L2)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039112" y="1307592"/>
            <a:ext cx="2279904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03120" y="1362456"/>
            <a:ext cx="21518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/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/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/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/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/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392168" y="1014984"/>
            <a:ext cx="2279904" cy="256032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4392168" y="1014984"/>
            <a:ext cx="2279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LASSO (L1)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92168" y="1307592"/>
            <a:ext cx="2279904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4456176" y="1362456"/>
            <a:ext cx="21518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/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/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/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/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/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6745224" y="1014984"/>
            <a:ext cx="2279904" cy="256032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6745224" y="1014984"/>
            <a:ext cx="2279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ELASTIC NET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45224" y="1307592"/>
            <a:ext cx="2279904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6809232" y="1362456"/>
            <a:ext cx="21518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L1+L2 combined penalty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Sparse + stable under correlation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Best for: unknown structure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Two hyperparameters to tune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Recommended as default choice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2039112" y="2496312"/>
            <a:ext cx="6986016" cy="219456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2039112" y="2496312"/>
            <a:ext cx="1115568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Method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3154680" y="2496312"/>
            <a:ext cx="694944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λ (tuned)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3849624" y="2496312"/>
            <a:ext cx="548640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Test R²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4398264" y="2496312"/>
            <a:ext cx="640080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Test RMSE</a:t>
            </a:r>
            <a:endParaRPr lang="en-US" sz="750" dirty="0"/>
          </a:p>
        </p:txBody>
      </p:sp>
      <p:sp>
        <p:nvSpPr>
          <p:cNvPr id="48" name="Text 46"/>
          <p:cNvSpPr txBox="1"/>
          <p:nvPr/>
        </p:nvSpPr>
        <p:spPr>
          <a:xfrm>
            <a:off x="5038344" y="2496312"/>
            <a:ext cx="1225296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Features Used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6263640" y="2496312"/>
            <a:ext cx="1133856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Training (s)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039112" y="2715768"/>
            <a:ext cx="6986016" cy="274320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1" name="Text 49"/>
          <p:cNvSpPr txBox="1"/>
          <p:nvPr/>
        </p:nvSpPr>
        <p:spPr>
          <a:xfrm>
            <a:off x="2039112" y="2715768"/>
            <a:ext cx="1115568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OLS (no reg.)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3154680" y="2715768"/>
            <a:ext cx="694944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—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3849624" y="2715768"/>
            <a:ext cx="548640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0.710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4398264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4.22 hrs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5038344" y="2715768"/>
            <a:ext cx="1225296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18/18</a:t>
            </a:r>
            <a:endParaRPr lang="en-US" sz="800" dirty="0"/>
          </a:p>
        </p:txBody>
      </p:sp>
      <p:sp>
        <p:nvSpPr>
          <p:cNvPr id="56" name="Text 54"/>
          <p:cNvSpPr txBox="1"/>
          <p:nvPr/>
        </p:nvSpPr>
        <p:spPr>
          <a:xfrm>
            <a:off x="6263640" y="2715768"/>
            <a:ext cx="1133856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0.06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039112" y="2990088"/>
            <a:ext cx="698601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8" name="Text 56"/>
          <p:cNvSpPr txBox="1"/>
          <p:nvPr/>
        </p:nvSpPr>
        <p:spPr>
          <a:xfrm>
            <a:off x="2039112" y="2990088"/>
            <a:ext cx="1115568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Ridge</a:t>
            </a:r>
            <a:endParaRPr lang="en-US" sz="800" dirty="0"/>
          </a:p>
        </p:txBody>
      </p:sp>
      <p:sp>
        <p:nvSpPr>
          <p:cNvPr id="59" name="Text 57"/>
          <p:cNvSpPr txBox="1"/>
          <p:nvPr/>
        </p:nvSpPr>
        <p:spPr>
          <a:xfrm>
            <a:off x="3154680" y="2990088"/>
            <a:ext cx="694944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λ=0.8</a:t>
            </a:r>
            <a:endParaRPr lang="en-US" sz="800" dirty="0"/>
          </a:p>
        </p:txBody>
      </p:sp>
      <p:sp>
        <p:nvSpPr>
          <p:cNvPr id="60" name="Text 58"/>
          <p:cNvSpPr txBox="1"/>
          <p:nvPr/>
        </p:nvSpPr>
        <p:spPr>
          <a:xfrm>
            <a:off x="3849624" y="2990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0.738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4398264" y="2990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3.91 hrs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5038344" y="2990088"/>
            <a:ext cx="1225296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18/18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6263640" y="2990088"/>
            <a:ext cx="1133856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0.07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039112" y="3264408"/>
            <a:ext cx="6986016" cy="274320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5" name="Text 63"/>
          <p:cNvSpPr txBox="1"/>
          <p:nvPr/>
        </p:nvSpPr>
        <p:spPr>
          <a:xfrm>
            <a:off x="2039112" y="3264408"/>
            <a:ext cx="1115568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Lasso</a:t>
            </a:r>
            <a:endParaRPr lang="en-US" sz="800" dirty="0"/>
          </a:p>
        </p:txBody>
      </p:sp>
      <p:sp>
        <p:nvSpPr>
          <p:cNvPr id="66" name="Text 64"/>
          <p:cNvSpPr txBox="1"/>
          <p:nvPr/>
        </p:nvSpPr>
        <p:spPr>
          <a:xfrm>
            <a:off x="3154680" y="3264408"/>
            <a:ext cx="694944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λ=0.3</a:t>
            </a:r>
            <a:endParaRPr lang="en-US" sz="800" dirty="0"/>
          </a:p>
        </p:txBody>
      </p:sp>
      <p:sp>
        <p:nvSpPr>
          <p:cNvPr id="67" name="Text 65"/>
          <p:cNvSpPr txBox="1"/>
          <p:nvPr/>
        </p:nvSpPr>
        <p:spPr>
          <a:xfrm>
            <a:off x="3849624" y="3264408"/>
            <a:ext cx="548640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0.728</a:t>
            </a:r>
            <a:endParaRPr lang="en-US" sz="800" dirty="0"/>
          </a:p>
        </p:txBody>
      </p:sp>
      <p:sp>
        <p:nvSpPr>
          <p:cNvPr id="68" name="Text 66"/>
          <p:cNvSpPr txBox="1"/>
          <p:nvPr/>
        </p:nvSpPr>
        <p:spPr>
          <a:xfrm>
            <a:off x="4398264" y="3264408"/>
            <a:ext cx="640080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4.02 hrs</a:t>
            </a:r>
            <a:endParaRPr lang="en-US" sz="800" dirty="0"/>
          </a:p>
        </p:txBody>
      </p:sp>
      <p:sp>
        <p:nvSpPr>
          <p:cNvPr id="69" name="Text 67"/>
          <p:cNvSpPr txBox="1"/>
          <p:nvPr/>
        </p:nvSpPr>
        <p:spPr>
          <a:xfrm>
            <a:off x="5038344" y="3264408"/>
            <a:ext cx="1225296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12/18</a:t>
            </a:r>
            <a:endParaRPr lang="en-US" sz="800" dirty="0"/>
          </a:p>
        </p:txBody>
      </p:sp>
      <p:sp>
        <p:nvSpPr>
          <p:cNvPr id="70" name="Text 68"/>
          <p:cNvSpPr txBox="1"/>
          <p:nvPr/>
        </p:nvSpPr>
        <p:spPr>
          <a:xfrm>
            <a:off x="6263640" y="3264408"/>
            <a:ext cx="1133856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0.14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039112" y="3538728"/>
            <a:ext cx="698601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2" name="Text 70"/>
          <p:cNvSpPr txBox="1"/>
          <p:nvPr/>
        </p:nvSpPr>
        <p:spPr>
          <a:xfrm>
            <a:off x="2039112" y="3538728"/>
            <a:ext cx="1115568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Elastic Net</a:t>
            </a:r>
            <a:endParaRPr lang="en-US" sz="800" dirty="0"/>
          </a:p>
        </p:txBody>
      </p:sp>
      <p:sp>
        <p:nvSpPr>
          <p:cNvPr id="73" name="Text 71"/>
          <p:cNvSpPr txBox="1"/>
          <p:nvPr/>
        </p:nvSpPr>
        <p:spPr>
          <a:xfrm>
            <a:off x="3154680" y="3538728"/>
            <a:ext cx="694944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λ₁=0.2, λ₂=0.5</a:t>
            </a:r>
            <a:endParaRPr lang="en-US" sz="800" dirty="0"/>
          </a:p>
        </p:txBody>
      </p:sp>
      <p:sp>
        <p:nvSpPr>
          <p:cNvPr id="74" name="Text 72"/>
          <p:cNvSpPr txBox="1"/>
          <p:nvPr/>
        </p:nvSpPr>
        <p:spPr>
          <a:xfrm>
            <a:off x="3849624" y="3538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0.741</a:t>
            </a:r>
            <a:endParaRPr lang="en-US" sz="800" dirty="0"/>
          </a:p>
        </p:txBody>
      </p:sp>
      <p:sp>
        <p:nvSpPr>
          <p:cNvPr id="75" name="Text 73"/>
          <p:cNvSpPr txBox="1"/>
          <p:nvPr/>
        </p:nvSpPr>
        <p:spPr>
          <a:xfrm>
            <a:off x="4398264" y="3538728"/>
            <a:ext cx="640080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3.88 hrs</a:t>
            </a:r>
            <a:endParaRPr lang="en-US" sz="800" dirty="0"/>
          </a:p>
        </p:txBody>
      </p:sp>
      <p:sp>
        <p:nvSpPr>
          <p:cNvPr id="76" name="Text 74"/>
          <p:cNvSpPr txBox="1"/>
          <p:nvPr/>
        </p:nvSpPr>
        <p:spPr>
          <a:xfrm>
            <a:off x="5038344" y="3538728"/>
            <a:ext cx="1225296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10/18</a:t>
            </a:r>
            <a:endParaRPr lang="en-US" sz="800" dirty="0"/>
          </a:p>
        </p:txBody>
      </p:sp>
      <p:sp>
        <p:nvSpPr>
          <p:cNvPr id="77" name="Text 75"/>
          <p:cNvSpPr txBox="1"/>
          <p:nvPr/>
        </p:nvSpPr>
        <p:spPr>
          <a:xfrm>
            <a:off x="6263640" y="3538728"/>
            <a:ext cx="1133856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0.18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039112" y="3813048"/>
            <a:ext cx="6986016" cy="274320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9" name="Text 77"/>
          <p:cNvSpPr txBox="1"/>
          <p:nvPr/>
        </p:nvSpPr>
        <p:spPr>
          <a:xfrm>
            <a:off x="2039112" y="3813048"/>
            <a:ext cx="1115568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SVR (RBF)</a:t>
            </a:r>
            <a:endParaRPr lang="en-US" sz="800" dirty="0"/>
          </a:p>
        </p:txBody>
      </p:sp>
      <p:sp>
        <p:nvSpPr>
          <p:cNvPr id="80" name="Text 78"/>
          <p:cNvSpPr txBox="1"/>
          <p:nvPr/>
        </p:nvSpPr>
        <p:spPr>
          <a:xfrm>
            <a:off x="3154680" y="3813048"/>
            <a:ext cx="694944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C=50, ε=0.5</a:t>
            </a:r>
            <a:endParaRPr lang="en-US" sz="800" dirty="0"/>
          </a:p>
        </p:txBody>
      </p:sp>
      <p:sp>
        <p:nvSpPr>
          <p:cNvPr id="81" name="Text 79"/>
          <p:cNvSpPr txBox="1"/>
          <p:nvPr/>
        </p:nvSpPr>
        <p:spPr>
          <a:xfrm>
            <a:off x="3849624" y="3813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0.812</a:t>
            </a:r>
            <a:endParaRPr lang="en-US" sz="800" dirty="0"/>
          </a:p>
        </p:txBody>
      </p:sp>
      <p:sp>
        <p:nvSpPr>
          <p:cNvPr id="82" name="Text 80"/>
          <p:cNvSpPr txBox="1"/>
          <p:nvPr/>
        </p:nvSpPr>
        <p:spPr>
          <a:xfrm>
            <a:off x="4398264" y="3813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3.24 hrs</a:t>
            </a:r>
            <a:endParaRPr lang="en-US" sz="800" dirty="0"/>
          </a:p>
        </p:txBody>
      </p:sp>
      <p:sp>
        <p:nvSpPr>
          <p:cNvPr id="83" name="Text 81"/>
          <p:cNvSpPr txBox="1"/>
          <p:nvPr/>
        </p:nvSpPr>
        <p:spPr>
          <a:xfrm>
            <a:off x="5038344" y="3813048"/>
            <a:ext cx="1225296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18/18</a:t>
            </a:r>
            <a:endParaRPr lang="en-US" sz="800" dirty="0"/>
          </a:p>
        </p:txBody>
      </p:sp>
      <p:sp>
        <p:nvSpPr>
          <p:cNvPr id="84" name="Text 82"/>
          <p:cNvSpPr txBox="1"/>
          <p:nvPr/>
        </p:nvSpPr>
        <p:spPr>
          <a:xfrm>
            <a:off x="6263640" y="3813048"/>
            <a:ext cx="1133856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4.8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2039112" y="4087368"/>
            <a:ext cx="6986016" cy="274320"/>
          </a:xfrm>
          <a:prstGeom prst="rect">
            <a:avLst/>
          </a:prstGeom>
          <a:solidFill>
            <a:srgbClr val="E0F4E0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6" name="Text 84"/>
          <p:cNvSpPr txBox="1"/>
          <p:nvPr/>
        </p:nvSpPr>
        <p:spPr>
          <a:xfrm>
            <a:off x="2039112" y="4087368"/>
            <a:ext cx="1115568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A45"/>
                </a:solidFill>
              </a:rPr>
              <a:t>XGBRegressor</a:t>
            </a:r>
            <a:endParaRPr lang="en-US" sz="800" dirty="0"/>
          </a:p>
        </p:txBody>
      </p:sp>
      <p:sp>
        <p:nvSpPr>
          <p:cNvPr id="87" name="Text 85"/>
          <p:cNvSpPr txBox="1"/>
          <p:nvPr/>
        </p:nvSpPr>
        <p:spPr>
          <a:xfrm>
            <a:off x="3154680" y="4087368"/>
            <a:ext cx="694944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A45"/>
                </a:solidFill>
              </a:rPr>
              <a:t>M=400, η=0.05</a:t>
            </a:r>
            <a:endParaRPr lang="en-US" sz="800" dirty="0"/>
          </a:p>
        </p:txBody>
      </p:sp>
      <p:sp>
        <p:nvSpPr>
          <p:cNvPr id="88" name="Text 86"/>
          <p:cNvSpPr txBox="1"/>
          <p:nvPr/>
        </p:nvSpPr>
        <p:spPr>
          <a:xfrm>
            <a:off x="3849624" y="4087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A45"/>
                </a:solidFill>
              </a:rPr>
              <a:t>0.912</a:t>
            </a:r>
            <a:endParaRPr lang="en-US" sz="800" dirty="0"/>
          </a:p>
        </p:txBody>
      </p:sp>
      <p:sp>
        <p:nvSpPr>
          <p:cNvPr id="89" name="Text 87"/>
          <p:cNvSpPr txBox="1"/>
          <p:nvPr/>
        </p:nvSpPr>
        <p:spPr>
          <a:xfrm>
            <a:off x="4398264" y="4087368"/>
            <a:ext cx="640080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A45"/>
                </a:solidFill>
              </a:rPr>
              <a:t>2.06 hrs</a:t>
            </a:r>
            <a:endParaRPr lang="en-US" sz="800" dirty="0"/>
          </a:p>
        </p:txBody>
      </p:sp>
      <p:sp>
        <p:nvSpPr>
          <p:cNvPr id="90" name="Text 88"/>
          <p:cNvSpPr txBox="1"/>
          <p:nvPr/>
        </p:nvSpPr>
        <p:spPr>
          <a:xfrm>
            <a:off x="5038344" y="4087368"/>
            <a:ext cx="1225296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A45"/>
                </a:solidFill>
              </a:rPr>
              <a:t>18/18</a:t>
            </a:r>
            <a:endParaRPr lang="en-US" sz="800" dirty="0"/>
          </a:p>
        </p:txBody>
      </p:sp>
      <p:sp>
        <p:nvSpPr>
          <p:cNvPr id="91" name="Text 89"/>
          <p:cNvSpPr txBox="1"/>
          <p:nvPr/>
        </p:nvSpPr>
        <p:spPr>
          <a:xfrm>
            <a:off x="6263640" y="4087368"/>
            <a:ext cx="1133856" cy="27432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A45"/>
                </a:solidFill>
              </a:rPr>
              <a:t>22.4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2039112" y="4416552"/>
            <a:ext cx="6986016" cy="347472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3" name="Text 91"/>
          <p:cNvSpPr txBox="1"/>
          <p:nvPr/>
        </p:nvSpPr>
        <p:spPr>
          <a:xfrm>
            <a:off x="2103120" y="44714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🏆 XGBRegressor dominates: R²=0.912, RMSE=2.06 hrs. Elastic Net best among linear methods: interpretable 10-feature model with R²=0.741.</a:t>
            </a:r>
            <a:endParaRPr lang="en-US" sz="900" dirty="0"/>
          </a:p>
        </p:txBody>
      </p:sp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696" y="1399032"/>
            <a:ext cx="2078736" cy="950976"/>
          </a:xfrm>
          <a:prstGeom prst="rect">
            <a:avLst/>
          </a:prstGeom>
        </p:spPr>
      </p:pic>
      <p:pic>
        <p:nvPicPr>
          <p:cNvPr id="95" name="Picture 9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2752" y="1399032"/>
            <a:ext cx="2078736" cy="9509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Support Vector Regression — ε-Insensitive Loss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Classification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Linear Regression (OLS)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Ridge Regression (L2)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Lasso Regression (L1)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Elastic Net</a:t>
            </a:r>
            <a:endParaRPr lang="en-US" sz="590" dirty="0"/>
          </a:p>
        </p:txBody>
      </p:sp>
      <p:sp>
        <p:nvSpPr>
          <p:cNvPr id="14" name="Shape 12"/>
          <p:cNvSpPr/>
          <p:nvPr/>
        </p:nvSpPr>
        <p:spPr>
          <a:xfrm>
            <a:off x="27432" y="2086356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6. Support Vector Regression</a:t>
            </a:r>
            <a:endParaRPr lang="en-US" sz="68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 Reg.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Regression Metrics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Feature Engineering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Prediction Uncertainty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Bayesian Regression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Kalman Filter Basics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Multi-sensor Fusion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ML-enhanced Fusion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SVR: Fitting Within a Tube — No Penalty for Small Errors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SVR FORMULATION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3182112"/>
          </a:xfrm>
          <a:prstGeom prst="rect">
            <a:avLst/>
          </a:prstGeom>
          <a:solidFill>
            <a:srgbClr val="F2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Key idea: Errors within ε-tube are IGNORED.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Only errors OUTSIDE the tube are penalised.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ε-INSENSITIVE LOSS: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L_ε(y, ŷ) = max(0, |y−ŷ| − ε)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= 0          if |y−ŷ| ≤ ε  (inside tube)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= |y−ŷ| − ε  if |y−ŷ| &gt; ε  (outside tube)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SVR PRIMAL: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Minimise: ½||w||² + C Σ(ξᵢ + ξᵢ*)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Subject to: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y_i − w^Tx_i − b ≤ ε + ξᵢ     (upper slack)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w^Tx_i + b − y_i ≤ ε + ξᵢ*    (lower slack)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ξᵢ, ξᵢ* ≥ 0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HYPERPARAMETERS: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C:  tolerance for errors OUTSIDE the tube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Large C → tight fit (may overfit)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Small C → wider margin, more tolerance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ε:  half-width of the insensitive tube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Larger ε → more points inside → sparser model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kernel: RBF used for Case A (non-linear fit)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CASE A TUNING (Grid Search):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C=50, ε=0.5, γ=0.05 (RBF)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Test R²: 0.812   RMSE: 3.24 hrs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Support Vectors: 1,842 (42.4% of training data!)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4480560"/>
            <a:ext cx="3632728" cy="164592"/>
          </a:xfrm>
          <a:prstGeom prst="rect">
            <a:avLst/>
          </a:prstGeom>
          <a:solidFill>
            <a:srgbClr val="EFF4FF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4526280"/>
            <a:ext cx="34498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L_ε(y,ŷ) = max(0, |y−ŷ|−ε)     [ε-insensitive loss]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SVR prediction: ŷ = Σᵢ (αᵢ−αᵢ*) K(xᵢ,x) + b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WHY SVR IN DEFENCE REGRESSION?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99856" y="1243584"/>
            <a:ext cx="3225272" cy="3182112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873008" y="1271016"/>
            <a:ext cx="30789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BENEFIT 1: Robust to outliers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Training data has extreme battles (2-hour ops to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48-hour sieges). With ε=0.5, prediction errors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under 30 min are IGNORED during training —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model focuses on getting large errors right.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BENEFIT 2: Non-parametric kernel mapping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RBF kernel captures non-linear terrain-duration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relationships that linear methods miss.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(Mountain terrain + rain → multiplicative effect,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not additive — linear regression misses this)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BENEFIT 3: Sparse model via support vectors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At test time: inference ∝ #SVs × kernel cost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Not dependent on N (once SVs found)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⚠ TRADEOFF: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Training: O(N²) to O(N³) for kernel SVR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4,340 samples → 4.8 sec (acceptable)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40,000 samples → would take ~480 sec (too slow!)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Use XGBoost for large datasets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Gradient Boosting for Regression — XGBoost Deep Dive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Classification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Linear Regression (OLS)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Ridge Regression (L2)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Lasso Regression (L1)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Elastic Net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Support Vector Regression</a:t>
            </a:r>
            <a:endParaRPr lang="en-US" sz="590" dirty="0"/>
          </a:p>
        </p:txBody>
      </p:sp>
      <p:sp>
        <p:nvSpPr>
          <p:cNvPr id="15" name="Shape 13"/>
          <p:cNvSpPr/>
          <p:nvPr/>
        </p:nvSpPr>
        <p:spPr>
          <a:xfrm>
            <a:off x="27432" y="2339035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7. Gradient Boosting Reg.</a:t>
            </a:r>
            <a:endParaRPr lang="en-US" sz="68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Regression Metrics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Feature Engineering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Prediction Uncertainty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Bayesian Regression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Kalman Filter Basics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Multi-sensor Fusion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ML-enhanced Fusion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XGBRegressor: Sequential Residual Learning for Mission Duration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REGRESSION BOOSTING MECHANICS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2441448"/>
          </a:xfrm>
          <a:prstGeom prst="rect">
            <a:avLst/>
          </a:prstGeom>
          <a:solidFill>
            <a:srgbClr val="F2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Initialise: F₀(x) = ȳ (mean of training targets)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For m = 1 to M: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Compute PSEUDO-RESIDUALS: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r_im = y_i − F_{m-1}(x_i)  [what model got wrong]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Fit regression tree T_m to {(x_i, r_im)}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Tree predicts residuals, not original target!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Max depth d_m = 5 (prevents overfitting)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Update ensemble: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F_m(x) = F_{m-1}(x) + η·T_m(x)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η = 0.05 (learning rate — small = careful steps)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Final prediction: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F_M(x) = ȳ + η Σ_{m=1}^M T_m(x)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XGBOOST REGRESSION LOSS: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 = Σ L(y_i, ŷ_i) + Σ Ω(T_m)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 = Σ(y_i − ŷ_i)² [MSE for regression]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Ω(T) = γ·|leaves| + ½λ||leaf_weights||²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Second-order Taylor expansion used for speed!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3749040"/>
            <a:ext cx="3632728" cy="475488"/>
          </a:xfrm>
          <a:prstGeom prst="rect">
            <a:avLst/>
          </a:prstGeom>
          <a:solidFill>
            <a:srgbClr val="EFF4FF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794760"/>
            <a:ext cx="3449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XGBOOST CASE A: DEEP ANALYSIS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99856" y="1243584"/>
            <a:ext cx="3225272" cy="3182112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873008" y="1271016"/>
            <a:ext cx="30789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Hyperparameters (tuned via 5-fold CV):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n_estimators: 400, η: 0.05, max_depth: 5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subsample: 0.80, colsample_bytree: 0.80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reg_alpha: 0.1, reg_lambda: 1.0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LEARNING CURVE (validation RMSE vs trees M):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M=  10: Val RMSE = 6.81 hrs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M=  50: Val RMSE = 4.23 hrs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M= 100: Val RMSE = 3.42 hrs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M= 200: Val RMSE = 2.68 hrs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M= 400: Val RMSE = 2.11 hrs ← optimal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M= 800: Val RMSE = 2.19 hrs ← overfit starts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M=1200: Val RMSE = 2.34 hrs ← overfit worsens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FINAL TEST PERFORMANCE: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Test R²: 0.912  Test RMSE: 2.06 hrs  MAE: 1.54 hrs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FEATURE IMPORTANCE (top 5):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EW intensity: 0.231  OPFOR density: 0.188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Distance:     0.152  Force size: 0.127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Mission type: 0.098  [consistent with OLS coeffs!]</a:t>
            </a:r>
            <a:endParaRPr lang="en-US" sz="830" dirty="0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3831336"/>
            <a:ext cx="3376696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Regression Metrics — Choosing the Right Evaluation Criterion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Classification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Linear Regression (OLS)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Ridge Regression (L2)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Lasso Regression (L1)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Elastic Net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Support Vector Regression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 Reg.</a:t>
            </a:r>
            <a:endParaRPr lang="en-US" sz="590" dirty="0"/>
          </a:p>
        </p:txBody>
      </p:sp>
      <p:sp>
        <p:nvSpPr>
          <p:cNvPr id="16" name="Shape 14"/>
          <p:cNvSpPr/>
          <p:nvPr/>
        </p:nvSpPr>
        <p:spPr>
          <a:xfrm>
            <a:off x="27432" y="2591714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8. Regression Metrics</a:t>
            </a:r>
            <a:endParaRPr lang="en-US" sz="68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Feature Engineering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Prediction Uncertainty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Bayesian Regression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Kalman Filter Basics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Multi-sensor Fusion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ML-enhanced Fusion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R², RMSE, MAE, MAPE — What They Measure &amp; When They Mislead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THE FOUR CORE METRICS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MSE = (1/N) Σ(y_i − ŷ_i)²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Penalises LARGE errors heavily (squared)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Same units as y² → hard to interpret directly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RMSE = √MSE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Same units as target (hours in Case A)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Sensitive to outliers (large errors matter more)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XGBoost: RMSE = 2.06 hrs → ±2 hr prediction!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MAE = (1/N) Σ|y_i − ŷ_i|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Robust to outliers (linear, not squared penalty)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More intuitive: avg absolute error = 1.54 hrs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XGBoost: MAE = 1.54 hrs &lt; RMSE = 2.06 hrs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(RMSE &gt; MAE confirms outlier battles exist)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R² = 1 − SS_res/SS_tot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SS_res = Σ(y_i − ŷ_i)²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SS_tot = Σ(y_i − ȳ)²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R² = 1: perfect fit  R² = 0: predicts mean only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R² = 0.912 means model explains 91.2% of variance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in mission duration — strong predictive power!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MAPE = (100/N) Σ|y_i − ŷ_i|/|y_i|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Percentage error — interpretable across scales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XGBoost: MAPE = 8.3% on mission duration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4315968"/>
            <a:ext cx="3438144" cy="365760"/>
          </a:xfrm>
          <a:prstGeom prst="rect">
            <a:avLst/>
          </a:prstGeom>
          <a:solidFill>
            <a:srgbClr val="EFF4FF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436168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R² = 1 − Σ(y−ŷ)²/Σ(y−ȳ)²      RMSE = √[(1/N)Σ(y−ŷ)²]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Adj.R² = 1−(1−R²)(N−1)/(N−d−1) [penalises extra features]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E05218"/>
          </a:solidFill>
          <a:ln w="12700">
            <a:solidFill>
              <a:srgbClr val="E0521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METRIC TRAPS IN DEFENCE REGRESSION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586984" y="1243584"/>
            <a:ext cx="3438144" cy="3182112"/>
          </a:xfrm>
          <a:prstGeom prst="rect">
            <a:avLst/>
          </a:prstGeom>
          <a:solidFill>
            <a:srgbClr val="FFF8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660136" y="1271016"/>
            <a:ext cx="329184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⚠ TRAP 1: High R² on training, low R² on test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R²_train=0.98 but R²_test=0.71 → overfitting!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Always report both — OLS case: 0.738 vs 0.710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⚠ TRAP 2: RMSE hides directional bias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Avg under-prediction of 2 hrs (missions take LONGER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than predicted) → critical for logistics planning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Report: Σ(y_i − ŷ_i)/N = signed mean bias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⚠ TRAP 3: R² can be negative!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If model is worse than predicting the mean,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SS_res &gt; SS_tot → R² &lt; 0. Not impossible!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⚠ TRAP 4: R² misleading with non-IID data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Time-series exercise data: R² inflated by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temporal autocorrelation. Use out-of-time test!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⚠ TRAP 5: MAPE undefined when y_i = 0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Any mission with zero planned duration → error.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Use sMAPE or RMSE for zero-inclusive targets.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Prediction Uncertainty — Knowing When Your Model Doesn't Know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Classification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Linear Regression (OLS)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Ridge Regression (L2)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Lasso Regression (L1)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Elastic Net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Support Vector Regression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 Reg.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Regression Metrics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Feature Engineering</a:t>
            </a:r>
            <a:endParaRPr lang="en-US" sz="590" dirty="0"/>
          </a:p>
        </p:txBody>
      </p:sp>
      <p:sp>
        <p:nvSpPr>
          <p:cNvPr id="18" name="Shape 16"/>
          <p:cNvSpPr/>
          <p:nvPr/>
        </p:nvSpPr>
        <p:spPr>
          <a:xfrm>
            <a:off x="27432" y="3097073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10. Prediction Uncertainty</a:t>
            </a:r>
            <a:endParaRPr lang="en-US" sz="68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Bayesian Regression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Kalman Filter Basics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Multi-sensor Fusion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ML-enhanced Fusion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Beyond Point Predictions: Confidence Intervals for Defence Decisions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WHY UNCERTAINTY MATTERS IN DEFENCE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2350008"/>
          </a:xfrm>
          <a:prstGeom prst="rect">
            <a:avLst/>
          </a:prstGeom>
          <a:solidFill>
            <a:srgbClr val="F2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 point prediction "Mission takes 18.4 hours"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is operationally incomplete without uncertainty.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Commanderneeds: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"18.4 hours ± what?"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"What is the 90% upper confidence bound?"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"Should I plan for 22 hours just in case?"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UNCERTAINTY TYPES: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Aleatoric (irreducible noise):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Random enemy behaviour, weather variability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Cannot be reduced by more data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Captured by σ²_noise in Bayesian models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Epistemic (model uncertainty):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Model doesn't know what it doesn't know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Arises in regions of sparse training data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Reducible with more data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Captured by Bayesian posterior variance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OLS PREDICTION INTERVAL (frequentist):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ŷ_new ± t_{N-d-1,α/2} · ŝ √(1 + x^T(X^TX)⁻¹x)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95% PI for new x_new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Wider in sparse feature regions (important!)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3657600"/>
            <a:ext cx="3632728" cy="475488"/>
          </a:xfrm>
          <a:prstGeom prst="rect">
            <a:avLst/>
          </a:prstGeom>
          <a:solidFill>
            <a:srgbClr val="EFF4FF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703320"/>
            <a:ext cx="3449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039112" y="4197096"/>
            <a:ext cx="3632728" cy="502920"/>
          </a:xfrm>
          <a:prstGeom prst="rect">
            <a:avLst/>
          </a:prstGeom>
          <a:solidFill>
            <a:srgbClr val="E0F0FF"/>
          </a:solidFill>
          <a:ln w="12700">
            <a:solidFill>
              <a:srgbClr val="5B9BD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2103120" y="4251960"/>
            <a:ext cx="3504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RF PREDICTION INTERVAL (practical):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Use variance across B=500 tree predictions: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ŷ_mean = (1/B)Σ T_b(x)    [point estimate]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σ²_pred = (1/B)Σ(T_b(x) − ŷ_mean)²   [variance]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90% PI: ŷ_mean ± 1.645·σ_pred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Case A: avg PI width = ±3.8 hrs for XGBoost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BAYESIAN REGRESSION (Ridge=Gaussian Prior)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799856" y="1243584"/>
            <a:ext cx="3225272" cy="3182112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5873008" y="1271016"/>
            <a:ext cx="30789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BAYESIAN INTERPRETATION OF RIDGE: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Prior on weights: w ~ N(0, σ²/λ · I)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(Ridge = MAP estimate with Gaussian prior)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Full Bayesian posterior: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P(w|X,y) ∝ N(w; w_Ridge, σ²(X^TX+λI)⁻¹)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Predictive distribution over new y: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P(y_new|x_new,X,y) = N(μ_pred, σ²_pred)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CASE A BAYESIAN RESULTS: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95% CI width (avg): ±6.1 hrs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90% CI coverage: 89.4% ✓ (well-calibrated!)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In sparse regions (unusual terrain combos):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CI width expands to ±12+ hrs → model is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HONEST about its ignorance in rare situations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🎖 DEFENCE VALUE: "I predict 18.4 hrs but only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with ±12 hr uncertainty for this mountain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jungle mission" is MORE useful than blindly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reporting 18.4 hrs with false precision.</a:t>
            </a:r>
            <a:endParaRPr lang="en-US" sz="880" dirty="0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3739896"/>
            <a:ext cx="3376696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Kalman Filter — Optimal State Estimation for Noisy Sensors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Classification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Linear Regression (OLS)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Ridge Regression (L2)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Lasso Regression (L1)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Elastic Net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Support Vector Regression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 Reg.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Regression Metrics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Feature Engineering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Prediction Uncertainty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Bayesian Regression</a:t>
            </a:r>
            <a:endParaRPr lang="en-US" sz="590" dirty="0"/>
          </a:p>
        </p:txBody>
      </p:sp>
      <p:sp>
        <p:nvSpPr>
          <p:cNvPr id="20" name="Shape 18"/>
          <p:cNvSpPr/>
          <p:nvPr/>
        </p:nvSpPr>
        <p:spPr>
          <a:xfrm>
            <a:off x="27432" y="3602431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12. Kalman Filter Basics</a:t>
            </a:r>
            <a:endParaRPr lang="en-US" sz="68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Multi-sensor Fusion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ML-enhanced Fusion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Kalman Filter: Predict, Measure, Fuse — Recursively &amp; Optimally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THE KALMAN FILTER MODEL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2697480"/>
          </a:xfrm>
          <a:prstGeom prst="rect">
            <a:avLst/>
          </a:prstGeom>
          <a:solidFill>
            <a:srgbClr val="F2F8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STATE SPACE MODEL: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State transition: x_k = F·x_{k-1} + B·u_k + w_k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x_k: state vector (position, velocity, heading)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F: state transition matrix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B·u_k: control input (known manoeuvres)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w_k ~ N(0, Q): process noise (model error)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Measurement model: z_k = H·x_k + v_k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z_k: sensor measurement (radar return)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H: measurement matrix (maps state → observed)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v_k ~ N(0, R): measurement noise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TWO-STEP CYCLE: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PREDICT (propagate forward in time):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x̂_k⁻ = F·x̂_{k-1}⁺         [predicted state]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P_k⁻  = F·P_{k-1}⁺·F^T + Q  [predicted covariance]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UPDATE (incorporate new measurement):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K_k = P_k⁻·H^T(H·P_k⁻·H^T + R)⁻¹  [Kalman Gain]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x̂_k⁺ = x̂_k⁻ + K_k(z_k − H·x̂_k⁻)  [corrected state]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P_k⁺  = (I − K_k·H)·P_k⁻             [updated covariance]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Innovation: ν_k = z_k − H·x̂_k⁻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4005072"/>
            <a:ext cx="3632728" cy="402336"/>
          </a:xfrm>
          <a:prstGeom prst="rect">
            <a:avLst/>
          </a:prstGeom>
          <a:solidFill>
            <a:srgbClr val="EFF4FF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4050792"/>
            <a:ext cx="344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KALMAN GAIN INTUITION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99856" y="1243584"/>
            <a:ext cx="3225272" cy="3182112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873008" y="1271016"/>
            <a:ext cx="30789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K_k = P⁻H^T (HP⁻H^T + R)⁻¹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INTERPRETATION: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K_k → 0 when R &gt;&gt; P⁻H^TH: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Sensor noise &gt; prediction uncertainty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Trust the PREDICTION more, ignore measurement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K_k → H⁻¹ when R &lt;&lt; P⁻H^TH: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Sensor noise &lt;&lt; prediction uncertainty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Trust the MEASUREMENT, override prediction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3-SENSOR CASE B SETUP: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State: x = [X, Y, Ẋ, Ẏ]^T (position + velocity)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for each of 5 targets tracked simultaneously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Radar R = diag(50², 0.5², 10²)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(range±50m, bearing±0.5°, speed±10km/h)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IR sensor R = diag(0.8², 1.2²)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(bearing±0.8°, elev±1.2°)  [angle-only]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ELINT R = diag(0.1², 0.2², 5²)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(freq±0.1GHz, PRF±0.2kHz, bearing±5°)</a:t>
            </a:r>
            <a:endParaRPr lang="en-US" sz="880" dirty="0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4087368"/>
            <a:ext cx="3376696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Multi-Sensor Fusion — Architecture Choices &amp; Trade-offs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Classification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Linear Regression (OLS)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Ridge Regression (L2)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Lasso Regression (L1)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Elastic Net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Support Vector Regression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 Reg.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Regression Metrics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Feature Engineering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Prediction Uncertainty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Bayesian Regression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Kalman Filter Basics</a:t>
            </a:r>
            <a:endParaRPr lang="en-US" sz="590" dirty="0"/>
          </a:p>
        </p:txBody>
      </p:sp>
      <p:sp>
        <p:nvSpPr>
          <p:cNvPr id="21" name="Shape 19"/>
          <p:cNvSpPr/>
          <p:nvPr/>
        </p:nvSpPr>
        <p:spPr>
          <a:xfrm>
            <a:off x="27432" y="3855110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13. Multi-sensor Fusion</a:t>
            </a:r>
            <a:endParaRPr lang="en-US" sz="68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ML-enhanced Fusion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Sensor Fusion Architectures: Early, Late &amp; Hybrid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2286000" cy="27432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39112" y="1014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EARLY FUSION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(Feature-level)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325880"/>
            <a:ext cx="228600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03120" y="1380744"/>
            <a:ext cx="215798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Concatenate all sensor features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before feeding to ML model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Input: [radar_feats | IR_feats | ELINT_feats]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Single model processes joint input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✅ Learns cross-sensor correlations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✅ One model to train &amp; deploy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✗ Fails when sensors have missing data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✗ Sensitive to different sampling rates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✗ High-dim input → needs more data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Case B Result: Acc = 91.4%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4389120" y="1014984"/>
            <a:ext cx="2286000" cy="274320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4389120" y="1014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LATE FUSION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(Decision-level)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389120" y="1325880"/>
            <a:ext cx="228600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4453128" y="1380744"/>
            <a:ext cx="215798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Each sensor has its OWN model.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Fuse final predictions by voting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or weighted average.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Input: Radar pred + IR pred + ELINT pred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Fusion: max prob, weighted vote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✅ Robust to sensor failure (omit)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✅ Different model types per sensor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✅ Easy to add/remove sensors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✗ Loses cross-sensor correlations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✗ Each sub-model needs full labels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Case B Result: Acc = 89.7%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6739128" y="1014984"/>
            <a:ext cx="2286000" cy="27432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6739128" y="1014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HYBRID FUSION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(ML-enhanced KF)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739128" y="1325880"/>
            <a:ext cx="228600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6803136" y="1380744"/>
            <a:ext cx="215798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Kalman Filter handles timing &amp;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physics; ML corrects systematic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bias in Kalman residuals.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Step 1: KF prediction + update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Step 2: ML model predicts correction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       δx = g(ν_k, feat_k; θ)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Step 3: Apply: x̂_final = x̂_KF + δx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✅ Physics-grounded (KF backbone)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✅ Data-driven bias correction (ML)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✅ Interpretable + handles rare events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✅ BEST overall performance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Case B Result: Acc = 96.2%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2039112" y="3941064"/>
            <a:ext cx="6986016" cy="512064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2103120" y="3995928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⭐ RECOMMENDED ARCHITECTURE FOR IADS SENSOR FUSION: Hybrid (ML-enhanced Kalman Filter). The KF handles the physics (kinematic tracking, time extrapolation) while the ML corrects non-Gaussian noise patterns and cross-sensor biases. This has a long pedigree in missile guidance and is now standard in modern IADS track management systems.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2039112" y="4517136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A7A8A"/>
                </a:solidFill>
              </a:rPr>
              <a:t>Standard Kalman Filter assumes: linear dynamics, Gaussian noise. Both violated in combat (evasive manoeuvres, jamming spikes). ML corrects both.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ML-enhanced Sensor Fusion — Case Study B: 3-Sensor IADS Tracking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Classification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Linear Regression (OLS)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Ridge Regression (L2)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Lasso Regression (L1)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Elastic Net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Support Vector Regression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 Reg.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Regression Metrics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Feature Engineering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Prediction Uncertainty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Bayesian Regression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Kalman Filter Basics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Multi-sensor Fusion</a:t>
            </a:r>
            <a:endParaRPr lang="en-US" sz="590" dirty="0"/>
          </a:p>
        </p:txBody>
      </p:sp>
      <p:sp>
        <p:nvSpPr>
          <p:cNvPr id="22" name="Shape 20"/>
          <p:cNvSpPr/>
          <p:nvPr/>
        </p:nvSpPr>
        <p:spPr>
          <a:xfrm>
            <a:off x="27432" y="4107790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14. ML-enhanced Fusion</a:t>
            </a:r>
            <a:endParaRPr lang="en-US" sz="68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Case Study B: Radar + IR + ELINT Fusion for 5-Target Tracking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EXPERIMENT SETUP &amp; RESULTS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Scenario: 5 simultaneous airborne targets in 10-min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engagement window. 10 independent simulation runs.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Target assignment accuracy (correct target-to-track):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Method                    Accuracy   Latency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────────────────────────────────────────────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Radar alone               78.4%      0.3 ms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IR alone                  64.2%      0.2 ms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ELINT alone               71.8%      0.1 ms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────────────────────────────────────────────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Kalman (radar only)       83.6%      0.5 ms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Kalman (all 3 sensors)    89.7%      1.2 ms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────────────────────────────────────────────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Early Fusion (DNN)        91.4%      3.8 ms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Late Fusion (vote)        89.7%      4.1 ms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Hybrid KF + RF bias corr. 96.2%      2.3 ms ← best!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────────────────────────────────────────────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IR missing 20% of time (cloud cover):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KF (all 3):  accuracy drops from 89.7% → 82.1%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  Hybrid KF+RF: drops from 96.2% → 94.8% (robust!)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2039112" y="4325112"/>
            <a:ext cx="3438144" cy="329184"/>
          </a:xfrm>
          <a:prstGeom prst="rect">
            <a:avLst/>
          </a:prstGeom>
          <a:solidFill>
            <a:srgbClr val="EFF4FF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4370832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Hybrid: x̂_final = x̂_KF + RF_correction(ν_k, sensor_context)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HOW THE HYBRID MODEL WORKS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586984" y="1243584"/>
            <a:ext cx="3438144" cy="3182112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660136" y="1271016"/>
            <a:ext cx="329184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Step 1 — Kalman Filter Update: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Run standard 3-sensor KF (all available sensors)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Get: x̂_KF, P_KF, innovation ν_k for each target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Step 2 — Residual Feature Vector: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Build feature vector f_k =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ν_k (innovation vector),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||ν_k||² (innovation magnitude),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S_k = HP_k⁻H^T+R (innovation covariance),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Δt_k (time since each sensor last updated),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sensor_availability (which sensors are online)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Step 3 — Random Forest Bias Corrector: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δx_k = RF(f_k; θ)  [predicts systematic error]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Trained on: (f_k, true_x_k − x̂_KF_k) pairs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Step 4 — Apply Correction: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x̂_final = x̂_KF + δx_k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WHY RESIDUALS AS FEATURES?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Innovation ν_k = z_k − Hx̂_k⁻ encodes: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• How much reality differs from KF prediction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• Sensor-specific bias patterns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• Manoeuvre signatures the KF missed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RF learns systematic non-Gaussian patterns in ν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Handling Missing Data in Sensor Fusion Systems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Classification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Linear Regression (OLS)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Ridge Regression (L2)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Lasso Regression (L1)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Elastic Net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Support Vector Regression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 Reg.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Regression Metrics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Feature Engineering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Prediction Uncertainty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Bayesian Regression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Kalman Filter Basics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Multi-sensor Fusion</a:t>
            </a:r>
            <a:endParaRPr lang="en-US" sz="590" dirty="0"/>
          </a:p>
        </p:txBody>
      </p:sp>
      <p:sp>
        <p:nvSpPr>
          <p:cNvPr id="22" name="Shape 20"/>
          <p:cNvSpPr/>
          <p:nvPr/>
        </p:nvSpPr>
        <p:spPr>
          <a:xfrm>
            <a:off x="27432" y="4107790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14. ML-enhanced Fusion</a:t>
            </a:r>
            <a:endParaRPr lang="en-US" sz="68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Missing Sensors, Dropped Packets &amp; Out-of-Sequence Measurements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E05218"/>
          </a:solidFill>
          <a:ln w="12700">
            <a:solidFill>
              <a:srgbClr val="E0521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WHY SENSORS GO MISSING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2075688"/>
          </a:xfrm>
          <a:prstGeom prst="rect">
            <a:avLst/>
          </a:prstGeom>
          <a:solidFill>
            <a:srgbClr val="FFF8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In Case B, IR sensor is blocked 20% of the time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by cloud cover. This is not unusual in real ops: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Radar: blocked by terrain (dead zones), active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jamming (30–80% data loss), atmospheric ducting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IR: clouds, precipitation, background clutter,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platform vibration (15–40% data degradation)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ELINT: enemy EMCON (electronic silence),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low-probability-of-intercept emissions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OUT-OF-SEQUENCE MEASUREMENTS: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Multi-sensor systems often receive measurements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with variable delays (comms latency).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Radar update arrives 0.3s AFTER it was taken.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Naïve Kalman: processes in arrival order → error!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OUT-OF-SEQUENCE SOLUTION (OOSM):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RETRO-CORRECT the state by rolling back KF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to the measurement time, applying it, then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re-propagating forward. Adds processing cost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but critical for multi-sensor track coherence.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MISSING DATA STRATEGIES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172821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41848" y="1271016"/>
            <a:ext cx="332841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① Mean/Median Imputation: Fill with historical mean. Simple but ignores temporal correlation. Accuracy impact: −2.1%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② Last Obs. Carried Forward: Use previous measurement. Good for slow targets. Impact: −1.4%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③ KF Prediction as Imputation: Predict missing value from KF state. Best physics approach. Impact: −0.8%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④ ML Cross-Sensor Imputation: Train RF to predict IR from Radar+ELINT. Leverages cross-sensor correlation. Impact: −0.3% ← best!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039112" y="3383280"/>
            <a:ext cx="6986016" cy="502920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103120" y="343814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DATA PITFALL: Naïve imputation can CORRUPT sensor fusion by introducing false precision. A filled-in IR bearing looks as certain as a real measurement — the KF assigns it the same noise variance R. Always track imputation flags and inflate R for imputed measurements.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039112" y="3950208"/>
            <a:ext cx="3438144" cy="228600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2093976" y="3950208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EXTENDED KALMAN FILTER (EKF)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039112" y="4178808"/>
            <a:ext cx="343814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2112264" y="420624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Standard KF: linear dynamics only.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EKF handles NON-LINEAR dynamics: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Linearise f(x) around current estimate: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F_k = ∂f/∂x |_{x=x̂_{k-1}}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Replace F with Jacobian F_k at each step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Applicable to aircraft evasive manoeuvres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5586984" y="3950208"/>
            <a:ext cx="3438144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5641848" y="3950208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UNSCENTED KALMAN FILTER (UKF)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586984" y="4178808"/>
            <a:ext cx="3438144" cy="484632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Text 46"/>
          <p:cNvSpPr txBox="1"/>
          <p:nvPr/>
        </p:nvSpPr>
        <p:spPr>
          <a:xfrm>
            <a:off x="5660136" y="420624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EKF linearises (introduces truncation error).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UKF uses SIGMA POINTS: propagate a small set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of carefully chosen sample points through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the nonlinear function exactly — no Jacobian!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Better than EKF for highly non-linear dynamics.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Used in: hypersonic target tracking, UAV swarms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Lecture 3 — Unified Results: Regression &amp; Sensor Fusion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Classification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Linear Regression (OLS)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Ridge Regression (L2)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Lasso Regression (L1)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Elastic Net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Support Vector Regression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 Reg.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Regression Metrics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Feature Engineering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Prediction Uncertainty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Bayesian Regression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Kalman Filter Basics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Multi-sensor Fusion</a:t>
            </a:r>
            <a:endParaRPr lang="en-US" sz="590" dirty="0"/>
          </a:p>
        </p:txBody>
      </p:sp>
      <p:sp>
        <p:nvSpPr>
          <p:cNvPr id="22" name="Shape 20"/>
          <p:cNvSpPr/>
          <p:nvPr/>
        </p:nvSpPr>
        <p:spPr>
          <a:xfrm>
            <a:off x="27432" y="4107790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14. ML-enhanced Fusion</a:t>
            </a:r>
            <a:endParaRPr lang="en-US" sz="68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All Results Side-by-Side: Case A (Regression) &amp; Case B (Fusion)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Text 29"/>
          <p:cNvSpPr txBox="1"/>
          <p:nvPr/>
        </p:nvSpPr>
        <p:spPr>
          <a:xfrm>
            <a:off x="2039112" y="1014984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3A5E"/>
                </a:solidFill>
              </a:rPr>
              <a:t>CASE A — Mission Duration Regression (N=6,200, 18 features)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039112" y="1216152"/>
            <a:ext cx="6986016" cy="20116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3" name="Text 31"/>
          <p:cNvSpPr txBox="1"/>
          <p:nvPr/>
        </p:nvSpPr>
        <p:spPr>
          <a:xfrm>
            <a:off x="2039112" y="12161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Model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3502152" y="1216152"/>
            <a:ext cx="694944" cy="20116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Test R²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4197096" y="1216152"/>
            <a:ext cx="749808" cy="20116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RMSE (hrs)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4946904" y="1216152"/>
            <a:ext cx="749808" cy="20116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MAE (hrs)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5696712" y="1216152"/>
            <a:ext cx="658368" cy="20116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Train (s)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6355080" y="1216152"/>
            <a:ext cx="1042416" cy="20116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Features Used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039112" y="1417320"/>
            <a:ext cx="6986016" cy="292608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039112" y="1417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OLS (unregularised)</a:t>
            </a:r>
            <a:endParaRPr lang="en-US" sz="820" dirty="0"/>
          </a:p>
        </p:txBody>
      </p:sp>
      <p:sp>
        <p:nvSpPr>
          <p:cNvPr id="41" name="Text 39"/>
          <p:cNvSpPr txBox="1"/>
          <p:nvPr/>
        </p:nvSpPr>
        <p:spPr>
          <a:xfrm>
            <a:off x="3502152" y="1417320"/>
            <a:ext cx="694944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0.710</a:t>
            </a:r>
            <a:endParaRPr lang="en-US" sz="820" dirty="0"/>
          </a:p>
        </p:txBody>
      </p:sp>
      <p:sp>
        <p:nvSpPr>
          <p:cNvPr id="42" name="Text 40"/>
          <p:cNvSpPr txBox="1"/>
          <p:nvPr/>
        </p:nvSpPr>
        <p:spPr>
          <a:xfrm>
            <a:off x="4197096" y="1417320"/>
            <a:ext cx="749808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4.22</a:t>
            </a:r>
            <a:endParaRPr lang="en-US" sz="820" dirty="0"/>
          </a:p>
        </p:txBody>
      </p:sp>
      <p:sp>
        <p:nvSpPr>
          <p:cNvPr id="43" name="Text 41"/>
          <p:cNvSpPr txBox="1"/>
          <p:nvPr/>
        </p:nvSpPr>
        <p:spPr>
          <a:xfrm>
            <a:off x="4946904" y="1417320"/>
            <a:ext cx="749808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3.12</a:t>
            </a:r>
            <a:endParaRPr lang="en-US" sz="820" dirty="0"/>
          </a:p>
        </p:txBody>
      </p:sp>
      <p:sp>
        <p:nvSpPr>
          <p:cNvPr id="44" name="Text 42"/>
          <p:cNvSpPr txBox="1"/>
          <p:nvPr/>
        </p:nvSpPr>
        <p:spPr>
          <a:xfrm>
            <a:off x="5696712" y="1417320"/>
            <a:ext cx="658368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0.06</a:t>
            </a:r>
            <a:endParaRPr lang="en-US" sz="820" dirty="0"/>
          </a:p>
        </p:txBody>
      </p:sp>
      <p:sp>
        <p:nvSpPr>
          <p:cNvPr id="45" name="Text 43"/>
          <p:cNvSpPr txBox="1"/>
          <p:nvPr/>
        </p:nvSpPr>
        <p:spPr>
          <a:xfrm>
            <a:off x="6355080" y="1417320"/>
            <a:ext cx="1042416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18/18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2039112" y="1709928"/>
            <a:ext cx="698601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7" name="Text 45"/>
          <p:cNvSpPr txBox="1"/>
          <p:nvPr/>
        </p:nvSpPr>
        <p:spPr>
          <a:xfrm>
            <a:off x="2039112" y="17099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Ridge Regression</a:t>
            </a:r>
            <a:endParaRPr lang="en-US" sz="820" dirty="0"/>
          </a:p>
        </p:txBody>
      </p:sp>
      <p:sp>
        <p:nvSpPr>
          <p:cNvPr id="48" name="Text 46"/>
          <p:cNvSpPr txBox="1"/>
          <p:nvPr/>
        </p:nvSpPr>
        <p:spPr>
          <a:xfrm>
            <a:off x="3502152" y="1709928"/>
            <a:ext cx="694944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0.738</a:t>
            </a:r>
            <a:endParaRPr lang="en-US" sz="820" dirty="0"/>
          </a:p>
        </p:txBody>
      </p:sp>
      <p:sp>
        <p:nvSpPr>
          <p:cNvPr id="49" name="Text 47"/>
          <p:cNvSpPr txBox="1"/>
          <p:nvPr/>
        </p:nvSpPr>
        <p:spPr>
          <a:xfrm>
            <a:off x="4197096" y="1709928"/>
            <a:ext cx="749808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3.91</a:t>
            </a:r>
            <a:endParaRPr lang="en-US" sz="820" dirty="0"/>
          </a:p>
        </p:txBody>
      </p:sp>
      <p:sp>
        <p:nvSpPr>
          <p:cNvPr id="50" name="Text 48"/>
          <p:cNvSpPr txBox="1"/>
          <p:nvPr/>
        </p:nvSpPr>
        <p:spPr>
          <a:xfrm>
            <a:off x="4946904" y="1709928"/>
            <a:ext cx="749808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2.88</a:t>
            </a:r>
            <a:endParaRPr lang="en-US" sz="820" dirty="0"/>
          </a:p>
        </p:txBody>
      </p:sp>
      <p:sp>
        <p:nvSpPr>
          <p:cNvPr id="51" name="Text 49"/>
          <p:cNvSpPr txBox="1"/>
          <p:nvPr/>
        </p:nvSpPr>
        <p:spPr>
          <a:xfrm>
            <a:off x="5696712" y="1709928"/>
            <a:ext cx="658368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0.07</a:t>
            </a:r>
            <a:endParaRPr lang="en-US" sz="820" dirty="0"/>
          </a:p>
        </p:txBody>
      </p:sp>
      <p:sp>
        <p:nvSpPr>
          <p:cNvPr id="52" name="Text 50"/>
          <p:cNvSpPr txBox="1"/>
          <p:nvPr/>
        </p:nvSpPr>
        <p:spPr>
          <a:xfrm>
            <a:off x="6355080" y="1709928"/>
            <a:ext cx="1042416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18/18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2039112" y="2002536"/>
            <a:ext cx="6986016" cy="292608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4" name="Text 52"/>
          <p:cNvSpPr txBox="1"/>
          <p:nvPr/>
        </p:nvSpPr>
        <p:spPr>
          <a:xfrm>
            <a:off x="2039112" y="20025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Lasso Regression</a:t>
            </a:r>
            <a:endParaRPr lang="en-US" sz="820" dirty="0"/>
          </a:p>
        </p:txBody>
      </p:sp>
      <p:sp>
        <p:nvSpPr>
          <p:cNvPr id="55" name="Text 53"/>
          <p:cNvSpPr txBox="1"/>
          <p:nvPr/>
        </p:nvSpPr>
        <p:spPr>
          <a:xfrm>
            <a:off x="3502152" y="2002536"/>
            <a:ext cx="694944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0.728</a:t>
            </a:r>
            <a:endParaRPr lang="en-US" sz="820" dirty="0"/>
          </a:p>
        </p:txBody>
      </p:sp>
      <p:sp>
        <p:nvSpPr>
          <p:cNvPr id="56" name="Text 54"/>
          <p:cNvSpPr txBox="1"/>
          <p:nvPr/>
        </p:nvSpPr>
        <p:spPr>
          <a:xfrm>
            <a:off x="4197096" y="2002536"/>
            <a:ext cx="749808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4.02</a:t>
            </a:r>
            <a:endParaRPr lang="en-US" sz="820" dirty="0"/>
          </a:p>
        </p:txBody>
      </p:sp>
      <p:sp>
        <p:nvSpPr>
          <p:cNvPr id="57" name="Text 55"/>
          <p:cNvSpPr txBox="1"/>
          <p:nvPr/>
        </p:nvSpPr>
        <p:spPr>
          <a:xfrm>
            <a:off x="4946904" y="2002536"/>
            <a:ext cx="749808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2.94</a:t>
            </a:r>
            <a:endParaRPr lang="en-US" sz="820" dirty="0"/>
          </a:p>
        </p:txBody>
      </p:sp>
      <p:sp>
        <p:nvSpPr>
          <p:cNvPr id="58" name="Text 56"/>
          <p:cNvSpPr txBox="1"/>
          <p:nvPr/>
        </p:nvSpPr>
        <p:spPr>
          <a:xfrm>
            <a:off x="5696712" y="2002536"/>
            <a:ext cx="658368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0.14</a:t>
            </a:r>
            <a:endParaRPr lang="en-US" sz="820" dirty="0"/>
          </a:p>
        </p:txBody>
      </p:sp>
      <p:sp>
        <p:nvSpPr>
          <p:cNvPr id="59" name="Text 57"/>
          <p:cNvSpPr txBox="1"/>
          <p:nvPr/>
        </p:nvSpPr>
        <p:spPr>
          <a:xfrm>
            <a:off x="6355080" y="2002536"/>
            <a:ext cx="1042416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12/18</a:t>
            </a:r>
            <a:endParaRPr lang="en-US" sz="820" dirty="0"/>
          </a:p>
        </p:txBody>
      </p:sp>
      <p:sp>
        <p:nvSpPr>
          <p:cNvPr id="60" name="Shape 58"/>
          <p:cNvSpPr/>
          <p:nvPr/>
        </p:nvSpPr>
        <p:spPr>
          <a:xfrm>
            <a:off x="2039112" y="2295144"/>
            <a:ext cx="698601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1" name="Text 59"/>
          <p:cNvSpPr txBox="1"/>
          <p:nvPr/>
        </p:nvSpPr>
        <p:spPr>
          <a:xfrm>
            <a:off x="2039112" y="22951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Elastic Net</a:t>
            </a:r>
            <a:endParaRPr lang="en-US" sz="820" dirty="0"/>
          </a:p>
        </p:txBody>
      </p:sp>
      <p:sp>
        <p:nvSpPr>
          <p:cNvPr id="62" name="Text 60"/>
          <p:cNvSpPr txBox="1"/>
          <p:nvPr/>
        </p:nvSpPr>
        <p:spPr>
          <a:xfrm>
            <a:off x="3502152" y="2295144"/>
            <a:ext cx="694944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0.741</a:t>
            </a:r>
            <a:endParaRPr lang="en-US" sz="820" dirty="0"/>
          </a:p>
        </p:txBody>
      </p:sp>
      <p:sp>
        <p:nvSpPr>
          <p:cNvPr id="63" name="Text 61"/>
          <p:cNvSpPr txBox="1"/>
          <p:nvPr/>
        </p:nvSpPr>
        <p:spPr>
          <a:xfrm>
            <a:off x="4197096" y="2295144"/>
            <a:ext cx="749808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3.88</a:t>
            </a:r>
            <a:endParaRPr lang="en-US" sz="820" dirty="0"/>
          </a:p>
        </p:txBody>
      </p:sp>
      <p:sp>
        <p:nvSpPr>
          <p:cNvPr id="64" name="Text 62"/>
          <p:cNvSpPr txBox="1"/>
          <p:nvPr/>
        </p:nvSpPr>
        <p:spPr>
          <a:xfrm>
            <a:off x="4946904" y="2295144"/>
            <a:ext cx="749808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2.81</a:t>
            </a:r>
            <a:endParaRPr lang="en-US" sz="820" dirty="0"/>
          </a:p>
        </p:txBody>
      </p:sp>
      <p:sp>
        <p:nvSpPr>
          <p:cNvPr id="65" name="Text 63"/>
          <p:cNvSpPr txBox="1"/>
          <p:nvPr/>
        </p:nvSpPr>
        <p:spPr>
          <a:xfrm>
            <a:off x="5696712" y="2295144"/>
            <a:ext cx="658368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0.18</a:t>
            </a:r>
            <a:endParaRPr lang="en-US" sz="820" dirty="0"/>
          </a:p>
        </p:txBody>
      </p:sp>
      <p:sp>
        <p:nvSpPr>
          <p:cNvPr id="66" name="Text 64"/>
          <p:cNvSpPr txBox="1"/>
          <p:nvPr/>
        </p:nvSpPr>
        <p:spPr>
          <a:xfrm>
            <a:off x="6355080" y="2295144"/>
            <a:ext cx="1042416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10/18</a:t>
            </a:r>
            <a:endParaRPr lang="en-US" sz="820" dirty="0"/>
          </a:p>
        </p:txBody>
      </p:sp>
      <p:sp>
        <p:nvSpPr>
          <p:cNvPr id="67" name="Shape 65"/>
          <p:cNvSpPr/>
          <p:nvPr/>
        </p:nvSpPr>
        <p:spPr>
          <a:xfrm>
            <a:off x="2039112" y="2587752"/>
            <a:ext cx="6986016" cy="292608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8" name="Text 66"/>
          <p:cNvSpPr txBox="1"/>
          <p:nvPr/>
        </p:nvSpPr>
        <p:spPr>
          <a:xfrm>
            <a:off x="2039112" y="25877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SVR (RBF kernel)</a:t>
            </a:r>
            <a:endParaRPr lang="en-US" sz="820" dirty="0"/>
          </a:p>
        </p:txBody>
      </p:sp>
      <p:sp>
        <p:nvSpPr>
          <p:cNvPr id="69" name="Text 67"/>
          <p:cNvSpPr txBox="1"/>
          <p:nvPr/>
        </p:nvSpPr>
        <p:spPr>
          <a:xfrm>
            <a:off x="3502152" y="2587752"/>
            <a:ext cx="694944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0.812</a:t>
            </a:r>
            <a:endParaRPr lang="en-US" sz="820" dirty="0"/>
          </a:p>
        </p:txBody>
      </p:sp>
      <p:sp>
        <p:nvSpPr>
          <p:cNvPr id="70" name="Text 68"/>
          <p:cNvSpPr txBox="1"/>
          <p:nvPr/>
        </p:nvSpPr>
        <p:spPr>
          <a:xfrm>
            <a:off x="4197096" y="2587752"/>
            <a:ext cx="749808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3.24</a:t>
            </a:r>
            <a:endParaRPr lang="en-US" sz="820" dirty="0"/>
          </a:p>
        </p:txBody>
      </p:sp>
      <p:sp>
        <p:nvSpPr>
          <p:cNvPr id="71" name="Text 69"/>
          <p:cNvSpPr txBox="1"/>
          <p:nvPr/>
        </p:nvSpPr>
        <p:spPr>
          <a:xfrm>
            <a:off x="4946904" y="2587752"/>
            <a:ext cx="749808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2.37</a:t>
            </a:r>
            <a:endParaRPr lang="en-US" sz="820" dirty="0"/>
          </a:p>
        </p:txBody>
      </p:sp>
      <p:sp>
        <p:nvSpPr>
          <p:cNvPr id="72" name="Text 70"/>
          <p:cNvSpPr txBox="1"/>
          <p:nvPr/>
        </p:nvSpPr>
        <p:spPr>
          <a:xfrm>
            <a:off x="5696712" y="2587752"/>
            <a:ext cx="658368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4.8</a:t>
            </a:r>
            <a:endParaRPr lang="en-US" sz="820" dirty="0"/>
          </a:p>
        </p:txBody>
      </p:sp>
      <p:sp>
        <p:nvSpPr>
          <p:cNvPr id="73" name="Text 71"/>
          <p:cNvSpPr txBox="1"/>
          <p:nvPr/>
        </p:nvSpPr>
        <p:spPr>
          <a:xfrm>
            <a:off x="6355080" y="2587752"/>
            <a:ext cx="1042416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18/18</a:t>
            </a:r>
            <a:endParaRPr lang="en-US" sz="820" dirty="0"/>
          </a:p>
        </p:txBody>
      </p:sp>
      <p:sp>
        <p:nvSpPr>
          <p:cNvPr id="74" name="Shape 72"/>
          <p:cNvSpPr/>
          <p:nvPr/>
        </p:nvSpPr>
        <p:spPr>
          <a:xfrm>
            <a:off x="2039112" y="2880360"/>
            <a:ext cx="6986016" cy="292608"/>
          </a:xfrm>
          <a:prstGeom prst="rect">
            <a:avLst/>
          </a:prstGeom>
          <a:solidFill>
            <a:srgbClr val="E0F4E0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5" name="Text 73"/>
          <p:cNvSpPr txBox="1"/>
          <p:nvPr/>
        </p:nvSpPr>
        <p:spPr>
          <a:xfrm>
            <a:off x="2039112" y="2880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E7A45"/>
                </a:solidFill>
              </a:rPr>
              <a:t>XGBRegressor</a:t>
            </a:r>
            <a:endParaRPr lang="en-US" sz="820" dirty="0"/>
          </a:p>
        </p:txBody>
      </p:sp>
      <p:sp>
        <p:nvSpPr>
          <p:cNvPr id="76" name="Text 74"/>
          <p:cNvSpPr txBox="1"/>
          <p:nvPr/>
        </p:nvSpPr>
        <p:spPr>
          <a:xfrm>
            <a:off x="3502152" y="2880360"/>
            <a:ext cx="694944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E7A45"/>
                </a:solidFill>
              </a:rPr>
              <a:t>0.912</a:t>
            </a:r>
            <a:endParaRPr lang="en-US" sz="820" dirty="0"/>
          </a:p>
        </p:txBody>
      </p:sp>
      <p:sp>
        <p:nvSpPr>
          <p:cNvPr id="77" name="Text 75"/>
          <p:cNvSpPr txBox="1"/>
          <p:nvPr/>
        </p:nvSpPr>
        <p:spPr>
          <a:xfrm>
            <a:off x="4197096" y="2880360"/>
            <a:ext cx="749808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E7A45"/>
                </a:solidFill>
              </a:rPr>
              <a:t>2.06</a:t>
            </a:r>
            <a:endParaRPr lang="en-US" sz="820" dirty="0"/>
          </a:p>
        </p:txBody>
      </p:sp>
      <p:sp>
        <p:nvSpPr>
          <p:cNvPr id="78" name="Text 76"/>
          <p:cNvSpPr txBox="1"/>
          <p:nvPr/>
        </p:nvSpPr>
        <p:spPr>
          <a:xfrm>
            <a:off x="4946904" y="2880360"/>
            <a:ext cx="749808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E7A45"/>
                </a:solidFill>
              </a:rPr>
              <a:t>1.54</a:t>
            </a:r>
            <a:endParaRPr lang="en-US" sz="820" dirty="0"/>
          </a:p>
        </p:txBody>
      </p:sp>
      <p:sp>
        <p:nvSpPr>
          <p:cNvPr id="79" name="Text 77"/>
          <p:cNvSpPr txBox="1"/>
          <p:nvPr/>
        </p:nvSpPr>
        <p:spPr>
          <a:xfrm>
            <a:off x="5696712" y="2880360"/>
            <a:ext cx="658368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E7A45"/>
                </a:solidFill>
              </a:rPr>
              <a:t>22.4</a:t>
            </a:r>
            <a:endParaRPr lang="en-US" sz="820" dirty="0"/>
          </a:p>
        </p:txBody>
      </p:sp>
      <p:sp>
        <p:nvSpPr>
          <p:cNvPr id="80" name="Text 78"/>
          <p:cNvSpPr txBox="1"/>
          <p:nvPr/>
        </p:nvSpPr>
        <p:spPr>
          <a:xfrm>
            <a:off x="6355080" y="2880360"/>
            <a:ext cx="1042416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E7A45"/>
                </a:solidFill>
              </a:rPr>
              <a:t>18/18</a:t>
            </a:r>
            <a:endParaRPr lang="en-US" sz="820" dirty="0"/>
          </a:p>
        </p:txBody>
      </p:sp>
      <p:sp>
        <p:nvSpPr>
          <p:cNvPr id="81" name="Text 79"/>
          <p:cNvSpPr txBox="1"/>
          <p:nvPr/>
        </p:nvSpPr>
        <p:spPr>
          <a:xfrm>
            <a:off x="2039112" y="3264408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3A5E"/>
                </a:solidFill>
              </a:rPr>
              <a:t>CASE B — 3-Sensor Fusion (Radar + IR + ELINT, 5 targets, 10 runs)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2039112" y="3465576"/>
            <a:ext cx="6986016" cy="20116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3" name="Text 81"/>
          <p:cNvSpPr txBox="1"/>
          <p:nvPr/>
        </p:nvSpPr>
        <p:spPr>
          <a:xfrm>
            <a:off x="2039112" y="3465576"/>
            <a:ext cx="1664208" cy="20116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Method</a:t>
            </a:r>
            <a:endParaRPr lang="en-US" sz="750" dirty="0"/>
          </a:p>
        </p:txBody>
      </p:sp>
      <p:sp>
        <p:nvSpPr>
          <p:cNvPr id="84" name="Text 82"/>
          <p:cNvSpPr txBox="1"/>
          <p:nvPr/>
        </p:nvSpPr>
        <p:spPr>
          <a:xfrm>
            <a:off x="3703320" y="3465576"/>
            <a:ext cx="713232" cy="20116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Target Acc.</a:t>
            </a:r>
            <a:endParaRPr lang="en-US" sz="750" dirty="0"/>
          </a:p>
        </p:txBody>
      </p:sp>
      <p:sp>
        <p:nvSpPr>
          <p:cNvPr id="85" name="Text 83"/>
          <p:cNvSpPr txBox="1"/>
          <p:nvPr/>
        </p:nvSpPr>
        <p:spPr>
          <a:xfrm>
            <a:off x="4416552" y="3465576"/>
            <a:ext cx="694944" cy="20116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Latency</a:t>
            </a:r>
            <a:endParaRPr lang="en-US" sz="750" dirty="0"/>
          </a:p>
        </p:txBody>
      </p:sp>
      <p:sp>
        <p:nvSpPr>
          <p:cNvPr id="86" name="Text 84"/>
          <p:cNvSpPr txBox="1"/>
          <p:nvPr/>
        </p:nvSpPr>
        <p:spPr>
          <a:xfrm>
            <a:off x="5111496" y="3465576"/>
            <a:ext cx="1426464" cy="20116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Robustness (20% IR gap)</a:t>
            </a:r>
            <a:endParaRPr lang="en-US" sz="750" dirty="0"/>
          </a:p>
        </p:txBody>
      </p:sp>
      <p:sp>
        <p:nvSpPr>
          <p:cNvPr id="87" name="Text 85"/>
          <p:cNvSpPr txBox="1"/>
          <p:nvPr/>
        </p:nvSpPr>
        <p:spPr>
          <a:xfrm>
            <a:off x="6537960" y="3465576"/>
            <a:ext cx="2688336" cy="20116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Notes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039112" y="3666744"/>
            <a:ext cx="6986016" cy="292608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9" name="Text 87"/>
          <p:cNvSpPr txBox="1"/>
          <p:nvPr/>
        </p:nvSpPr>
        <p:spPr>
          <a:xfrm>
            <a:off x="2039112" y="3666744"/>
            <a:ext cx="1664208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Radar alone</a:t>
            </a:r>
            <a:endParaRPr lang="en-US" sz="820" dirty="0"/>
          </a:p>
        </p:txBody>
      </p:sp>
      <p:sp>
        <p:nvSpPr>
          <p:cNvPr id="90" name="Text 88"/>
          <p:cNvSpPr txBox="1"/>
          <p:nvPr/>
        </p:nvSpPr>
        <p:spPr>
          <a:xfrm>
            <a:off x="3703320" y="3666744"/>
            <a:ext cx="713232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78.4%</a:t>
            </a:r>
            <a:endParaRPr lang="en-US" sz="820" dirty="0"/>
          </a:p>
        </p:txBody>
      </p:sp>
      <p:sp>
        <p:nvSpPr>
          <p:cNvPr id="91" name="Text 89"/>
          <p:cNvSpPr txBox="1"/>
          <p:nvPr/>
        </p:nvSpPr>
        <p:spPr>
          <a:xfrm>
            <a:off x="4416552" y="3666744"/>
            <a:ext cx="694944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0.3 ms</a:t>
            </a:r>
            <a:endParaRPr lang="en-US" sz="820" dirty="0"/>
          </a:p>
        </p:txBody>
      </p:sp>
      <p:sp>
        <p:nvSpPr>
          <p:cNvPr id="92" name="Text 90"/>
          <p:cNvSpPr txBox="1"/>
          <p:nvPr/>
        </p:nvSpPr>
        <p:spPr>
          <a:xfrm>
            <a:off x="5111496" y="3666744"/>
            <a:ext cx="1426464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—</a:t>
            </a:r>
            <a:endParaRPr lang="en-US" sz="820" dirty="0"/>
          </a:p>
        </p:txBody>
      </p:sp>
      <p:sp>
        <p:nvSpPr>
          <p:cNvPr id="93" name="Text 91"/>
          <p:cNvSpPr txBox="1"/>
          <p:nvPr/>
        </p:nvSpPr>
        <p:spPr>
          <a:xfrm>
            <a:off x="6537960" y="3666744"/>
            <a:ext cx="2688336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Single sensor baseline</a:t>
            </a:r>
            <a:endParaRPr lang="en-US" sz="820" dirty="0"/>
          </a:p>
        </p:txBody>
      </p:sp>
      <p:sp>
        <p:nvSpPr>
          <p:cNvPr id="94" name="Shape 92"/>
          <p:cNvSpPr/>
          <p:nvPr/>
        </p:nvSpPr>
        <p:spPr>
          <a:xfrm>
            <a:off x="2039112" y="3959352"/>
            <a:ext cx="698601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5" name="Text 93"/>
          <p:cNvSpPr txBox="1"/>
          <p:nvPr/>
        </p:nvSpPr>
        <p:spPr>
          <a:xfrm>
            <a:off x="2039112" y="3959352"/>
            <a:ext cx="1664208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Kalman (all 3 sensors)</a:t>
            </a:r>
            <a:endParaRPr lang="en-US" sz="820" dirty="0"/>
          </a:p>
        </p:txBody>
      </p:sp>
      <p:sp>
        <p:nvSpPr>
          <p:cNvPr id="96" name="Text 94"/>
          <p:cNvSpPr txBox="1"/>
          <p:nvPr/>
        </p:nvSpPr>
        <p:spPr>
          <a:xfrm>
            <a:off x="3703320" y="3959352"/>
            <a:ext cx="713232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89.7%</a:t>
            </a:r>
            <a:endParaRPr lang="en-US" sz="820" dirty="0"/>
          </a:p>
        </p:txBody>
      </p:sp>
      <p:sp>
        <p:nvSpPr>
          <p:cNvPr id="97" name="Text 95"/>
          <p:cNvSpPr txBox="1"/>
          <p:nvPr/>
        </p:nvSpPr>
        <p:spPr>
          <a:xfrm>
            <a:off x="4416552" y="3959352"/>
            <a:ext cx="694944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1.2 ms</a:t>
            </a:r>
            <a:endParaRPr lang="en-US" sz="820" dirty="0"/>
          </a:p>
        </p:txBody>
      </p:sp>
      <p:sp>
        <p:nvSpPr>
          <p:cNvPr id="98" name="Text 96"/>
          <p:cNvSpPr txBox="1"/>
          <p:nvPr/>
        </p:nvSpPr>
        <p:spPr>
          <a:xfrm>
            <a:off x="5111496" y="3959352"/>
            <a:ext cx="1426464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82.1%</a:t>
            </a:r>
            <a:endParaRPr lang="en-US" sz="820" dirty="0"/>
          </a:p>
        </p:txBody>
      </p:sp>
      <p:sp>
        <p:nvSpPr>
          <p:cNvPr id="99" name="Text 97"/>
          <p:cNvSpPr txBox="1"/>
          <p:nvPr/>
        </p:nvSpPr>
        <p:spPr>
          <a:xfrm>
            <a:off x="6537960" y="3959352"/>
            <a:ext cx="2688336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Standard fusion</a:t>
            </a:r>
            <a:endParaRPr lang="en-US" sz="820" dirty="0"/>
          </a:p>
        </p:txBody>
      </p:sp>
      <p:sp>
        <p:nvSpPr>
          <p:cNvPr id="100" name="Shape 98"/>
          <p:cNvSpPr/>
          <p:nvPr/>
        </p:nvSpPr>
        <p:spPr>
          <a:xfrm>
            <a:off x="2039112" y="4251960"/>
            <a:ext cx="6986016" cy="292608"/>
          </a:xfrm>
          <a:prstGeom prst="rect">
            <a:avLst/>
          </a:prstGeom>
          <a:solidFill>
            <a:srgbClr val="E0EB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1" name="Text 99"/>
          <p:cNvSpPr txBox="1"/>
          <p:nvPr/>
        </p:nvSpPr>
        <p:spPr>
          <a:xfrm>
            <a:off x="2039112" y="4251960"/>
            <a:ext cx="1664208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Early Fusion (DNN)</a:t>
            </a:r>
            <a:endParaRPr lang="en-US" sz="820" dirty="0"/>
          </a:p>
        </p:txBody>
      </p:sp>
      <p:sp>
        <p:nvSpPr>
          <p:cNvPr id="102" name="Text 100"/>
          <p:cNvSpPr txBox="1"/>
          <p:nvPr/>
        </p:nvSpPr>
        <p:spPr>
          <a:xfrm>
            <a:off x="3703320" y="4251960"/>
            <a:ext cx="713232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91.4%</a:t>
            </a:r>
            <a:endParaRPr lang="en-US" sz="820" dirty="0"/>
          </a:p>
        </p:txBody>
      </p:sp>
      <p:sp>
        <p:nvSpPr>
          <p:cNvPr id="103" name="Text 101"/>
          <p:cNvSpPr txBox="1"/>
          <p:nvPr/>
        </p:nvSpPr>
        <p:spPr>
          <a:xfrm>
            <a:off x="4416552" y="4251960"/>
            <a:ext cx="694944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3.8 ms</a:t>
            </a:r>
            <a:endParaRPr lang="en-US" sz="820" dirty="0"/>
          </a:p>
        </p:txBody>
      </p:sp>
      <p:sp>
        <p:nvSpPr>
          <p:cNvPr id="104" name="Text 102"/>
          <p:cNvSpPr txBox="1"/>
          <p:nvPr/>
        </p:nvSpPr>
        <p:spPr>
          <a:xfrm>
            <a:off x="5111496" y="4251960"/>
            <a:ext cx="1426464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74.8%</a:t>
            </a:r>
            <a:endParaRPr lang="en-US" sz="820" dirty="0"/>
          </a:p>
        </p:txBody>
      </p:sp>
      <p:sp>
        <p:nvSpPr>
          <p:cNvPr id="105" name="Text 103"/>
          <p:cNvSpPr txBox="1"/>
          <p:nvPr/>
        </p:nvSpPr>
        <p:spPr>
          <a:xfrm>
            <a:off x="6537960" y="4251960"/>
            <a:ext cx="2688336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Fragile to missing IR</a:t>
            </a:r>
            <a:endParaRPr lang="en-US" sz="820" dirty="0"/>
          </a:p>
        </p:txBody>
      </p:sp>
      <p:sp>
        <p:nvSpPr>
          <p:cNvPr id="106" name="Shape 104"/>
          <p:cNvSpPr/>
          <p:nvPr/>
        </p:nvSpPr>
        <p:spPr>
          <a:xfrm>
            <a:off x="2039112" y="4544568"/>
            <a:ext cx="6986016" cy="292608"/>
          </a:xfrm>
          <a:prstGeom prst="rect">
            <a:avLst/>
          </a:prstGeom>
          <a:solidFill>
            <a:srgbClr val="E0F4E0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7" name="Text 105"/>
          <p:cNvSpPr txBox="1"/>
          <p:nvPr/>
        </p:nvSpPr>
        <p:spPr>
          <a:xfrm>
            <a:off x="2039112" y="4544568"/>
            <a:ext cx="1664208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E7A45"/>
                </a:solidFill>
              </a:rPr>
              <a:t>Hybrid KF + RF</a:t>
            </a:r>
            <a:endParaRPr lang="en-US" sz="820" dirty="0"/>
          </a:p>
        </p:txBody>
      </p:sp>
      <p:sp>
        <p:nvSpPr>
          <p:cNvPr id="108" name="Text 106"/>
          <p:cNvSpPr txBox="1"/>
          <p:nvPr/>
        </p:nvSpPr>
        <p:spPr>
          <a:xfrm>
            <a:off x="3703320" y="4544568"/>
            <a:ext cx="713232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E7A45"/>
                </a:solidFill>
              </a:rPr>
              <a:t>96.2%</a:t>
            </a:r>
            <a:endParaRPr lang="en-US" sz="820" dirty="0"/>
          </a:p>
        </p:txBody>
      </p:sp>
      <p:sp>
        <p:nvSpPr>
          <p:cNvPr id="109" name="Text 107"/>
          <p:cNvSpPr txBox="1"/>
          <p:nvPr/>
        </p:nvSpPr>
        <p:spPr>
          <a:xfrm>
            <a:off x="4416552" y="4544568"/>
            <a:ext cx="694944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E7A45"/>
                </a:solidFill>
              </a:rPr>
              <a:t>2.3 ms</a:t>
            </a:r>
            <a:endParaRPr lang="en-US" sz="820" dirty="0"/>
          </a:p>
        </p:txBody>
      </p:sp>
      <p:sp>
        <p:nvSpPr>
          <p:cNvPr id="110" name="Text 108"/>
          <p:cNvSpPr txBox="1"/>
          <p:nvPr/>
        </p:nvSpPr>
        <p:spPr>
          <a:xfrm>
            <a:off x="5111496" y="4544568"/>
            <a:ext cx="1426464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E7A45"/>
                </a:solidFill>
              </a:rPr>
              <a:t>94.8%</a:t>
            </a:r>
            <a:endParaRPr lang="en-US" sz="820" dirty="0"/>
          </a:p>
        </p:txBody>
      </p:sp>
      <p:sp>
        <p:nvSpPr>
          <p:cNvPr id="111" name="Text 109"/>
          <p:cNvSpPr txBox="1"/>
          <p:nvPr/>
        </p:nvSpPr>
        <p:spPr>
          <a:xfrm>
            <a:off x="6537960" y="4544568"/>
            <a:ext cx="2688336" cy="29260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E7A45"/>
                </a:solidFill>
              </a:rPr>
              <a:t>Best all-round</a:t>
            </a:r>
            <a:endParaRPr lang="en-US" sz="820" dirty="0"/>
          </a:p>
        </p:txBody>
      </p:sp>
      <p:sp>
        <p:nvSpPr>
          <p:cNvPr id="112" name="Shape 110"/>
          <p:cNvSpPr/>
          <p:nvPr/>
        </p:nvSpPr>
        <p:spPr>
          <a:xfrm>
            <a:off x="2039112" y="4782312"/>
            <a:ext cx="6986016" cy="347472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3" name="Text 111"/>
          <p:cNvSpPr txBox="1"/>
          <p:nvPr/>
        </p:nvSpPr>
        <p:spPr>
          <a:xfrm>
            <a:off x="2103120" y="483717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2744"/>
                </a:solidFill>
              </a:rPr>
              <a:t>🏆 Case A: XGBoost (R²=0.912, RMSE=2.06hrs)  🏆 Case B: Hybrid KF+RF (96.2% acc, robust to sensor dropout)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Lecture 3 Summary — Regression Algorithms &amp; Sensor Fusion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Classification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Linear Regression (OLS)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Ridge Regression (L2)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Lasso Regression (L1)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Elastic Net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Support Vector Regression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 Reg.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Regression Metrics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Feature Engineering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Prediction Uncertainty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Bayesian Regression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Kalman Filter Basics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Multi-sensor Fusion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ML-enhanced Fusion</a:t>
            </a:r>
            <a:endParaRPr lang="en-US" sz="590" dirty="0"/>
          </a:p>
        </p:txBody>
      </p:sp>
      <p:sp>
        <p:nvSpPr>
          <p:cNvPr id="23" name="Shape 21"/>
          <p:cNvSpPr/>
          <p:nvPr/>
        </p:nvSpPr>
        <p:spPr>
          <a:xfrm>
            <a:off x="27432" y="4360469"/>
            <a:ext cx="1865376" cy="261823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15. Summary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Key Takeaways: 7 Regression Methods + Sensor Fusion Architectures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2455164" cy="256032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OLS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Regression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2039112" y="1271016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03120" y="1325880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</a:rPr>
              <a:t/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</a:rPr>
              <a:t/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</a:rPr>
              <a:t/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</a:rPr>
              <a:t/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4567428" y="1014984"/>
            <a:ext cx="2455164" cy="256032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4622292" y="1014984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Ridge (L2)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&amp; Lasso (L1)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4567428" y="1271016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4631436" y="1325880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Ridge shrinks; Lasso zeros coeffs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Elastic Net combines both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λ chosen by cross-validation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Ridge for collinear; Lasso for sparse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2039112" y="2258568"/>
            <a:ext cx="2455164" cy="256032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093976" y="2258568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SVR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(ε-tube)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2039112" y="2514600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2103120" y="2569464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Ignores small errors; robust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Kernel extends to non-linear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Slow for N &gt; 10,000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Medium datasets; non-linear fits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4567428" y="2258568"/>
            <a:ext cx="2455164" cy="256032"/>
          </a:xfrm>
          <a:prstGeom prst="rect">
            <a:avLst/>
          </a:prstGeom>
          <a:solidFill>
            <a:srgbClr val="1E7A45"/>
          </a:solidFill>
          <a:ln w="12700">
            <a:solidFill>
              <a:srgbClr val="1E7A4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4622292" y="2258568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XGBoost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Regressor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4567428" y="2514600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4631436" y="2569464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R²=0.912, RMSE=2.06hrs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Sequential residual learning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Fastest inference post-training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🏆 Default choice for tabular regression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2039112" y="3502152"/>
            <a:ext cx="2455164" cy="256032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Text 46"/>
          <p:cNvSpPr txBox="1"/>
          <p:nvPr/>
        </p:nvSpPr>
        <p:spPr>
          <a:xfrm>
            <a:off x="2093976" y="3502152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Kalman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Filter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2039112" y="3758184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2103120" y="3813048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Predict-update recursive cycle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Optimal for linear Gaussian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EKF/UKF for non-linear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Physics-grounded tracking baseline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4567428" y="3502152"/>
            <a:ext cx="2455164" cy="256032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2" name="Text 50"/>
          <p:cNvSpPr txBox="1"/>
          <p:nvPr/>
        </p:nvSpPr>
        <p:spPr>
          <a:xfrm>
            <a:off x="4622292" y="3502152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Hybrid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KF + ML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4567428" y="3758184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4" name="Text 52"/>
          <p:cNvSpPr txBox="1"/>
          <p:nvPr/>
        </p:nvSpPr>
        <p:spPr>
          <a:xfrm>
            <a:off x="4631436" y="3813048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96.2% tracking accuracy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KF physics + ML bias correction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Robust to 20% sensor dropout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🏆 Best sensor fusion architecture</a:t>
            </a:r>
            <a:endParaRPr lang="en-US" sz="830" dirty="0"/>
          </a:p>
        </p:txBody>
      </p:sp>
      <p:sp>
        <p:nvSpPr>
          <p:cNvPr id="55" name="Shape 53"/>
          <p:cNvSpPr/>
          <p:nvPr/>
        </p:nvSpPr>
        <p:spPr>
          <a:xfrm>
            <a:off x="7095744" y="1014984"/>
            <a:ext cx="1892808" cy="3712464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Text 54"/>
          <p:cNvSpPr txBox="1"/>
          <p:nvPr/>
        </p:nvSpPr>
        <p:spPr>
          <a:xfrm>
            <a:off x="7159752" y="1069848"/>
            <a:ext cx="1764792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🚀 NEXT: Lecture 4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Unsupervised Learning Part 1: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k-Means Clustering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– Elbow Method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– Silhouette Analysis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DBSCAN (density-based)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Gaussian Mixture Models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Hierarchical Clustering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Dimensionality Reduction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– PCA, t-SNE, UMAP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Case Study: Enemy tactic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clustering on N=8,000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wargame trajectory logs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Assignment 3 released.</a:t>
            </a:r>
            <a:endParaRPr lang="en-US" sz="880" dirty="0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696" y="1362456"/>
            <a:ext cx="2253996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Lecture 4 Preview — Unsupervised Learning Part 1: Clustering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Recap: Classification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Linear Regression (OLS)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Ridge Regression (L2)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Lasso Regression (L1)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Elastic Net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Support Vector Regression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Gradient Boosting Reg.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Regression Metrics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Feature Engineering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Prediction Uncertainty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Bayesian Regression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Kalman Filter Basics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Multi-sensor Fusion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ML-enhanced Fusion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4" name="Shape 22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5" name="Shape 23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Text 24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Lecture 4: Finding Structure in Unlabelled Combat Data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0" name="Shape 28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Text 29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LECTURE 4 TOPICS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39112" y="1243584"/>
            <a:ext cx="3438144" cy="32278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3" name="Text 31"/>
          <p:cNvSpPr txBox="1"/>
          <p:nvPr/>
        </p:nvSpPr>
        <p:spPr>
          <a:xfrm>
            <a:off x="2112264" y="1271016"/>
            <a:ext cx="329184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📌 Why clustering in defence — discovering unknown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enemy tactical patterns without labels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📌 k-Means CART: mathematical derivation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Elbow method + Silhouette score selection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Lloyd's algorithm convergence proof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📌 DBSCAN: density-based clustering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Noise handling — critical for cluttered sensor 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Core points, border points, noise classification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📌 Gaussian Mixture Models (GMM)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EM algorithm for soft assignments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Handles overlapping manoeuvre patterns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📌 Hierarchical Clustering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Dendrograms for analyst visualisation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📌 Dimensionality Reduction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PCA: eigenvector derivation from covariance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t-SNE/UMAP for visualising high-dim clusters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5" name="Text 33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PREVIEW NUMBERS (Lecture 4)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586984" y="1243584"/>
            <a:ext cx="3438144" cy="3227832"/>
          </a:xfrm>
          <a:prstGeom prst="rect">
            <a:avLst/>
          </a:prstGeom>
          <a:solidFill>
            <a:srgbClr val="F0FDFA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7" name="Text 35"/>
          <p:cNvSpPr txBox="1"/>
          <p:nvPr/>
        </p:nvSpPr>
        <p:spPr>
          <a:xfrm>
            <a:off x="5660136" y="1271016"/>
            <a:ext cx="329184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Case Study: OPFOR Tactical Archetype Discovery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Dataset: N=8,000 force movement trajectories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Source: JANUS wargame simulator (5 years)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Features: 12 kinematic + contextual features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Results: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k-Means (k=5): Silhouette = 0.712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 5 archetypes: Patrol / Assault / Transit 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 Static-Def / Infiltration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DBSCAN (ε=0.45, MinPts=8):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 4 main clusters + 142 noise points (1.8%)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 Noise = DECEPTION manoeuvres (!)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GMM (K=5): AIC-selected, BIC-selected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 Log-likelihood: −24,816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PCA: First 4 PCs explain 84.3% variance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Visualisations: t-SNE 2D cluster maps for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commander situational awareness displays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039112" y="4544568"/>
            <a:ext cx="6986016" cy="384048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9" name="Text 37"/>
          <p:cNvSpPr txBox="1"/>
          <p:nvPr/>
        </p:nvSpPr>
        <p:spPr>
          <a:xfrm>
            <a:off x="2103120" y="459943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📝 Assignment 3 (Part 3 of this pack): Regression derivations + sensor fusion Kalman gain computation. Solutions provided for self-check.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ISSA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&amp; ML in Warfare – Lecture 3: Regression &amp; Sensor Fusion</dc:title>
  <dc:subject>PptxGenJS Presentation</dc:subject>
  <dc:creator>AK DHAMIJA</dc:creator>
  <cp:lastModifiedBy>AK DHAMIJA</cp:lastModifiedBy>
  <cp:revision>1</cp:revision>
  <dcterms:created xsi:type="dcterms:W3CDTF">2026-09-28T15:32:16Z</dcterms:created>
  <dcterms:modified xsi:type="dcterms:W3CDTF">2026-09-28T15:32:16Z</dcterms:modified>
</cp:coreProperties>
</file>